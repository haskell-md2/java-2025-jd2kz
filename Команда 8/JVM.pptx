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2" r:id="rId1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7db3150d6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7db3150d6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7db3150d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7db3150d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7db3150d6_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7db3150d6_3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7db3150d6_4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7db3150d6_4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7db3150d6_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7db3150d6_3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7db3150d6_4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7db3150d6_4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7db3150d6_4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7db3150d6_4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c147035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ac147035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b5f0e3c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b5f0e3c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7db3150d6_4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7db3150d6_4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7db3150d6_4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7db3150d6_4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219200" y="2914650"/>
            <a:ext cx="68580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219200" y="3843338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400800" y="476631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2898648" y="476631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1216152" y="4766310"/>
            <a:ext cx="121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904875" y="2736056"/>
            <a:ext cx="7315200" cy="960000"/>
          </a:xfrm>
          <a:prstGeom prst="rect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914400" y="3786188"/>
            <a:ext cx="7315200" cy="514500"/>
          </a:xfrm>
          <a:prstGeom prst="rect">
            <a:avLst/>
          </a:prstGeom>
          <a:noFill/>
          <a:ln w="952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904875" y="2736056"/>
            <a:ext cx="228600" cy="9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914400" y="3786188"/>
            <a:ext cx="228600" cy="5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 type="secHead">
  <p:cSld name="SECTION_HEADER">
    <p:bg>
      <p:bgPr>
        <a:solidFill>
          <a:schemeClr val="dk2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1219200" y="2228850"/>
            <a:ext cx="6858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alibri"/>
              <a:buNone/>
              <a:defRPr sz="32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1295400" y="3200400"/>
            <a:ext cx="6781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6400800" y="476631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2898648" y="476631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069848" y="4766310"/>
            <a:ext cx="1521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914400" y="2114550"/>
            <a:ext cx="7315200" cy="960000"/>
          </a:xfrm>
          <a:prstGeom prst="rect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14400" y="2114550"/>
            <a:ext cx="228600" cy="9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4041600" cy="3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2"/>
          </p:nvPr>
        </p:nvSpPr>
        <p:spPr>
          <a:xfrm>
            <a:off x="4632198" y="912114"/>
            <a:ext cx="4041600" cy="3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457200" y="964406"/>
            <a:ext cx="40401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824"/>
              <a:buNone/>
              <a:defRPr sz="2400" b="1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520"/>
              <a:buNone/>
              <a:defRPr sz="20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4648200" y="971550"/>
            <a:ext cx="40419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824"/>
              <a:buNone/>
              <a:defRPr sz="2400" b="1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520"/>
              <a:buNone/>
              <a:defRPr sz="20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3"/>
          </p:nvPr>
        </p:nvSpPr>
        <p:spPr>
          <a:xfrm>
            <a:off x="457200" y="1600200"/>
            <a:ext cx="4038600" cy="30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4"/>
          </p:nvPr>
        </p:nvSpPr>
        <p:spPr>
          <a:xfrm>
            <a:off x="4648200" y="1600200"/>
            <a:ext cx="4038600" cy="30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9" name="Google Shape;59;p7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 слайд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64" name="Google Shape;64;p8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5" name="Google Shape;65;p8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ъект с подписью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6324600" y="228600"/>
            <a:ext cx="2514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mbria"/>
              <a:buNone/>
              <a:defRPr sz="20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6324600" y="914400"/>
            <a:ext cx="25146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dt" idx="10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ftr" idx="11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72" name="Google Shape;72;p9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3" name="Google Shape;73;p9"/>
          <p:cNvCxnSpPr/>
          <p:nvPr/>
        </p:nvCxnSpPr>
        <p:spPr>
          <a:xfrm rot="5400000">
            <a:off x="3914965" y="2493229"/>
            <a:ext cx="45264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4" name="Google Shape;74;p9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2"/>
          </p:nvPr>
        </p:nvSpPr>
        <p:spPr>
          <a:xfrm>
            <a:off x="304800" y="228600"/>
            <a:ext cx="5715000" cy="4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 type="picTx">
  <p:cSld name="PICTURE_WITH_CAPTION_TEXT">
    <p:bg>
      <p:bgPr>
        <a:solidFill>
          <a:schemeClr val="dk2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457200" y="375642"/>
            <a:ext cx="8229600" cy="5061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457200" y="1428750"/>
            <a:ext cx="8229600" cy="3202800"/>
          </a:xfrm>
          <a:prstGeom prst="rect">
            <a:avLst/>
          </a:prstGeom>
          <a:solidFill>
            <a:srgbClr val="BABABA"/>
          </a:solidFill>
          <a:ln>
            <a:noFill/>
          </a:ln>
        </p:spPr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064"/>
              <a:buFont typeface="Cambria"/>
              <a:buNone/>
              <a:defRPr sz="1400"/>
            </a:lvl1pPr>
            <a:lvl2pPr marL="914400" lvl="1" indent="-286512" algn="l">
              <a:spcBef>
                <a:spcPts val="500"/>
              </a:spcBef>
              <a:spcAft>
                <a:spcPts val="0"/>
              </a:spcAft>
              <a:buSzPts val="912"/>
              <a:buChar char="🞂"/>
              <a:defRPr sz="1200"/>
            </a:lvl2pPr>
            <a:lvl3pPr marL="1371600" lvl="2" indent="-276860" algn="l">
              <a:spcBef>
                <a:spcPts val="500"/>
              </a:spcBef>
              <a:spcAft>
                <a:spcPts val="0"/>
              </a:spcAft>
              <a:buSzPts val="760"/>
              <a:buChar char="🞂"/>
              <a:defRPr sz="1000"/>
            </a:lvl3pPr>
            <a:lvl4pPr marL="1828800" lvl="3" indent="-268605" algn="l"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marL="2286000" lvl="4" indent="-268604" algn="l"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83" name="Google Shape;83;p10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4" name="Google Shape;84;p10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457200" y="375642"/>
            <a:ext cx="183000" cy="5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1"/>
          </p:nvPr>
        </p:nvSpPr>
        <p:spPr>
          <a:xfrm rot="5400000">
            <a:off x="2730600" y="-1359000"/>
            <a:ext cx="36828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dt" idx="10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ftr" idx="11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Вертикальный заголовок и текст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>
            <a:spLocks noGrp="1"/>
          </p:cNvSpPr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dt" idx="10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ftr" idx="11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sldNum" idx="12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98" name="Google Shape;98;p12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99" name="Google Shape;99;p12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00" name="Google Shape;100;p12"/>
          <p:cNvCxnSpPr/>
          <p:nvPr/>
        </p:nvCxnSpPr>
        <p:spPr>
          <a:xfrm rot="5400000">
            <a:off x="4361187" y="2401404"/>
            <a:ext cx="4389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36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407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sz="26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3959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sz="23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25119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0861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29972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sz="16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sz="1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" name="Google Shape;12;p1"/>
          <p:cNvCxnSpPr/>
          <p:nvPr/>
        </p:nvCxnSpPr>
        <p:spPr>
          <a:xfrm>
            <a:off x="457200" y="857250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>
            <a:spLocks noGrp="1"/>
          </p:cNvSpPr>
          <p:nvPr>
            <p:ph type="ctrTitle"/>
          </p:nvPr>
        </p:nvSpPr>
        <p:spPr>
          <a:xfrm>
            <a:off x="1219200" y="2767800"/>
            <a:ext cx="6858000" cy="74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Архитектура, принципы работы и оптимизация</a:t>
            </a:r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1"/>
          </p:nvPr>
        </p:nvSpPr>
        <p:spPr>
          <a:xfrm>
            <a:off x="1219200" y="3843338"/>
            <a:ext cx="6858000" cy="40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"/>
              <a:t>Литовченко Д., Расторгуев М.  5030102/30201</a:t>
            </a:r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ctrTitle"/>
          </p:nvPr>
        </p:nvSpPr>
        <p:spPr>
          <a:xfrm>
            <a:off x="1143000" y="1692250"/>
            <a:ext cx="6858000" cy="74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Java Virtual Machine (JVM)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743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JVM?</a:t>
            </a:r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15468" algn="l" rtl="0">
              <a:spcBef>
                <a:spcPts val="600"/>
              </a:spcBef>
              <a:spcAft>
                <a:spcPts val="0"/>
              </a:spcAft>
              <a:buSzPts val="1368"/>
              <a:buChar char="🞂"/>
            </a:pPr>
            <a:r>
              <a:rPr lang="ru"/>
              <a:t>JVM — это абстрактная вычислительная машина</a:t>
            </a:r>
            <a:endParaRPr/>
          </a:p>
          <a:p>
            <a:pPr marL="457200" lvl="0" indent="-315468" algn="l" rtl="0">
              <a:spcBef>
                <a:spcPts val="0"/>
              </a:spcBef>
              <a:spcAft>
                <a:spcPts val="0"/>
              </a:spcAft>
              <a:buSzPts val="1368"/>
              <a:buChar char="🞂"/>
            </a:pPr>
            <a:r>
              <a:rPr lang="ru"/>
              <a:t>Три основные функции:</a:t>
            </a:r>
            <a:endParaRPr/>
          </a:p>
          <a:p>
            <a:pPr marL="914400" lvl="1" indent="-315468" algn="l" rtl="0">
              <a:spcBef>
                <a:spcPts val="0"/>
              </a:spcBef>
              <a:spcAft>
                <a:spcPts val="0"/>
              </a:spcAft>
              <a:buSzPts val="1368"/>
              <a:buChar char="🞂"/>
            </a:pPr>
            <a:r>
              <a:rPr lang="ru"/>
              <a:t>Исполняет байт-код Java независимо от платформы</a:t>
            </a:r>
            <a:endParaRPr/>
          </a:p>
          <a:p>
            <a:pPr marL="914400" lvl="1" indent="-315468" algn="l" rtl="0">
              <a:spcBef>
                <a:spcPts val="0"/>
              </a:spcBef>
              <a:spcAft>
                <a:spcPts val="0"/>
              </a:spcAft>
              <a:buSzPts val="1368"/>
              <a:buChar char="🞂"/>
            </a:pPr>
            <a:r>
              <a:rPr lang="ru"/>
              <a:t>Обеспечивает безопасность и управление памятью</a:t>
            </a:r>
            <a:endParaRPr/>
          </a:p>
          <a:p>
            <a:pPr marL="914400" lvl="1" indent="-315468" algn="l" rtl="0">
              <a:spcBef>
                <a:spcPts val="0"/>
              </a:spcBef>
              <a:spcAft>
                <a:spcPts val="0"/>
              </a:spcAft>
              <a:buSzPts val="1368"/>
              <a:buChar char="🞂"/>
            </a:pPr>
            <a:r>
              <a:rPr lang="ru"/>
              <a:t>Автоматически оптимизирует код во время выполнения</a:t>
            </a:r>
            <a:endParaRPr/>
          </a:p>
        </p:txBody>
      </p:sp>
      <p:pic>
        <p:nvPicPr>
          <p:cNvPr id="114" name="Google Shape;11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6550" y="3274563"/>
            <a:ext cx="339090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743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Архитектура JVM</a:t>
            </a:r>
            <a:endParaRPr/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225" y="1394400"/>
            <a:ext cx="630555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743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Жизненный цикл программы</a:t>
            </a:r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69570" algn="l" rtl="0">
              <a:spcBef>
                <a:spcPts val="600"/>
              </a:spcBef>
              <a:spcAft>
                <a:spcPts val="0"/>
              </a:spcAft>
              <a:buSzPct val="100000"/>
              <a:buChar char="🞂"/>
            </a:pPr>
            <a:r>
              <a:rPr lang="ru" sz="2400"/>
              <a:t>Этапы:</a:t>
            </a:r>
            <a:endParaRPr sz="2400"/>
          </a:p>
          <a:p>
            <a:pPr marL="914400" lvl="1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🞂"/>
            </a:pPr>
            <a:r>
              <a:rPr lang="ru" sz="1800"/>
              <a:t>Исходный код (.java)</a:t>
            </a:r>
            <a:endParaRPr sz="1800"/>
          </a:p>
          <a:p>
            <a:pPr marL="914400" lvl="1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🞂"/>
            </a:pPr>
            <a:r>
              <a:rPr lang="ru" sz="1800"/>
              <a:t>Компиляция → Байт-код (.class)</a:t>
            </a:r>
            <a:endParaRPr sz="1800"/>
          </a:p>
          <a:p>
            <a:pPr marL="914400" lvl="1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🞂"/>
            </a:pPr>
            <a:r>
              <a:rPr lang="ru" sz="1800"/>
              <a:t>Загрузка в JVM</a:t>
            </a:r>
            <a:endParaRPr sz="1800"/>
          </a:p>
          <a:p>
            <a:pPr marL="914400" lvl="1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🞂"/>
            </a:pPr>
            <a:r>
              <a:rPr lang="ru" sz="1800"/>
              <a:t>JIT компиляция → Машинный код</a:t>
            </a:r>
            <a:endParaRPr sz="1800"/>
          </a:p>
          <a:p>
            <a:pPr marL="914400" lvl="1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🞂"/>
            </a:pPr>
            <a:r>
              <a:rPr lang="ru" sz="1800"/>
              <a:t>Исполнение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6075" algn="l" rtl="0">
              <a:spcBef>
                <a:spcPts val="600"/>
              </a:spcBef>
              <a:spcAft>
                <a:spcPts val="0"/>
              </a:spcAft>
              <a:buSzPct val="100000"/>
              <a:buChar char="🞂"/>
            </a:pPr>
            <a:r>
              <a:rPr lang="ru" sz="2000"/>
              <a:t>Linking:</a:t>
            </a:r>
            <a:endParaRPr sz="2000"/>
          </a:p>
          <a:p>
            <a:pPr marL="914400" lvl="1" indent="-346075" algn="l" rtl="0">
              <a:spcBef>
                <a:spcPts val="0"/>
              </a:spcBef>
              <a:spcAft>
                <a:spcPts val="0"/>
              </a:spcAft>
              <a:buSzPct val="100000"/>
              <a:buChar char="🞂"/>
            </a:pPr>
            <a:r>
              <a:rPr lang="ru" sz="2000">
                <a:solidFill>
                  <a:schemeClr val="dk1"/>
                </a:solidFill>
              </a:rPr>
              <a:t>Verification</a:t>
            </a:r>
            <a:r>
              <a:rPr lang="ru" sz="2000"/>
              <a:t>: Проверка байт-кода на валидность. Здесь отсекаются попытки переполнения стека или некорректного приведения типов.</a:t>
            </a:r>
            <a:endParaRPr sz="2000"/>
          </a:p>
          <a:p>
            <a:pPr marL="914400" lvl="1" indent="-346075" algn="l" rtl="0">
              <a:spcBef>
                <a:spcPts val="0"/>
              </a:spcBef>
              <a:spcAft>
                <a:spcPts val="0"/>
              </a:spcAft>
              <a:buSzPct val="100000"/>
              <a:buChar char="🞂"/>
            </a:pPr>
            <a:r>
              <a:rPr lang="ru" sz="2000">
                <a:solidFill>
                  <a:schemeClr val="dk1"/>
                </a:solidFill>
              </a:rPr>
              <a:t>Preparation:</a:t>
            </a:r>
            <a:r>
              <a:rPr lang="ru" sz="2000"/>
              <a:t> Выделение памяти под статические поля с default values.</a:t>
            </a:r>
            <a:endParaRPr sz="2000"/>
          </a:p>
          <a:p>
            <a:pPr marL="914400" lvl="1" indent="-346075" algn="l" rtl="0">
              <a:spcBef>
                <a:spcPts val="0"/>
              </a:spcBef>
              <a:spcAft>
                <a:spcPts val="0"/>
              </a:spcAft>
              <a:buSzPct val="100000"/>
              <a:buChar char="🞂"/>
            </a:pPr>
            <a:r>
              <a:rPr lang="ru" sz="2000">
                <a:solidFill>
                  <a:schemeClr val="dk1"/>
                </a:solidFill>
              </a:rPr>
              <a:t>Resolution:</a:t>
            </a:r>
            <a:r>
              <a:rPr lang="ru" sz="2000"/>
              <a:t> Замена символьных ссылок на прямые ссылки в памяти.</a:t>
            </a:r>
            <a:endParaRPr sz="2000"/>
          </a:p>
          <a:p>
            <a:pPr marL="0" lvl="0" indent="45720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743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Garbage Collection</a:t>
            </a:r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🞂"/>
            </a:pPr>
            <a:r>
              <a:rPr lang="ru" sz="2000" dirty="0"/>
              <a:t>Является механизмом автоматического управления памятью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 dirty="0"/>
              <a:t>Как работает: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 dirty="0"/>
              <a:t>Поиск неиспользуемых объектов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 dirty="0"/>
              <a:t>Удаление мусора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 dirty="0"/>
              <a:t>Освобождение памяти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 dirty="0"/>
              <a:t>Недостаток: периодические паузы (pause times)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1800" dirty="0"/>
              <a:t>Пример:</a:t>
            </a:r>
            <a:endParaRPr sz="2000" dirty="0"/>
          </a:p>
        </p:txBody>
      </p:sp>
      <p:sp>
        <p:nvSpPr>
          <p:cNvPr id="133" name="Google Shape;133;p17"/>
          <p:cNvSpPr txBox="1"/>
          <p:nvPr/>
        </p:nvSpPr>
        <p:spPr>
          <a:xfrm>
            <a:off x="720900" y="3240375"/>
            <a:ext cx="7702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		Object o1 = Integer.</a:t>
            </a:r>
            <a:r>
              <a:rPr lang="ru" sz="1350">
                <a:solidFill>
                  <a:srgbClr val="90060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valueOf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350">
                <a:solidFill>
                  <a:srgbClr val="082C8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           </a:t>
            </a:r>
            <a:r>
              <a:rPr lang="ru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Line 1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	Object o2 = </a:t>
            </a:r>
            <a:r>
              <a:rPr lang="ru" sz="135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String(</a:t>
            </a:r>
            <a:r>
              <a:rPr lang="ru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"Tutorial"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       </a:t>
            </a:r>
            <a:r>
              <a:rPr lang="ru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Line 2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	o1 = o2;                                  </a:t>
            </a:r>
            <a:r>
              <a:rPr lang="ru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Line 3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	o2 = </a:t>
            </a:r>
            <a:r>
              <a:rPr lang="ru" sz="135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                               </a:t>
            </a:r>
            <a:r>
              <a:rPr lang="ru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Line 4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743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JIT компиляция</a:t>
            </a:r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4584000" cy="370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🞂"/>
            </a:pPr>
            <a:r>
              <a:rPr lang="ru" sz="1800"/>
              <a:t>Проблема: интерпретация медленна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🞂"/>
            </a:pPr>
            <a:r>
              <a:rPr lang="ru" sz="1800"/>
              <a:t>Решение: JIT компилятор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🞂"/>
            </a:pPr>
            <a:r>
              <a:rPr lang="ru" sz="1800"/>
              <a:t>Процесс: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🞂"/>
            </a:pPr>
            <a:r>
              <a:rPr lang="ru" sz="1800"/>
              <a:t>Горячий код выявляется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🞂"/>
            </a:pPr>
            <a:r>
              <a:rPr lang="ru" sz="1800"/>
              <a:t>Компилируется в машинный код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🞂"/>
            </a:pPr>
            <a:r>
              <a:rPr lang="ru" sz="1800"/>
              <a:t>Кэшируется в Code Cache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🞂"/>
            </a:pPr>
            <a:r>
              <a:rPr lang="ru" sz="1800"/>
              <a:t>Результат: увеличение производительности</a:t>
            </a:r>
            <a:endParaRPr sz="1800"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975" y="1195112"/>
            <a:ext cx="4100900" cy="275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743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Многопоточность</a:t>
            </a:r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🞂"/>
            </a:pPr>
            <a:r>
              <a:rPr lang="ru" sz="2000" dirty="0"/>
              <a:t>JVM поддерживает “истинную” многопоточность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 dirty="0"/>
              <a:t>Каждый поток имеет свой Stack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 dirty="0"/>
              <a:t>Общая Heap для обмена данными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 dirty="0"/>
              <a:t>Синхронизация необходима для безопасности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🞂"/>
            </a:pPr>
            <a:r>
              <a:rPr lang="ru" sz="2000" dirty="0"/>
              <a:t>JVM предоставляет механизмы синхронизации: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 dirty="0"/>
              <a:t>synchronized блоки и методы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 dirty="0"/>
              <a:t>volatile для visibility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 dirty="0"/>
              <a:t>java.util.concurrent пакет с locks, atomics, concurrent collections</a:t>
            </a: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743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Оптимизация и мониторинг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9250" algn="l" rtl="0">
              <a:spcBef>
                <a:spcPts val="600"/>
              </a:spcBef>
              <a:spcAft>
                <a:spcPts val="0"/>
              </a:spcAft>
              <a:buSzPts val="1900"/>
              <a:buChar char="🞂"/>
            </a:pPr>
            <a:r>
              <a:rPr lang="ru" sz="1900"/>
              <a:t>Инструменты для анализа: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🞂"/>
            </a:pPr>
            <a:r>
              <a:rPr lang="ru" sz="1900"/>
              <a:t>Мониторинг: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🞂"/>
            </a:pPr>
            <a:r>
              <a:rPr lang="ru" sz="1900"/>
              <a:t>JProfiler 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🞂"/>
            </a:pPr>
            <a:r>
              <a:rPr lang="ru" sz="1900"/>
              <a:t>YourKit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🞂"/>
            </a:pPr>
            <a:r>
              <a:rPr lang="ru" sz="1900"/>
              <a:t>jconsole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🞂"/>
            </a:pPr>
            <a:r>
              <a:rPr lang="ru" sz="1900"/>
              <a:t>jstat 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🞂"/>
            </a:pPr>
            <a:r>
              <a:rPr lang="ru" sz="1900"/>
              <a:t>JVM флаги для настройки</a:t>
            </a:r>
            <a:endParaRPr sz="17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-349250" algn="l" rtl="0">
              <a:spcBef>
                <a:spcPts val="600"/>
              </a:spcBef>
              <a:spcAft>
                <a:spcPts val="0"/>
              </a:spcAft>
              <a:buSzPts val="1900"/>
              <a:buChar char="🞂"/>
            </a:pPr>
            <a:r>
              <a:rPr lang="ru" sz="1900"/>
              <a:t>Метрики: heap size, gc time, cpu usage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🞂"/>
            </a:pPr>
            <a:r>
              <a:rPr lang="ru" sz="1900"/>
              <a:t>JMX для мониторинга в production</a:t>
            </a:r>
            <a:endParaRPr sz="1900"/>
          </a:p>
        </p:txBody>
      </p:sp>
      <p:pic>
        <p:nvPicPr>
          <p:cNvPr id="153" name="Google Shape;15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6474" y="940999"/>
            <a:ext cx="1420325" cy="87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2175" y="875613"/>
            <a:ext cx="1009775" cy="1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743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JVM флаги для настройки</a:t>
            </a:r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348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700"/>
              <a:t>JVM flags: </a:t>
            </a:r>
            <a:endParaRPr sz="1700"/>
          </a:p>
          <a:p>
            <a:pPr marL="457200" lvl="0" indent="-315468" algn="l" rtl="0">
              <a:spcBef>
                <a:spcPts val="600"/>
              </a:spcBef>
              <a:spcAft>
                <a:spcPts val="0"/>
              </a:spcAft>
              <a:buSzPts val="1368"/>
              <a:buChar char="🞂"/>
            </a:pPr>
            <a:r>
              <a:rPr lang="ru" sz="1500" b="1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-Xms256m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Minimum heap size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🞂"/>
            </a:pPr>
            <a:r>
              <a:rPr lang="ru" sz="1500" b="1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-Xmx512m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Maximum heap size</a:t>
            </a:r>
            <a:endParaRPr sz="1500" b="1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🞂"/>
            </a:pPr>
            <a:r>
              <a:rPr lang="ru" sz="1500" b="1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-XX:+UseG1GC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Выбор алгоритма сборки мусора G1</a:t>
            </a:r>
            <a:endParaRPr sz="1500" b="1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🞂"/>
            </a:pPr>
            <a:r>
              <a:rPr lang="ru" sz="1500" b="1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-XX:+PrintGCDetails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Вывод детальной информации о сборке мусора</a:t>
            </a:r>
            <a:endParaRPr sz="1500" b="1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🞂"/>
            </a:pPr>
            <a:r>
              <a:rPr lang="ru" sz="1500" b="1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-XX:MaxMetaspaceSize=128m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Ограничение размера Metaspace</a:t>
            </a:r>
            <a:endParaRPr sz="1500" b="1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423725" y="119875"/>
            <a:ext cx="8229600" cy="743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языки на JVM</a:t>
            </a:r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body" idx="1"/>
          </p:nvPr>
        </p:nvSpPr>
        <p:spPr>
          <a:xfrm>
            <a:off x="1411150" y="1597900"/>
            <a:ext cx="2254500" cy="183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Scala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Kotlin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Groovy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Clojure</a:t>
            </a:r>
            <a:endParaRPr sz="17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900"/>
          </a:p>
        </p:txBody>
      </p:sp>
      <p:pic>
        <p:nvPicPr>
          <p:cNvPr id="197" name="Google Shape;19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7200" y="1271450"/>
            <a:ext cx="3191100" cy="9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7200" y="2271050"/>
            <a:ext cx="2532800" cy="4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7200" y="2846850"/>
            <a:ext cx="2615225" cy="3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07200" y="3303900"/>
            <a:ext cx="2543265" cy="3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743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🞂"/>
            </a:pPr>
            <a:r>
              <a:rPr lang="ru" sz="2000"/>
              <a:t>Главные преимущества JVM: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/>
              <a:t>Портативность кода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/>
              <a:t>Автоматическое управление памятью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/>
              <a:t>Высокая производительность через JIT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/>
              <a:t>Перспективы развития: 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/>
              <a:t>модули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/>
              <a:t>новые GC алгоритмы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🞂"/>
            </a:pPr>
            <a:r>
              <a:rPr lang="ru" sz="2000"/>
              <a:t>Virtual Threads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743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Источники</a:t>
            </a: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917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005"/>
              <a:buChar char="🞂"/>
            </a:pPr>
            <a:r>
              <a:rPr lang="ru" sz="2004"/>
              <a:t>docs.oracle.com/javase/specs/jvms/se23/jvms23.pdf</a:t>
            </a:r>
            <a:endParaRPr sz="2004"/>
          </a:p>
          <a:p>
            <a:pPr marL="457200" lvl="0" indent="-35591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5"/>
              <a:buChar char="🞂"/>
            </a:pPr>
            <a:r>
              <a:rPr lang="ru" sz="2004"/>
              <a:t>baeldung.com/jvm-series</a:t>
            </a:r>
            <a:endParaRPr sz="2004"/>
          </a:p>
          <a:p>
            <a:pPr marL="457200" lvl="0" indent="-35591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5"/>
              <a:buChar char="🞂"/>
            </a:pPr>
            <a:r>
              <a:rPr lang="ru" sz="2004"/>
              <a:t>herovired.com/home/learning-hub/topics/jvm-architecture</a:t>
            </a:r>
            <a:endParaRPr sz="2004"/>
          </a:p>
          <a:p>
            <a:pPr marL="457200" lvl="0" indent="-35591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5"/>
              <a:buChar char="🞂"/>
            </a:pPr>
            <a:r>
              <a:rPr lang="ru" sz="2004"/>
              <a:t>data-flair.training/blogs/java-virtual-machine-jvm</a:t>
            </a:r>
            <a:endParaRPr sz="2004"/>
          </a:p>
          <a:p>
            <a:pPr marL="457200" lvl="0" indent="-35591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5"/>
              <a:buChar char="🞂"/>
            </a:pPr>
            <a:r>
              <a:rPr lang="ru" sz="2004"/>
              <a:t>middleware.io/blog/java-garbage-collection</a:t>
            </a:r>
            <a:endParaRPr sz="2004"/>
          </a:p>
          <a:p>
            <a:pPr marL="457200" lvl="0" indent="-35591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5"/>
              <a:buChar char="🞂"/>
            </a:pPr>
            <a:r>
              <a:rPr lang="ru" sz="2004"/>
              <a:t>dzone.com/articles/jvm-performance-tuning-for-high-throughput-and-low-latency</a:t>
            </a:r>
            <a:endParaRPr sz="2004"/>
          </a:p>
          <a:p>
            <a:pPr marL="457200" lvl="0" indent="-35591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5"/>
              <a:buChar char="🞂"/>
            </a:pPr>
            <a:r>
              <a:rPr lang="ru" sz="2004"/>
              <a:t>geeksforgeeks.org/java/types-of-jvm-garbage-collectors-in-java-with-implementation-details</a:t>
            </a:r>
            <a:endParaRPr sz="2004"/>
          </a:p>
          <a:p>
            <a:pPr marL="457200" lvl="0" indent="-35591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5"/>
              <a:buChar char="🞂"/>
            </a:pPr>
            <a:r>
              <a:rPr lang="ru" sz="2004"/>
              <a:t>sematext.com/blog/jvm-performance-tuning</a:t>
            </a:r>
            <a:endParaRPr sz="2004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Начальная">
  <a:themeElements>
    <a:clrScheme name="Начальная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Microsoft Office PowerPoint</Application>
  <PresentationFormat>Экран (16:9)</PresentationFormat>
  <Paragraphs>93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Courier New</vt:lpstr>
      <vt:lpstr>Roboto</vt:lpstr>
      <vt:lpstr>Noto Sans Symbols</vt:lpstr>
      <vt:lpstr>Cambria</vt:lpstr>
      <vt:lpstr>Consolas</vt:lpstr>
      <vt:lpstr>Calibri</vt:lpstr>
      <vt:lpstr>Начальная</vt:lpstr>
      <vt:lpstr>Архитектура, принципы работы и оптимизация</vt:lpstr>
      <vt:lpstr>Что такое JVM?</vt:lpstr>
      <vt:lpstr>Архитектура JVM</vt:lpstr>
      <vt:lpstr>Жизненный цикл программы</vt:lpstr>
      <vt:lpstr>Garbage Collection</vt:lpstr>
      <vt:lpstr>JIT компиляция</vt:lpstr>
      <vt:lpstr>Многопоточность</vt:lpstr>
      <vt:lpstr>Оптимизация и мониторинг</vt:lpstr>
      <vt:lpstr>JVM флаги для настройки</vt:lpstr>
      <vt:lpstr>Основные языки на JVM</vt:lpstr>
      <vt:lpstr>Заключение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Архитектура, принципы работы и оптимизация</dc:title>
  <cp:lastModifiedBy>Расторгуев Михаил Павлович</cp:lastModifiedBy>
  <cp:revision>1</cp:revision>
  <dcterms:modified xsi:type="dcterms:W3CDTF">2025-12-12T17:59:36Z</dcterms:modified>
</cp:coreProperties>
</file>