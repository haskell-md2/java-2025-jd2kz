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76" r:id="rId12"/>
    <p:sldId id="277" r:id="rId13"/>
    <p:sldId id="278" r:id="rId14"/>
    <p:sldId id="279" r:id="rId15"/>
    <p:sldId id="280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58" r:id="rId2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C7D9F83-FDA4-4FE0-AF9A-B62D782651FF}" v="2548" dt="2025-12-05T08:10:51.668"/>
    <p1510:client id="{7C1DE9F8-EE3F-4207-947A-118BFB6FC5B9}" v="264" dt="2025-12-05T12:17:42.16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2" autoAdjust="0"/>
    <p:restoredTop sz="94660"/>
  </p:normalViewPr>
  <p:slideViewPr>
    <p:cSldViewPr snapToGrid="0">
      <p:cViewPr varScale="1">
        <p:scale>
          <a:sx n="89" d="100"/>
          <a:sy n="89" d="100"/>
        </p:scale>
        <p:origin x="8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63914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427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49788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21025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12/5/2025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6633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12/5/2025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3353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12/5/2025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96235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52889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4310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2806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12/5/2025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06883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12/5/2025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49711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habr.com/ru/companies/otus/articles/776342/" TargetMode="External"/><Relationship Id="rId2" Type="http://schemas.openxmlformats.org/officeDocument/2006/relationships/hyperlink" Target="https://habr.com/ru/companies/otus/articles/553996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javarush.com/quests/lectures/questservlets.level18.lecture05" TargetMode="External"/><Relationship Id="rId4" Type="http://schemas.openxmlformats.org/officeDocument/2006/relationships/hyperlink" Target="https://javarush.com/groups/posts/4075-kofe-breyk-210-vse-tipih-sborjshikov-musora-v-java-o-kotorihkh-vih-dolzhnih-znatjh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Сборщик мусора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/>
              <a:t>Куценко Артём, Герасимов Илья</a:t>
            </a:r>
          </a:p>
          <a:p>
            <a:r>
              <a:rPr lang="ru-RU" dirty="0"/>
              <a:t>5030102/30401</a:t>
            </a:r>
          </a:p>
        </p:txBody>
      </p:sp>
    </p:spTree>
    <p:extLst>
      <p:ext uri="{BB962C8B-B14F-4D97-AF65-F5344CB8AC3E}">
        <p14:creationId xmlns:p14="http://schemas.microsoft.com/office/powerpoint/2010/main" val="13516515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0B7ACA-DF1B-7382-4FDF-9223EB327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Структура памяти Java</a:t>
            </a:r>
            <a:endParaRPr lang="ru-RU"/>
          </a:p>
        </p:txBody>
      </p:sp>
      <p:pic>
        <p:nvPicPr>
          <p:cNvPr id="4" name="Объект 3" descr="Изображение выглядит как текст, снимок экрана, Прямоугольник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448F686-329B-EFEB-2615-99BC708D15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53250" y="1516706"/>
            <a:ext cx="8685500" cy="4649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42817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947CD1-BD40-A855-CF44-AD5264F41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Что такое мусор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978A9F3-77C2-5C41-7DC4-3EC3A19C8A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/>
              <a:t>Мусор - это объект в памяти программы, который больше не может быть достигнут по ссылке.</a:t>
            </a:r>
          </a:p>
        </p:txBody>
      </p:sp>
      <p:pic>
        <p:nvPicPr>
          <p:cNvPr id="4" name="Рисунок 3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96076F6-ECFE-4953-77F4-36CDD4FB17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3995" y="2980553"/>
            <a:ext cx="8844605" cy="3100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29635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B856C1E-0240-DA79-D829-E1EC0D902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dirty="0">
                <a:solidFill>
                  <a:srgbClr val="000000"/>
                </a:solidFill>
                <a:ea typeface="+mj-lt"/>
                <a:cs typeface="+mj-lt"/>
              </a:rPr>
              <a:t>Mark &amp; </a:t>
            </a:r>
            <a:r>
              <a:rPr lang="ru-RU" dirty="0" err="1">
                <a:solidFill>
                  <a:srgbClr val="000000"/>
                </a:solidFill>
                <a:ea typeface="+mj-lt"/>
                <a:cs typeface="+mj-lt"/>
              </a:rPr>
              <a:t>Sweep</a:t>
            </a:r>
            <a:endParaRPr lang="ru-RU" dirty="0" err="1"/>
          </a:p>
        </p:txBody>
      </p:sp>
      <p:pic>
        <p:nvPicPr>
          <p:cNvPr id="7" name="Объект 6" descr="Mark &amp; Sweep GC">
            <a:extLst>
              <a:ext uri="{FF2B5EF4-FFF2-40B4-BE49-F238E27FC236}">
                <a16:creationId xmlns:a16="http://schemas.microsoft.com/office/drawing/2014/main" id="{D4E66A8B-2B26-7B22-AF30-204DFF6BEE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0600" y="1901031"/>
            <a:ext cx="10210800" cy="420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25183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BE9904-BEBF-E9E4-C201-B57380FC2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Поколения объектов</a:t>
            </a:r>
            <a:endParaRPr lang="ru-RU"/>
          </a:p>
        </p:txBody>
      </p:sp>
      <p:pic>
        <p:nvPicPr>
          <p:cNvPr id="4" name="Объект 3" descr="Поколения в куче">
            <a:extLst>
              <a:ext uri="{FF2B5EF4-FFF2-40B4-BE49-F238E27FC236}">
                <a16:creationId xmlns:a16="http://schemas.microsoft.com/office/drawing/2014/main" id="{9AB38DBD-8412-2708-397B-F8009F82E6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02467" y="1825625"/>
            <a:ext cx="10387065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0702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1BF2FCA-7360-A621-F2F2-52B85742E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Гипотезы о поколениях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D288F83-EA88-92E5-1BAB-46623E728C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AutoNum type="arabicPeriod"/>
            </a:pPr>
            <a:r>
              <a:rPr lang="ru-RU" dirty="0"/>
              <a:t>Большинство объектов умирают молодыми (98% объектов становятся мусором вскоре после создания).</a:t>
            </a:r>
          </a:p>
          <a:p>
            <a:pPr marL="514350" indent="-514350">
              <a:buAutoNum type="arabicPeriod"/>
            </a:pPr>
            <a:r>
              <a:rPr lang="ru-RU" dirty="0"/>
              <a:t>Чем дольше объект живет, тем дольше он будет продолжать жить.</a:t>
            </a:r>
          </a:p>
          <a:p>
            <a:pPr marL="514350" indent="-514350">
              <a:buAutoNum type="arabicPeriod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262732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CFFAA0-03DA-46B7-2205-E4D7A8F39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Оптимизированная сборка мусора</a:t>
            </a:r>
          </a:p>
        </p:txBody>
      </p:sp>
      <p:pic>
        <p:nvPicPr>
          <p:cNvPr id="5" name="Объект 4" descr="Изображение выглядит как текст, снимок экрана, Прямоугольник, прямоугольны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4213D64A-3B9B-6BD3-4E99-757BE6EA3E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177556" y="1135708"/>
            <a:ext cx="5014101" cy="561790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FD61D47-7ED0-7D60-4432-803CA657273E}"/>
              </a:ext>
            </a:extLst>
          </p:cNvPr>
          <p:cNvSpPr txBox="1"/>
          <p:nvPr/>
        </p:nvSpPr>
        <p:spPr>
          <a:xfrm>
            <a:off x="599818" y="1714498"/>
            <a:ext cx="6556067" cy="517064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AutoNum type="arabicPeriod"/>
            </a:pPr>
            <a:r>
              <a:rPr lang="ru-RU" sz="2400" dirty="0"/>
              <a:t>Новые объекты создаются в </a:t>
            </a:r>
            <a:r>
              <a:rPr lang="ru-RU" sz="2400" err="1"/>
              <a:t>Eden</a:t>
            </a:r>
            <a:r>
              <a:rPr lang="ru-RU" sz="2400" dirty="0"/>
              <a:t>.</a:t>
            </a:r>
          </a:p>
          <a:p>
            <a:pPr marL="342900" indent="-342900">
              <a:buAutoNum type="arabicPeriod"/>
            </a:pPr>
            <a:r>
              <a:rPr lang="ru-RU" sz="2400" dirty="0"/>
              <a:t>При заполнении </a:t>
            </a:r>
            <a:r>
              <a:rPr lang="ru-RU" sz="2400" err="1"/>
              <a:t>Eden</a:t>
            </a:r>
            <a:r>
              <a:rPr lang="ru-RU" sz="2400" dirty="0"/>
              <a:t> происходит </a:t>
            </a:r>
            <a:r>
              <a:rPr lang="ru-RU" sz="2400" err="1"/>
              <a:t>Minor</a:t>
            </a:r>
            <a:r>
              <a:rPr lang="ru-RU" sz="2400" dirty="0"/>
              <a:t> GC.</a:t>
            </a:r>
          </a:p>
          <a:p>
            <a:pPr marL="342900" indent="-342900">
              <a:buAutoNum type="arabicPeriod"/>
            </a:pPr>
            <a:r>
              <a:rPr lang="ru-RU" sz="2400" dirty="0"/>
              <a:t>Выжившие после </a:t>
            </a:r>
            <a:r>
              <a:rPr lang="ru-RU" sz="2400" err="1"/>
              <a:t>Minor</a:t>
            </a:r>
            <a:r>
              <a:rPr lang="ru-RU" sz="2400" dirty="0"/>
              <a:t> GC объекты перемещаются в S0 (S1).</a:t>
            </a:r>
          </a:p>
          <a:p>
            <a:pPr marL="342900" indent="-342900">
              <a:buAutoNum type="arabicPeriod"/>
            </a:pPr>
            <a:r>
              <a:rPr lang="ru-RU" sz="2400" dirty="0"/>
              <a:t>При очередном </a:t>
            </a:r>
            <a:r>
              <a:rPr lang="ru-RU" sz="2400" err="1"/>
              <a:t>Minor</a:t>
            </a:r>
            <a:r>
              <a:rPr lang="ru-RU" sz="2400" dirty="0"/>
              <a:t> GC очищаются </a:t>
            </a:r>
            <a:r>
              <a:rPr lang="ru-RU" sz="2400" err="1"/>
              <a:t>Eden</a:t>
            </a:r>
            <a:r>
              <a:rPr lang="ru-RU" sz="2400" dirty="0"/>
              <a:t> и S0, выжившие объекты переходят в S1, и их возраст увеличивается. S0 и S1 каждый раз меняются местами.</a:t>
            </a:r>
          </a:p>
          <a:p>
            <a:pPr marL="342900" indent="-342900">
              <a:buAutoNum type="arabicPeriod"/>
            </a:pPr>
            <a:r>
              <a:rPr lang="ru-RU" sz="2400" dirty="0"/>
              <a:t>При достижении определённого возраста или заполнении S0/S1 выжившие объекты перемещаются в Old.</a:t>
            </a:r>
          </a:p>
          <a:p>
            <a:pPr marL="342900" indent="-342900">
              <a:buAutoNum type="arabicPeriod"/>
            </a:pPr>
            <a:r>
              <a:rPr lang="ru-RU" sz="2400" dirty="0"/>
              <a:t>При заполнении Old происходит Major GC.</a:t>
            </a:r>
          </a:p>
          <a:p>
            <a:pPr marL="342900" indent="-342900">
              <a:buAutoNum type="arabicPeriod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964283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BA48BA5-A831-E646-481F-399176084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Плюсы и минусы поколений</a:t>
            </a:r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9F563E7-7F0B-154F-011D-106B4D0551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ru-RU" dirty="0"/>
              <a:t>Плюсы:</a:t>
            </a:r>
          </a:p>
          <a:p>
            <a:pPr marL="457200" indent="-457200"/>
            <a:r>
              <a:rPr lang="ru-RU" dirty="0" err="1"/>
              <a:t>Minor</a:t>
            </a:r>
            <a:r>
              <a:rPr lang="ru-RU" dirty="0"/>
              <a:t> GC происходит в меньшей части кучи (~ 2/3 от кучи). Этап маркировки эффективен, потому что область небольшая и состоит в основном из мертвых объектов.</a:t>
            </a:r>
          </a:p>
          <a:p>
            <a:pPr marL="0" indent="0">
              <a:buNone/>
            </a:pPr>
            <a:r>
              <a:rPr lang="ru-RU" dirty="0"/>
              <a:t>Минусы:</a:t>
            </a:r>
          </a:p>
          <a:p>
            <a:r>
              <a:rPr lang="ru-RU" dirty="0"/>
              <a:t>В каждый момент времени одно из пространств </a:t>
            </a:r>
            <a:r>
              <a:rPr lang="ru-RU" err="1"/>
              <a:t>Survivor</a:t>
            </a:r>
            <a:r>
              <a:rPr lang="ru-RU" dirty="0"/>
              <a:t> (S0 или S1) пустое и не используется.</a:t>
            </a:r>
          </a:p>
        </p:txBody>
      </p:sp>
    </p:spTree>
    <p:extLst>
      <p:ext uri="{BB962C8B-B14F-4D97-AF65-F5344CB8AC3E}">
        <p14:creationId xmlns:p14="http://schemas.microsoft.com/office/powerpoint/2010/main" val="3157248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F0C78A7-1DB6-BC0B-A787-F0BAB2278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Основные флаги</a:t>
            </a:r>
          </a:p>
        </p:txBody>
      </p: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94EDA880-3F0C-3F51-5A34-5C57D32401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49086376"/>
              </p:ext>
            </p:extLst>
          </p:nvPr>
        </p:nvGraphicFramePr>
        <p:xfrm>
          <a:off x="844378" y="1482810"/>
          <a:ext cx="10515600" cy="50879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2276765005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3025190"/>
                    </a:ext>
                  </a:extLst>
                </a:gridCol>
              </a:tblGrid>
              <a:tr h="695591">
                <a:tc>
                  <a:txBody>
                    <a:bodyPr/>
                    <a:lstStyle/>
                    <a:p>
                      <a:r>
                        <a:rPr lang="ru-RU" dirty="0"/>
                        <a:t>Флаг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Описание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1359145"/>
                  </a:ext>
                </a:extLst>
              </a:tr>
              <a:tr h="695591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 sz="1800" b="0" i="0" u="none" strike="noStrike" baseline="0" noProof="0" dirty="0">
                          <a:solidFill>
                            <a:srgbClr val="000000"/>
                          </a:solidFill>
                          <a:latin typeface="Aptos"/>
                        </a:rPr>
                        <a:t>-</a:t>
                      </a:r>
                      <a:r>
                        <a:rPr lang="ru-RU" sz="1800" b="0" i="0" u="none" strike="noStrike" baseline="0" noProof="0" dirty="0" err="1">
                          <a:solidFill>
                            <a:srgbClr val="000000"/>
                          </a:solidFill>
                          <a:latin typeface="Aptos"/>
                        </a:rPr>
                        <a:t>Xms</a:t>
                      </a:r>
                      <a:endParaRPr lang="ru-RU" dirty="0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 sz="1800" b="0" i="0" u="none" strike="noStrike" baseline="0" noProof="0" dirty="0">
                          <a:solidFill>
                            <a:srgbClr val="000000"/>
                          </a:solidFill>
                          <a:latin typeface="Aptos"/>
                        </a:rPr>
                        <a:t>Первоначальный размер кучи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8948641"/>
                  </a:ext>
                </a:extLst>
              </a:tr>
              <a:tr h="695591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 sz="1800" b="0" i="0" u="none" strike="noStrike" baseline="0" noProof="0" dirty="0">
                          <a:solidFill>
                            <a:srgbClr val="000000"/>
                          </a:solidFill>
                          <a:latin typeface="Aptos"/>
                        </a:rPr>
                        <a:t>-</a:t>
                      </a:r>
                      <a:r>
                        <a:rPr lang="ru-RU" sz="1800" b="0" i="0" u="none" strike="noStrike" baseline="0" noProof="0" dirty="0" err="1">
                          <a:solidFill>
                            <a:srgbClr val="000000"/>
                          </a:solidFill>
                          <a:latin typeface="Aptos"/>
                        </a:rPr>
                        <a:t>Xmx</a:t>
                      </a:r>
                      <a:endParaRPr lang="ru-RU" dirty="0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 sz="1800" b="0" i="0" u="none" strike="noStrike" baseline="0" noProof="0" dirty="0">
                          <a:solidFill>
                            <a:srgbClr val="000000"/>
                          </a:solidFill>
                          <a:latin typeface="Aptos"/>
                        </a:rPr>
                        <a:t>Максимальный размер кучи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490414"/>
                  </a:ext>
                </a:extLst>
              </a:tr>
              <a:tr h="695591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 sz="1800" b="0" i="0" u="none" strike="noStrike" baseline="0" noProof="0" dirty="0">
                          <a:solidFill>
                            <a:srgbClr val="000000"/>
                          </a:solidFill>
                          <a:latin typeface="Aptos"/>
                        </a:rPr>
                        <a:t>-</a:t>
                      </a:r>
                      <a:r>
                        <a:rPr lang="ru-RU" sz="1800" b="0" i="0" u="none" strike="noStrike" baseline="0" noProof="0" dirty="0" err="1">
                          <a:solidFill>
                            <a:srgbClr val="000000"/>
                          </a:solidFill>
                          <a:latin typeface="Aptos"/>
                        </a:rPr>
                        <a:t>XX:NewRatio</a:t>
                      </a:r>
                      <a:r>
                        <a:rPr lang="ru-RU" sz="1800" b="0" i="0" u="none" strike="noStrike" baseline="0" noProof="0" dirty="0">
                          <a:solidFill>
                            <a:srgbClr val="000000"/>
                          </a:solidFill>
                          <a:latin typeface="Aptos"/>
                        </a:rPr>
                        <a:t>=n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 sz="1800" b="0" i="0" u="none" strike="noStrike" baseline="0" noProof="0" dirty="0">
                          <a:solidFill>
                            <a:srgbClr val="000000"/>
                          </a:solidFill>
                          <a:latin typeface="Aptos"/>
                        </a:rPr>
                        <a:t>Отношение размера Old Generation к Young Generation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9491479"/>
                  </a:ext>
                </a:extLst>
              </a:tr>
              <a:tr h="695591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 sz="1800" b="0" i="0" u="none" strike="noStrike" baseline="0" noProof="0" dirty="0">
                          <a:solidFill>
                            <a:srgbClr val="000000"/>
                          </a:solidFill>
                          <a:latin typeface="Aptos"/>
                        </a:rPr>
                        <a:t>-</a:t>
                      </a:r>
                      <a:r>
                        <a:rPr lang="ru-RU" sz="1800" b="0" i="0" u="none" strike="noStrike" baseline="0" noProof="0" dirty="0" err="1">
                          <a:solidFill>
                            <a:srgbClr val="000000"/>
                          </a:solidFill>
                          <a:latin typeface="Aptos"/>
                        </a:rPr>
                        <a:t>XX:SurvivorRatio</a:t>
                      </a:r>
                      <a:r>
                        <a:rPr lang="ru-RU" sz="1800" b="0" i="0" u="none" strike="noStrike" baseline="0" noProof="0" dirty="0">
                          <a:solidFill>
                            <a:srgbClr val="000000"/>
                          </a:solidFill>
                          <a:latin typeface="Aptos"/>
                        </a:rPr>
                        <a:t>=n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 sz="1800" b="0" i="0" u="none" strike="noStrike" baseline="0" noProof="0" dirty="0">
                          <a:solidFill>
                            <a:srgbClr val="000000"/>
                          </a:solidFill>
                          <a:latin typeface="Aptos"/>
                        </a:rPr>
                        <a:t>Отношение размера </a:t>
                      </a:r>
                      <a:r>
                        <a:rPr lang="ru-RU" sz="1800" b="0" i="0" u="none" strike="noStrike" baseline="0" noProof="0" err="1">
                          <a:solidFill>
                            <a:srgbClr val="000000"/>
                          </a:solidFill>
                          <a:latin typeface="Aptos"/>
                        </a:rPr>
                        <a:t>Eden</a:t>
                      </a:r>
                      <a:r>
                        <a:rPr lang="ru-RU" sz="1800" b="0" i="0" u="none" strike="noStrike" baseline="0" noProof="0" dirty="0">
                          <a:solidFill>
                            <a:srgbClr val="000000"/>
                          </a:solidFill>
                          <a:latin typeface="Aptos"/>
                        </a:rPr>
                        <a:t> к </a:t>
                      </a:r>
                      <a:r>
                        <a:rPr lang="ru-RU" sz="1800" b="0" i="0" u="none" strike="noStrike" baseline="0" noProof="0" err="1">
                          <a:solidFill>
                            <a:srgbClr val="000000"/>
                          </a:solidFill>
                          <a:latin typeface="Aptos"/>
                        </a:rPr>
                        <a:t>Survivor</a:t>
                      </a:r>
                      <a:endParaRPr lang="ru-RU" err="1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2450862"/>
                  </a:ext>
                </a:extLst>
              </a:tr>
              <a:tr h="695591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 sz="1800" b="0" i="0" u="none" strike="noStrike" baseline="0" noProof="0" dirty="0">
                          <a:solidFill>
                            <a:srgbClr val="000000"/>
                          </a:solidFill>
                          <a:latin typeface="Aptos"/>
                        </a:rPr>
                        <a:t>-</a:t>
                      </a:r>
                      <a:r>
                        <a:rPr lang="ru-RU" sz="1800" b="0" i="0" u="none" strike="noStrike" baseline="0" noProof="0" err="1">
                          <a:solidFill>
                            <a:srgbClr val="000000"/>
                          </a:solidFill>
                          <a:latin typeface="Aptos"/>
                        </a:rPr>
                        <a:t>XX:MaxTenuringThreshold</a:t>
                      </a:r>
                      <a:r>
                        <a:rPr lang="ru-RU" sz="1800" b="0" i="0" u="none" strike="noStrike" baseline="0" noProof="0" dirty="0">
                          <a:solidFill>
                            <a:srgbClr val="000000"/>
                          </a:solidFill>
                          <a:latin typeface="Aptos"/>
                        </a:rPr>
                        <a:t>=n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 sz="1800" b="0" i="0" u="none" strike="noStrike" baseline="0" noProof="0" dirty="0">
                          <a:solidFill>
                            <a:srgbClr val="000000"/>
                          </a:solidFill>
                          <a:latin typeface="Aptos"/>
                        </a:rPr>
                        <a:t>Возраст объекта, при котором объект перемещается из области </a:t>
                      </a:r>
                      <a:r>
                        <a:rPr lang="ru-RU" sz="1800" b="0" i="0" u="none" strike="noStrike" baseline="0" noProof="0" err="1">
                          <a:solidFill>
                            <a:srgbClr val="000000"/>
                          </a:solidFill>
                          <a:latin typeface="Aptos"/>
                        </a:rPr>
                        <a:t>Survivor</a:t>
                      </a:r>
                      <a:r>
                        <a:rPr lang="ru-RU" sz="1800" b="0" i="0" u="none" strike="noStrike" baseline="0" noProof="0" dirty="0">
                          <a:solidFill>
                            <a:srgbClr val="000000"/>
                          </a:solidFill>
                          <a:latin typeface="Aptos"/>
                        </a:rPr>
                        <a:t> в область Old Generation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1697465"/>
                  </a:ext>
                </a:extLst>
              </a:tr>
              <a:tr h="695591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 sz="1800" b="0" i="0" u="none" strike="noStrike" baseline="0" noProof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lang="ru-RU" sz="1800" b="0" i="0" u="none" strike="noStrike" baseline="0" noProof="0" dirty="0" err="1">
                          <a:solidFill>
                            <a:srgbClr val="000000"/>
                          </a:solidFill>
                        </a:rPr>
                        <a:t>Xlog:gc</a:t>
                      </a:r>
                      <a:r>
                        <a:rPr lang="ru-RU" sz="1800" b="0" i="0" u="none" strike="noStrike" baseline="0" noProof="0" dirty="0">
                          <a:solidFill>
                            <a:srgbClr val="000000"/>
                          </a:solidFill>
                        </a:rPr>
                        <a:t>*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 sz="1800" b="0" i="0" u="none" strike="noStrike" baseline="0" noProof="0" dirty="0">
                          <a:solidFill>
                            <a:srgbClr val="000000"/>
                          </a:solidFill>
                        </a:rPr>
                        <a:t>Подробное логирование всех событий сборщика мусора (доступно в Java9+)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2630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44939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A4CA1F-96B5-27C8-97EE-7DCBC19C1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Пример</a:t>
            </a:r>
          </a:p>
        </p:txBody>
      </p:sp>
      <p:pic>
        <p:nvPicPr>
          <p:cNvPr id="3" name="Объект 2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D1A4286-5F70-351B-EEE5-C91089AD55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00350" y="1689894"/>
            <a:ext cx="6604000" cy="477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32916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AE3FCA9-F9CB-DE5F-C87F-9BC98CB14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Настройки GC</a:t>
            </a:r>
          </a:p>
        </p:txBody>
      </p:sp>
      <p:pic>
        <p:nvPicPr>
          <p:cNvPr id="4" name="Объект 3" descr="Изображение выглядит как текст, Шрифт, снимок экрана, типограф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7EA5029-D879-9537-5886-D8398FC2DD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71662" y="2235994"/>
            <a:ext cx="8448675" cy="289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47693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CA4560-BA21-53E4-2035-2859E832B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Первая </a:t>
            </a:r>
            <a:r>
              <a:rPr lang="ru-RU" dirty="0" err="1"/>
              <a:t>Minor</a:t>
            </a:r>
            <a:r>
              <a:rPr lang="ru-RU" dirty="0"/>
              <a:t> GC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539D2DB-BA1D-93AD-3E40-67F9198A48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>
                <a:ea typeface="+mn-lt"/>
                <a:cs typeface="+mn-lt"/>
              </a:rPr>
              <a:t>[0.051s][</a:t>
            </a:r>
            <a:r>
              <a:rPr lang="ru-RU" dirty="0" err="1">
                <a:ea typeface="+mn-lt"/>
                <a:cs typeface="+mn-lt"/>
              </a:rPr>
              <a:t>info</a:t>
            </a:r>
            <a:r>
              <a:rPr lang="ru-RU" dirty="0">
                <a:ea typeface="+mn-lt"/>
                <a:cs typeface="+mn-lt"/>
              </a:rPr>
              <a:t>][</a:t>
            </a:r>
            <a:r>
              <a:rPr lang="ru-RU" dirty="0" err="1">
                <a:ea typeface="+mn-lt"/>
                <a:cs typeface="+mn-lt"/>
              </a:rPr>
              <a:t>gc,start</a:t>
            </a:r>
            <a:r>
              <a:rPr lang="ru-RU" dirty="0">
                <a:ea typeface="+mn-lt"/>
                <a:cs typeface="+mn-lt"/>
              </a:rPr>
              <a:t>     ] GC(0) </a:t>
            </a:r>
            <a:r>
              <a:rPr lang="ru-RU" dirty="0" err="1">
                <a:ea typeface="+mn-lt"/>
                <a:cs typeface="+mn-lt"/>
              </a:rPr>
              <a:t>Pause</a:t>
            </a:r>
            <a:r>
              <a:rPr lang="ru-RU" dirty="0">
                <a:ea typeface="+mn-lt"/>
                <a:cs typeface="+mn-lt"/>
              </a:rPr>
              <a:t> Young (</a:t>
            </a:r>
            <a:r>
              <a:rPr lang="ru-RU" dirty="0" err="1">
                <a:ea typeface="+mn-lt"/>
                <a:cs typeface="+mn-lt"/>
              </a:rPr>
              <a:t>Normal</a:t>
            </a:r>
            <a:r>
              <a:rPr lang="ru-RU" dirty="0">
                <a:ea typeface="+mn-lt"/>
                <a:cs typeface="+mn-lt"/>
              </a:rPr>
              <a:t>) (G1 </a:t>
            </a:r>
            <a:r>
              <a:rPr lang="ru-RU" dirty="0" err="1">
                <a:ea typeface="+mn-lt"/>
                <a:cs typeface="+mn-lt"/>
              </a:rPr>
              <a:t>Evacuation</a:t>
            </a:r>
            <a:r>
              <a:rPr lang="ru-RU" dirty="0">
                <a:ea typeface="+mn-lt"/>
                <a:cs typeface="+mn-lt"/>
              </a:rPr>
              <a:t> </a:t>
            </a:r>
            <a:r>
              <a:rPr lang="ru-RU" dirty="0" err="1">
                <a:ea typeface="+mn-lt"/>
                <a:cs typeface="+mn-lt"/>
              </a:rPr>
              <a:t>Pause</a:t>
            </a:r>
            <a:r>
              <a:rPr lang="ru-RU" dirty="0">
                <a:ea typeface="+mn-lt"/>
                <a:cs typeface="+mn-lt"/>
              </a:rPr>
              <a:t>)</a:t>
            </a:r>
            <a:endParaRPr lang="ru-RU" dirty="0"/>
          </a:p>
          <a:p>
            <a:r>
              <a:rPr lang="ru-RU" dirty="0">
                <a:ea typeface="+mn-lt"/>
                <a:cs typeface="+mn-lt"/>
              </a:rPr>
              <a:t>...</a:t>
            </a:r>
            <a:endParaRPr lang="ru-RU" dirty="0"/>
          </a:p>
          <a:p>
            <a:r>
              <a:rPr lang="ru-RU" dirty="0">
                <a:ea typeface="+mn-lt"/>
                <a:cs typeface="+mn-lt"/>
              </a:rPr>
              <a:t>[0.053s][</a:t>
            </a:r>
            <a:r>
              <a:rPr lang="ru-RU" dirty="0" err="1">
                <a:ea typeface="+mn-lt"/>
                <a:cs typeface="+mn-lt"/>
              </a:rPr>
              <a:t>info</a:t>
            </a:r>
            <a:r>
              <a:rPr lang="ru-RU" dirty="0">
                <a:ea typeface="+mn-lt"/>
                <a:cs typeface="+mn-lt"/>
              </a:rPr>
              <a:t>][</a:t>
            </a:r>
            <a:r>
              <a:rPr lang="ru-RU" dirty="0" err="1">
                <a:ea typeface="+mn-lt"/>
                <a:cs typeface="+mn-lt"/>
              </a:rPr>
              <a:t>gc,heap</a:t>
            </a:r>
            <a:r>
              <a:rPr lang="ru-RU" dirty="0">
                <a:ea typeface="+mn-lt"/>
                <a:cs typeface="+mn-lt"/>
              </a:rPr>
              <a:t>      ] GC(0) </a:t>
            </a:r>
            <a:r>
              <a:rPr lang="ru-RU" dirty="0" err="1">
                <a:ea typeface="+mn-lt"/>
                <a:cs typeface="+mn-lt"/>
              </a:rPr>
              <a:t>Eden</a:t>
            </a:r>
            <a:r>
              <a:rPr lang="ru-RU" dirty="0">
                <a:ea typeface="+mn-lt"/>
                <a:cs typeface="+mn-lt"/>
              </a:rPr>
              <a:t> </a:t>
            </a:r>
            <a:r>
              <a:rPr lang="ru-RU" dirty="0" err="1">
                <a:ea typeface="+mn-lt"/>
                <a:cs typeface="+mn-lt"/>
              </a:rPr>
              <a:t>regions</a:t>
            </a:r>
            <a:r>
              <a:rPr lang="ru-RU" dirty="0">
                <a:ea typeface="+mn-lt"/>
                <a:cs typeface="+mn-lt"/>
              </a:rPr>
              <a:t>: 6-&gt;0(1)</a:t>
            </a:r>
            <a:endParaRPr lang="ru-RU" dirty="0"/>
          </a:p>
          <a:p>
            <a:r>
              <a:rPr lang="ru-RU" dirty="0">
                <a:ea typeface="+mn-lt"/>
                <a:cs typeface="+mn-lt"/>
              </a:rPr>
              <a:t>[0.053s][</a:t>
            </a:r>
            <a:r>
              <a:rPr lang="ru-RU" dirty="0" err="1">
                <a:ea typeface="+mn-lt"/>
                <a:cs typeface="+mn-lt"/>
              </a:rPr>
              <a:t>info</a:t>
            </a:r>
            <a:r>
              <a:rPr lang="ru-RU" dirty="0">
                <a:ea typeface="+mn-lt"/>
                <a:cs typeface="+mn-lt"/>
              </a:rPr>
              <a:t>][</a:t>
            </a:r>
            <a:r>
              <a:rPr lang="ru-RU" dirty="0" err="1">
                <a:ea typeface="+mn-lt"/>
                <a:cs typeface="+mn-lt"/>
              </a:rPr>
              <a:t>gc,heap</a:t>
            </a:r>
            <a:r>
              <a:rPr lang="ru-RU" dirty="0">
                <a:ea typeface="+mn-lt"/>
                <a:cs typeface="+mn-lt"/>
              </a:rPr>
              <a:t>      ] GC(0) </a:t>
            </a:r>
            <a:r>
              <a:rPr lang="ru-RU" dirty="0" err="1">
                <a:ea typeface="+mn-lt"/>
                <a:cs typeface="+mn-lt"/>
              </a:rPr>
              <a:t>Survivor</a:t>
            </a:r>
            <a:r>
              <a:rPr lang="ru-RU" dirty="0">
                <a:ea typeface="+mn-lt"/>
                <a:cs typeface="+mn-lt"/>
              </a:rPr>
              <a:t> </a:t>
            </a:r>
            <a:r>
              <a:rPr lang="ru-RU" dirty="0" err="1">
                <a:ea typeface="+mn-lt"/>
                <a:cs typeface="+mn-lt"/>
              </a:rPr>
              <a:t>regions</a:t>
            </a:r>
            <a:r>
              <a:rPr lang="ru-RU" dirty="0">
                <a:ea typeface="+mn-lt"/>
                <a:cs typeface="+mn-lt"/>
              </a:rPr>
              <a:t>: 0-&gt;6(6)</a:t>
            </a:r>
            <a:endParaRPr lang="ru-RU" dirty="0"/>
          </a:p>
          <a:p>
            <a:r>
              <a:rPr lang="ru-RU" dirty="0">
                <a:ea typeface="+mn-lt"/>
                <a:cs typeface="+mn-lt"/>
              </a:rPr>
              <a:t>[0.054s][</a:t>
            </a:r>
            <a:r>
              <a:rPr lang="ru-RU" dirty="0" err="1">
                <a:ea typeface="+mn-lt"/>
                <a:cs typeface="+mn-lt"/>
              </a:rPr>
              <a:t>info</a:t>
            </a:r>
            <a:r>
              <a:rPr lang="ru-RU" dirty="0">
                <a:ea typeface="+mn-lt"/>
                <a:cs typeface="+mn-lt"/>
              </a:rPr>
              <a:t>][</a:t>
            </a:r>
            <a:r>
              <a:rPr lang="ru-RU" dirty="0" err="1">
                <a:ea typeface="+mn-lt"/>
                <a:cs typeface="+mn-lt"/>
              </a:rPr>
              <a:t>gc,heap</a:t>
            </a:r>
            <a:r>
              <a:rPr lang="ru-RU" dirty="0">
                <a:ea typeface="+mn-lt"/>
                <a:cs typeface="+mn-lt"/>
              </a:rPr>
              <a:t>      ] GC(0) Old </a:t>
            </a:r>
            <a:r>
              <a:rPr lang="ru-RU" dirty="0" err="1">
                <a:ea typeface="+mn-lt"/>
                <a:cs typeface="+mn-lt"/>
              </a:rPr>
              <a:t>regions</a:t>
            </a:r>
            <a:r>
              <a:rPr lang="ru-RU" dirty="0">
                <a:ea typeface="+mn-lt"/>
                <a:cs typeface="+mn-lt"/>
              </a:rPr>
              <a:t>: 0-&gt;0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273492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2EF245-D59B-3088-E845-EFFD6E6A4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Вторая </a:t>
            </a:r>
            <a:r>
              <a:rPr lang="ru-RU" dirty="0" err="1"/>
              <a:t>Minor</a:t>
            </a:r>
            <a:r>
              <a:rPr lang="ru-RU" dirty="0"/>
              <a:t> GC + Первая Major GC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AB05282-4AD4-EC32-53AC-327393B5D4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>
                <a:ea typeface="+mn-lt"/>
                <a:cs typeface="+mn-lt"/>
              </a:rPr>
              <a:t>[0.054s][</a:t>
            </a:r>
            <a:r>
              <a:rPr lang="ru-RU" dirty="0" err="1">
                <a:ea typeface="+mn-lt"/>
                <a:cs typeface="+mn-lt"/>
              </a:rPr>
              <a:t>info</a:t>
            </a:r>
            <a:r>
              <a:rPr lang="ru-RU" dirty="0">
                <a:ea typeface="+mn-lt"/>
                <a:cs typeface="+mn-lt"/>
              </a:rPr>
              <a:t>][</a:t>
            </a:r>
            <a:r>
              <a:rPr lang="ru-RU" dirty="0" err="1">
                <a:ea typeface="+mn-lt"/>
                <a:cs typeface="+mn-lt"/>
              </a:rPr>
              <a:t>gc,start</a:t>
            </a:r>
            <a:r>
              <a:rPr lang="ru-RU" dirty="0">
                <a:ea typeface="+mn-lt"/>
                <a:cs typeface="+mn-lt"/>
              </a:rPr>
              <a:t>     ] GC(1) </a:t>
            </a:r>
            <a:r>
              <a:rPr lang="ru-RU" dirty="0" err="1">
                <a:ea typeface="+mn-lt"/>
                <a:cs typeface="+mn-lt"/>
              </a:rPr>
              <a:t>Pause</a:t>
            </a:r>
            <a:r>
              <a:rPr lang="ru-RU" dirty="0">
                <a:ea typeface="+mn-lt"/>
                <a:cs typeface="+mn-lt"/>
              </a:rPr>
              <a:t> Young (</a:t>
            </a:r>
            <a:r>
              <a:rPr lang="ru-RU" dirty="0" err="1">
                <a:ea typeface="+mn-lt"/>
                <a:cs typeface="+mn-lt"/>
              </a:rPr>
              <a:t>Normal</a:t>
            </a:r>
            <a:r>
              <a:rPr lang="ru-RU" dirty="0">
                <a:ea typeface="+mn-lt"/>
                <a:cs typeface="+mn-lt"/>
              </a:rPr>
              <a:t>) (G1 </a:t>
            </a:r>
            <a:r>
              <a:rPr lang="ru-RU" dirty="0" err="1">
                <a:ea typeface="+mn-lt"/>
                <a:cs typeface="+mn-lt"/>
              </a:rPr>
              <a:t>Evacuation</a:t>
            </a:r>
            <a:r>
              <a:rPr lang="ru-RU" dirty="0">
                <a:ea typeface="+mn-lt"/>
                <a:cs typeface="+mn-lt"/>
              </a:rPr>
              <a:t> </a:t>
            </a:r>
            <a:r>
              <a:rPr lang="ru-RU" dirty="0" err="1">
                <a:ea typeface="+mn-lt"/>
                <a:cs typeface="+mn-lt"/>
              </a:rPr>
              <a:t>Pause</a:t>
            </a:r>
            <a:r>
              <a:rPr lang="ru-RU" dirty="0">
                <a:ea typeface="+mn-lt"/>
                <a:cs typeface="+mn-lt"/>
              </a:rPr>
              <a:t>)</a:t>
            </a:r>
            <a:endParaRPr lang="ru-RU" dirty="0"/>
          </a:p>
          <a:p>
            <a:r>
              <a:rPr lang="ru-RU" dirty="0">
                <a:ea typeface="+mn-lt"/>
                <a:cs typeface="+mn-lt"/>
              </a:rPr>
              <a:t>...</a:t>
            </a:r>
            <a:endParaRPr lang="ru-RU" dirty="0"/>
          </a:p>
          <a:p>
            <a:r>
              <a:rPr lang="ru-RU" dirty="0">
                <a:ea typeface="+mn-lt"/>
                <a:cs typeface="+mn-lt"/>
              </a:rPr>
              <a:t>[0.055s][</a:t>
            </a:r>
            <a:r>
              <a:rPr lang="ru-RU" dirty="0" err="1">
                <a:ea typeface="+mn-lt"/>
                <a:cs typeface="+mn-lt"/>
              </a:rPr>
              <a:t>info</a:t>
            </a:r>
            <a:r>
              <a:rPr lang="ru-RU" dirty="0">
                <a:ea typeface="+mn-lt"/>
                <a:cs typeface="+mn-lt"/>
              </a:rPr>
              <a:t>][</a:t>
            </a:r>
            <a:r>
              <a:rPr lang="ru-RU" dirty="0" err="1">
                <a:ea typeface="+mn-lt"/>
                <a:cs typeface="+mn-lt"/>
              </a:rPr>
              <a:t>gc,heap</a:t>
            </a:r>
            <a:r>
              <a:rPr lang="ru-RU" dirty="0">
                <a:ea typeface="+mn-lt"/>
                <a:cs typeface="+mn-lt"/>
              </a:rPr>
              <a:t>      ] GC(1) </a:t>
            </a:r>
            <a:r>
              <a:rPr lang="ru-RU" dirty="0" err="1">
                <a:ea typeface="+mn-lt"/>
                <a:cs typeface="+mn-lt"/>
              </a:rPr>
              <a:t>Eden</a:t>
            </a:r>
            <a:r>
              <a:rPr lang="ru-RU" dirty="0">
                <a:ea typeface="+mn-lt"/>
                <a:cs typeface="+mn-lt"/>
              </a:rPr>
              <a:t> </a:t>
            </a:r>
            <a:r>
              <a:rPr lang="ru-RU" dirty="0" err="1">
                <a:ea typeface="+mn-lt"/>
                <a:cs typeface="+mn-lt"/>
              </a:rPr>
              <a:t>regions</a:t>
            </a:r>
            <a:r>
              <a:rPr lang="ru-RU" dirty="0">
                <a:ea typeface="+mn-lt"/>
                <a:cs typeface="+mn-lt"/>
              </a:rPr>
              <a:t>: 1-&gt;0(5)</a:t>
            </a:r>
            <a:endParaRPr lang="ru-RU" dirty="0"/>
          </a:p>
          <a:p>
            <a:r>
              <a:rPr lang="ru-RU" dirty="0">
                <a:ea typeface="+mn-lt"/>
                <a:cs typeface="+mn-lt"/>
              </a:rPr>
              <a:t>[0.055s][</a:t>
            </a:r>
            <a:r>
              <a:rPr lang="ru-RU" dirty="0" err="1">
                <a:ea typeface="+mn-lt"/>
                <a:cs typeface="+mn-lt"/>
              </a:rPr>
              <a:t>info</a:t>
            </a:r>
            <a:r>
              <a:rPr lang="ru-RU" dirty="0">
                <a:ea typeface="+mn-lt"/>
                <a:cs typeface="+mn-lt"/>
              </a:rPr>
              <a:t>][</a:t>
            </a:r>
            <a:r>
              <a:rPr lang="ru-RU" dirty="0" err="1">
                <a:ea typeface="+mn-lt"/>
                <a:cs typeface="+mn-lt"/>
              </a:rPr>
              <a:t>gc,heap</a:t>
            </a:r>
            <a:r>
              <a:rPr lang="ru-RU" dirty="0">
                <a:ea typeface="+mn-lt"/>
                <a:cs typeface="+mn-lt"/>
              </a:rPr>
              <a:t>      ] GC(1) </a:t>
            </a:r>
            <a:r>
              <a:rPr lang="ru-RU" dirty="0" err="1">
                <a:ea typeface="+mn-lt"/>
                <a:cs typeface="+mn-lt"/>
              </a:rPr>
              <a:t>Survivor</a:t>
            </a:r>
            <a:r>
              <a:rPr lang="ru-RU" dirty="0">
                <a:ea typeface="+mn-lt"/>
                <a:cs typeface="+mn-lt"/>
              </a:rPr>
              <a:t> </a:t>
            </a:r>
            <a:r>
              <a:rPr lang="ru-RU" dirty="0" err="1">
                <a:ea typeface="+mn-lt"/>
                <a:cs typeface="+mn-lt"/>
              </a:rPr>
              <a:t>regions</a:t>
            </a:r>
            <a:r>
              <a:rPr lang="ru-RU" dirty="0">
                <a:ea typeface="+mn-lt"/>
                <a:cs typeface="+mn-lt"/>
              </a:rPr>
              <a:t>: 6-&gt;1(7)</a:t>
            </a:r>
            <a:endParaRPr lang="ru-RU" dirty="0"/>
          </a:p>
          <a:p>
            <a:r>
              <a:rPr lang="ru-RU" dirty="0">
                <a:ea typeface="+mn-lt"/>
                <a:cs typeface="+mn-lt"/>
              </a:rPr>
              <a:t>[0.055s][</a:t>
            </a:r>
            <a:r>
              <a:rPr lang="ru-RU" dirty="0" err="1">
                <a:ea typeface="+mn-lt"/>
                <a:cs typeface="+mn-lt"/>
              </a:rPr>
              <a:t>info</a:t>
            </a:r>
            <a:r>
              <a:rPr lang="ru-RU" dirty="0">
                <a:ea typeface="+mn-lt"/>
                <a:cs typeface="+mn-lt"/>
              </a:rPr>
              <a:t>][</a:t>
            </a:r>
            <a:r>
              <a:rPr lang="ru-RU" dirty="0" err="1">
                <a:ea typeface="+mn-lt"/>
                <a:cs typeface="+mn-lt"/>
              </a:rPr>
              <a:t>gc,heap</a:t>
            </a:r>
            <a:r>
              <a:rPr lang="ru-RU" dirty="0">
                <a:ea typeface="+mn-lt"/>
                <a:cs typeface="+mn-lt"/>
              </a:rPr>
              <a:t>      ] GC(1) Old </a:t>
            </a:r>
            <a:r>
              <a:rPr lang="ru-RU" dirty="0" err="1">
                <a:ea typeface="+mn-lt"/>
                <a:cs typeface="+mn-lt"/>
              </a:rPr>
              <a:t>regions</a:t>
            </a:r>
            <a:r>
              <a:rPr lang="ru-RU" dirty="0">
                <a:ea typeface="+mn-lt"/>
                <a:cs typeface="+mn-lt"/>
              </a:rPr>
              <a:t>: 0-&gt;6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546129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B5F06E8-E8DC-5653-484A-DBC1C0DE5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Третья </a:t>
            </a:r>
            <a:r>
              <a:rPr lang="ru-RU" dirty="0" err="1"/>
              <a:t>Minor</a:t>
            </a:r>
            <a:r>
              <a:rPr lang="ru-RU" dirty="0"/>
              <a:t> GC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6990D23-CA7F-B6F9-7902-F2B674A13D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>
                <a:ea typeface="+mn-lt"/>
                <a:cs typeface="+mn-lt"/>
              </a:rPr>
              <a:t>[0.056s][</a:t>
            </a:r>
            <a:r>
              <a:rPr lang="ru-RU" dirty="0" err="1">
                <a:ea typeface="+mn-lt"/>
                <a:cs typeface="+mn-lt"/>
              </a:rPr>
              <a:t>info</a:t>
            </a:r>
            <a:r>
              <a:rPr lang="ru-RU" dirty="0">
                <a:ea typeface="+mn-lt"/>
                <a:cs typeface="+mn-lt"/>
              </a:rPr>
              <a:t>][</a:t>
            </a:r>
            <a:r>
              <a:rPr lang="ru-RU" dirty="0" err="1">
                <a:ea typeface="+mn-lt"/>
                <a:cs typeface="+mn-lt"/>
              </a:rPr>
              <a:t>gc,start</a:t>
            </a:r>
            <a:r>
              <a:rPr lang="ru-RU" dirty="0">
                <a:ea typeface="+mn-lt"/>
                <a:cs typeface="+mn-lt"/>
              </a:rPr>
              <a:t>     ] GC(2) </a:t>
            </a:r>
            <a:r>
              <a:rPr lang="ru-RU" dirty="0" err="1">
                <a:ea typeface="+mn-lt"/>
                <a:cs typeface="+mn-lt"/>
              </a:rPr>
              <a:t>Pause</a:t>
            </a:r>
            <a:r>
              <a:rPr lang="ru-RU" dirty="0">
                <a:ea typeface="+mn-lt"/>
                <a:cs typeface="+mn-lt"/>
              </a:rPr>
              <a:t> Young (</a:t>
            </a:r>
            <a:r>
              <a:rPr lang="ru-RU" dirty="0" err="1">
                <a:ea typeface="+mn-lt"/>
                <a:cs typeface="+mn-lt"/>
              </a:rPr>
              <a:t>Normal</a:t>
            </a:r>
            <a:r>
              <a:rPr lang="ru-RU" dirty="0">
                <a:ea typeface="+mn-lt"/>
                <a:cs typeface="+mn-lt"/>
              </a:rPr>
              <a:t>) (G1 </a:t>
            </a:r>
            <a:r>
              <a:rPr lang="ru-RU" dirty="0" err="1">
                <a:ea typeface="+mn-lt"/>
                <a:cs typeface="+mn-lt"/>
              </a:rPr>
              <a:t>Evacuation</a:t>
            </a:r>
            <a:r>
              <a:rPr lang="ru-RU" dirty="0">
                <a:ea typeface="+mn-lt"/>
                <a:cs typeface="+mn-lt"/>
              </a:rPr>
              <a:t> </a:t>
            </a:r>
            <a:r>
              <a:rPr lang="ru-RU" dirty="0" err="1">
                <a:ea typeface="+mn-lt"/>
                <a:cs typeface="+mn-lt"/>
              </a:rPr>
              <a:t>Pause</a:t>
            </a:r>
            <a:r>
              <a:rPr lang="ru-RU" dirty="0">
                <a:ea typeface="+mn-lt"/>
                <a:cs typeface="+mn-lt"/>
              </a:rPr>
              <a:t>)</a:t>
            </a:r>
            <a:endParaRPr lang="ru-RU" dirty="0"/>
          </a:p>
          <a:p>
            <a:r>
              <a:rPr lang="ru-RU" dirty="0">
                <a:ea typeface="+mn-lt"/>
                <a:cs typeface="+mn-lt"/>
              </a:rPr>
              <a:t>...</a:t>
            </a:r>
            <a:endParaRPr lang="ru-RU" dirty="0"/>
          </a:p>
          <a:p>
            <a:r>
              <a:rPr lang="ru-RU" dirty="0">
                <a:ea typeface="+mn-lt"/>
                <a:cs typeface="+mn-lt"/>
              </a:rPr>
              <a:t>[0.057s][</a:t>
            </a:r>
            <a:r>
              <a:rPr lang="ru-RU" dirty="0" err="1">
                <a:ea typeface="+mn-lt"/>
                <a:cs typeface="+mn-lt"/>
              </a:rPr>
              <a:t>info</a:t>
            </a:r>
            <a:r>
              <a:rPr lang="ru-RU" dirty="0">
                <a:ea typeface="+mn-lt"/>
                <a:cs typeface="+mn-lt"/>
              </a:rPr>
              <a:t>][</a:t>
            </a:r>
            <a:r>
              <a:rPr lang="ru-RU" dirty="0" err="1">
                <a:ea typeface="+mn-lt"/>
                <a:cs typeface="+mn-lt"/>
              </a:rPr>
              <a:t>gc,heap</a:t>
            </a:r>
            <a:r>
              <a:rPr lang="ru-RU" dirty="0">
                <a:ea typeface="+mn-lt"/>
                <a:cs typeface="+mn-lt"/>
              </a:rPr>
              <a:t>      ] GC(2) </a:t>
            </a:r>
            <a:r>
              <a:rPr lang="ru-RU" dirty="0" err="1">
                <a:ea typeface="+mn-lt"/>
                <a:cs typeface="+mn-lt"/>
              </a:rPr>
              <a:t>Eden</a:t>
            </a:r>
            <a:r>
              <a:rPr lang="ru-RU" dirty="0">
                <a:ea typeface="+mn-lt"/>
                <a:cs typeface="+mn-lt"/>
              </a:rPr>
              <a:t> </a:t>
            </a:r>
            <a:r>
              <a:rPr lang="ru-RU" dirty="0" err="1">
                <a:ea typeface="+mn-lt"/>
                <a:cs typeface="+mn-lt"/>
              </a:rPr>
              <a:t>regions</a:t>
            </a:r>
            <a:r>
              <a:rPr lang="ru-RU" dirty="0">
                <a:ea typeface="+mn-lt"/>
                <a:cs typeface="+mn-lt"/>
              </a:rPr>
              <a:t>: 5-&gt;0(1)</a:t>
            </a:r>
            <a:endParaRPr lang="ru-RU" dirty="0"/>
          </a:p>
          <a:p>
            <a:r>
              <a:rPr lang="ru-RU" dirty="0">
                <a:ea typeface="+mn-lt"/>
                <a:cs typeface="+mn-lt"/>
              </a:rPr>
              <a:t>[0.057s][</a:t>
            </a:r>
            <a:r>
              <a:rPr lang="ru-RU" dirty="0" err="1">
                <a:ea typeface="+mn-lt"/>
                <a:cs typeface="+mn-lt"/>
              </a:rPr>
              <a:t>info</a:t>
            </a:r>
            <a:r>
              <a:rPr lang="ru-RU" dirty="0">
                <a:ea typeface="+mn-lt"/>
                <a:cs typeface="+mn-lt"/>
              </a:rPr>
              <a:t>][</a:t>
            </a:r>
            <a:r>
              <a:rPr lang="ru-RU" dirty="0" err="1">
                <a:ea typeface="+mn-lt"/>
                <a:cs typeface="+mn-lt"/>
              </a:rPr>
              <a:t>gc,heap</a:t>
            </a:r>
            <a:r>
              <a:rPr lang="ru-RU" dirty="0">
                <a:ea typeface="+mn-lt"/>
                <a:cs typeface="+mn-lt"/>
              </a:rPr>
              <a:t>      ] GC(2) </a:t>
            </a:r>
            <a:r>
              <a:rPr lang="ru-RU" dirty="0" err="1">
                <a:ea typeface="+mn-lt"/>
                <a:cs typeface="+mn-lt"/>
              </a:rPr>
              <a:t>Survivor</a:t>
            </a:r>
            <a:r>
              <a:rPr lang="ru-RU" dirty="0">
                <a:ea typeface="+mn-lt"/>
                <a:cs typeface="+mn-lt"/>
              </a:rPr>
              <a:t> </a:t>
            </a:r>
            <a:r>
              <a:rPr lang="ru-RU" dirty="0" err="1">
                <a:ea typeface="+mn-lt"/>
                <a:cs typeface="+mn-lt"/>
              </a:rPr>
              <a:t>regions</a:t>
            </a:r>
            <a:r>
              <a:rPr lang="ru-RU" dirty="0">
                <a:ea typeface="+mn-lt"/>
                <a:cs typeface="+mn-lt"/>
              </a:rPr>
              <a:t>: 1-&gt;6(6)</a:t>
            </a:r>
            <a:endParaRPr lang="ru-RU" dirty="0"/>
          </a:p>
          <a:p>
            <a:r>
              <a:rPr lang="ru-RU" dirty="0">
                <a:ea typeface="+mn-lt"/>
                <a:cs typeface="+mn-lt"/>
              </a:rPr>
              <a:t>[0.057s][</a:t>
            </a:r>
            <a:r>
              <a:rPr lang="ru-RU" dirty="0" err="1">
                <a:ea typeface="+mn-lt"/>
                <a:cs typeface="+mn-lt"/>
              </a:rPr>
              <a:t>info</a:t>
            </a:r>
            <a:r>
              <a:rPr lang="ru-RU" dirty="0">
                <a:ea typeface="+mn-lt"/>
                <a:cs typeface="+mn-lt"/>
              </a:rPr>
              <a:t>][</a:t>
            </a:r>
            <a:r>
              <a:rPr lang="ru-RU" dirty="0" err="1">
                <a:ea typeface="+mn-lt"/>
                <a:cs typeface="+mn-lt"/>
              </a:rPr>
              <a:t>gc,heap</a:t>
            </a:r>
            <a:r>
              <a:rPr lang="ru-RU" dirty="0">
                <a:ea typeface="+mn-lt"/>
                <a:cs typeface="+mn-lt"/>
              </a:rPr>
              <a:t>      ] GC(2) Old </a:t>
            </a:r>
            <a:r>
              <a:rPr lang="ru-RU" dirty="0" err="1">
                <a:ea typeface="+mn-lt"/>
                <a:cs typeface="+mn-lt"/>
              </a:rPr>
              <a:t>regions</a:t>
            </a:r>
            <a:r>
              <a:rPr lang="ru-RU" dirty="0">
                <a:ea typeface="+mn-lt"/>
                <a:cs typeface="+mn-lt"/>
              </a:rPr>
              <a:t>: 6-&gt;6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969605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71D4C3-652A-217F-8A13-1865046A0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Четвёртая </a:t>
            </a:r>
            <a:r>
              <a:rPr lang="ru-RU" dirty="0" err="1"/>
              <a:t>Minor</a:t>
            </a:r>
            <a:r>
              <a:rPr lang="ru-RU" dirty="0"/>
              <a:t> GC + Вторая Major GC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ED66CA2-70E5-212A-EF2B-CEE2EAA235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>
                <a:ea typeface="+mn-lt"/>
                <a:cs typeface="+mn-lt"/>
              </a:rPr>
              <a:t>[0.057s][</a:t>
            </a:r>
            <a:r>
              <a:rPr lang="ru-RU" dirty="0" err="1">
                <a:ea typeface="+mn-lt"/>
                <a:cs typeface="+mn-lt"/>
              </a:rPr>
              <a:t>info</a:t>
            </a:r>
            <a:r>
              <a:rPr lang="ru-RU" dirty="0">
                <a:ea typeface="+mn-lt"/>
                <a:cs typeface="+mn-lt"/>
              </a:rPr>
              <a:t>][</a:t>
            </a:r>
            <a:r>
              <a:rPr lang="ru-RU" dirty="0" err="1">
                <a:ea typeface="+mn-lt"/>
                <a:cs typeface="+mn-lt"/>
              </a:rPr>
              <a:t>gc,start</a:t>
            </a:r>
            <a:r>
              <a:rPr lang="ru-RU" dirty="0">
                <a:ea typeface="+mn-lt"/>
                <a:cs typeface="+mn-lt"/>
              </a:rPr>
              <a:t>     ] GC(3) </a:t>
            </a:r>
            <a:r>
              <a:rPr lang="ru-RU" dirty="0" err="1">
                <a:ea typeface="+mn-lt"/>
                <a:cs typeface="+mn-lt"/>
              </a:rPr>
              <a:t>Pause</a:t>
            </a:r>
            <a:r>
              <a:rPr lang="ru-RU" dirty="0">
                <a:ea typeface="+mn-lt"/>
                <a:cs typeface="+mn-lt"/>
              </a:rPr>
              <a:t> Young (</a:t>
            </a:r>
            <a:r>
              <a:rPr lang="ru-RU" dirty="0" err="1">
                <a:ea typeface="+mn-lt"/>
                <a:cs typeface="+mn-lt"/>
              </a:rPr>
              <a:t>Normal</a:t>
            </a:r>
            <a:r>
              <a:rPr lang="ru-RU" dirty="0">
                <a:ea typeface="+mn-lt"/>
                <a:cs typeface="+mn-lt"/>
              </a:rPr>
              <a:t>) (G1 </a:t>
            </a:r>
            <a:r>
              <a:rPr lang="ru-RU" dirty="0" err="1">
                <a:ea typeface="+mn-lt"/>
                <a:cs typeface="+mn-lt"/>
              </a:rPr>
              <a:t>Evacuation</a:t>
            </a:r>
            <a:r>
              <a:rPr lang="ru-RU" dirty="0">
                <a:ea typeface="+mn-lt"/>
                <a:cs typeface="+mn-lt"/>
              </a:rPr>
              <a:t> </a:t>
            </a:r>
            <a:r>
              <a:rPr lang="ru-RU" dirty="0" err="1">
                <a:ea typeface="+mn-lt"/>
                <a:cs typeface="+mn-lt"/>
              </a:rPr>
              <a:t>Pause</a:t>
            </a:r>
            <a:r>
              <a:rPr lang="ru-RU" dirty="0">
                <a:ea typeface="+mn-lt"/>
                <a:cs typeface="+mn-lt"/>
              </a:rPr>
              <a:t>)</a:t>
            </a:r>
          </a:p>
          <a:p>
            <a:r>
              <a:rPr lang="ru-RU" dirty="0">
                <a:ea typeface="+mn-lt"/>
                <a:cs typeface="+mn-lt"/>
              </a:rPr>
              <a:t>...</a:t>
            </a:r>
          </a:p>
          <a:p>
            <a:r>
              <a:rPr lang="ru-RU" dirty="0">
                <a:ea typeface="+mn-lt"/>
                <a:cs typeface="+mn-lt"/>
              </a:rPr>
              <a:t>[0.058s][</a:t>
            </a:r>
            <a:r>
              <a:rPr lang="ru-RU" dirty="0" err="1">
                <a:ea typeface="+mn-lt"/>
                <a:cs typeface="+mn-lt"/>
              </a:rPr>
              <a:t>info</a:t>
            </a:r>
            <a:r>
              <a:rPr lang="ru-RU" dirty="0">
                <a:ea typeface="+mn-lt"/>
                <a:cs typeface="+mn-lt"/>
              </a:rPr>
              <a:t>][</a:t>
            </a:r>
            <a:r>
              <a:rPr lang="ru-RU" dirty="0" err="1">
                <a:ea typeface="+mn-lt"/>
                <a:cs typeface="+mn-lt"/>
              </a:rPr>
              <a:t>gc,heap</a:t>
            </a:r>
            <a:r>
              <a:rPr lang="ru-RU" dirty="0">
                <a:ea typeface="+mn-lt"/>
                <a:cs typeface="+mn-lt"/>
              </a:rPr>
              <a:t>      ] GC(3) </a:t>
            </a:r>
            <a:r>
              <a:rPr lang="ru-RU" dirty="0" err="1">
                <a:ea typeface="+mn-lt"/>
                <a:cs typeface="+mn-lt"/>
              </a:rPr>
              <a:t>Eden</a:t>
            </a:r>
            <a:r>
              <a:rPr lang="ru-RU" dirty="0">
                <a:ea typeface="+mn-lt"/>
                <a:cs typeface="+mn-lt"/>
              </a:rPr>
              <a:t> </a:t>
            </a:r>
            <a:r>
              <a:rPr lang="ru-RU" dirty="0" err="1">
                <a:ea typeface="+mn-lt"/>
                <a:cs typeface="+mn-lt"/>
              </a:rPr>
              <a:t>regions</a:t>
            </a:r>
            <a:r>
              <a:rPr lang="ru-RU" dirty="0">
                <a:ea typeface="+mn-lt"/>
                <a:cs typeface="+mn-lt"/>
              </a:rPr>
              <a:t>: 1-&gt;0(5)</a:t>
            </a:r>
          </a:p>
          <a:p>
            <a:r>
              <a:rPr lang="ru-RU" dirty="0">
                <a:ea typeface="+mn-lt"/>
                <a:cs typeface="+mn-lt"/>
              </a:rPr>
              <a:t>[0.058s][</a:t>
            </a:r>
            <a:r>
              <a:rPr lang="ru-RU" dirty="0" err="1">
                <a:ea typeface="+mn-lt"/>
                <a:cs typeface="+mn-lt"/>
              </a:rPr>
              <a:t>info</a:t>
            </a:r>
            <a:r>
              <a:rPr lang="ru-RU" dirty="0">
                <a:ea typeface="+mn-lt"/>
                <a:cs typeface="+mn-lt"/>
              </a:rPr>
              <a:t>][</a:t>
            </a:r>
            <a:r>
              <a:rPr lang="ru-RU" dirty="0" err="1">
                <a:ea typeface="+mn-lt"/>
                <a:cs typeface="+mn-lt"/>
              </a:rPr>
              <a:t>gc,heap</a:t>
            </a:r>
            <a:r>
              <a:rPr lang="ru-RU" dirty="0">
                <a:ea typeface="+mn-lt"/>
                <a:cs typeface="+mn-lt"/>
              </a:rPr>
              <a:t>      ] GC(3) </a:t>
            </a:r>
            <a:r>
              <a:rPr lang="ru-RU" dirty="0" err="1">
                <a:ea typeface="+mn-lt"/>
                <a:cs typeface="+mn-lt"/>
              </a:rPr>
              <a:t>Survivor</a:t>
            </a:r>
            <a:r>
              <a:rPr lang="ru-RU" dirty="0">
                <a:ea typeface="+mn-lt"/>
                <a:cs typeface="+mn-lt"/>
              </a:rPr>
              <a:t> </a:t>
            </a:r>
            <a:r>
              <a:rPr lang="ru-RU" dirty="0" err="1">
                <a:ea typeface="+mn-lt"/>
                <a:cs typeface="+mn-lt"/>
              </a:rPr>
              <a:t>regions</a:t>
            </a:r>
            <a:r>
              <a:rPr lang="ru-RU" dirty="0">
                <a:ea typeface="+mn-lt"/>
                <a:cs typeface="+mn-lt"/>
              </a:rPr>
              <a:t>: 6-&gt;1(7)</a:t>
            </a:r>
          </a:p>
          <a:p>
            <a:r>
              <a:rPr lang="ru-RU" dirty="0">
                <a:ea typeface="+mn-lt"/>
                <a:cs typeface="+mn-lt"/>
              </a:rPr>
              <a:t>[0.058s][</a:t>
            </a:r>
            <a:r>
              <a:rPr lang="ru-RU" dirty="0" err="1">
                <a:ea typeface="+mn-lt"/>
                <a:cs typeface="+mn-lt"/>
              </a:rPr>
              <a:t>info</a:t>
            </a:r>
            <a:r>
              <a:rPr lang="ru-RU" dirty="0">
                <a:ea typeface="+mn-lt"/>
                <a:cs typeface="+mn-lt"/>
              </a:rPr>
              <a:t>][</a:t>
            </a:r>
            <a:r>
              <a:rPr lang="ru-RU" dirty="0" err="1">
                <a:ea typeface="+mn-lt"/>
                <a:cs typeface="+mn-lt"/>
              </a:rPr>
              <a:t>gc,heap</a:t>
            </a:r>
            <a:r>
              <a:rPr lang="ru-RU" dirty="0">
                <a:ea typeface="+mn-lt"/>
                <a:cs typeface="+mn-lt"/>
              </a:rPr>
              <a:t>      ] GC(3) Old </a:t>
            </a:r>
            <a:r>
              <a:rPr lang="ru-RU" dirty="0" err="1">
                <a:ea typeface="+mn-lt"/>
                <a:cs typeface="+mn-lt"/>
              </a:rPr>
              <a:t>regions</a:t>
            </a:r>
            <a:r>
              <a:rPr lang="ru-RU" dirty="0">
                <a:ea typeface="+mn-lt"/>
                <a:cs typeface="+mn-lt"/>
              </a:rPr>
              <a:t>: 6-&gt;12</a:t>
            </a:r>
          </a:p>
        </p:txBody>
      </p:sp>
    </p:spTree>
    <p:extLst>
      <p:ext uri="{BB962C8B-B14F-4D97-AF65-F5344CB8AC3E}">
        <p14:creationId xmlns:p14="http://schemas.microsoft.com/office/powerpoint/2010/main" val="33184024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302E5DA2-BC9D-F1BD-0C9C-85ACC35FEC5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57930144"/>
              </p:ext>
            </p:extLst>
          </p:nvPr>
        </p:nvGraphicFramePr>
        <p:xfrm>
          <a:off x="0" y="0"/>
          <a:ext cx="12179636" cy="68421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157">
                  <a:extLst>
                    <a:ext uri="{9D8B030D-6E8A-4147-A177-3AD203B41FA5}">
                      <a16:colId xmlns:a16="http://schemas.microsoft.com/office/drawing/2014/main" val="857833250"/>
                    </a:ext>
                  </a:extLst>
                </a:gridCol>
                <a:gridCol w="2742092">
                  <a:extLst>
                    <a:ext uri="{9D8B030D-6E8A-4147-A177-3AD203B41FA5}">
                      <a16:colId xmlns:a16="http://schemas.microsoft.com/office/drawing/2014/main" val="1532371649"/>
                    </a:ext>
                  </a:extLst>
                </a:gridCol>
                <a:gridCol w="2671139">
                  <a:extLst>
                    <a:ext uri="{9D8B030D-6E8A-4147-A177-3AD203B41FA5}">
                      <a16:colId xmlns:a16="http://schemas.microsoft.com/office/drawing/2014/main" val="2364643101"/>
                    </a:ext>
                  </a:extLst>
                </a:gridCol>
                <a:gridCol w="2233624">
                  <a:extLst>
                    <a:ext uri="{9D8B030D-6E8A-4147-A177-3AD203B41FA5}">
                      <a16:colId xmlns:a16="http://schemas.microsoft.com/office/drawing/2014/main" val="67184587"/>
                    </a:ext>
                  </a:extLst>
                </a:gridCol>
                <a:gridCol w="2233624">
                  <a:extLst>
                    <a:ext uri="{9D8B030D-6E8A-4147-A177-3AD203B41FA5}">
                      <a16:colId xmlns:a16="http://schemas.microsoft.com/office/drawing/2014/main" val="2779573301"/>
                    </a:ext>
                  </a:extLst>
                </a:gridCol>
              </a:tblGrid>
              <a:tr h="588743">
                <a:tc>
                  <a:txBody>
                    <a:bodyPr/>
                    <a:lstStyle/>
                    <a:p>
                      <a:r>
                        <a:rPr lang="ru-RU" dirty="0"/>
                        <a:t>Сборщик мусора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Преимущества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Недостатки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Применение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 dirty="0"/>
                        <a:t>Флаг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1877667"/>
                  </a:ext>
                </a:extLst>
              </a:tr>
              <a:tr h="1638935">
                <a:tc>
                  <a:txBody>
                    <a:bodyPr/>
                    <a:lstStyle/>
                    <a:p>
                      <a:r>
                        <a:rPr lang="ru-RU" dirty="0" err="1"/>
                        <a:t>Serial</a:t>
                      </a:r>
                      <a:r>
                        <a:rPr lang="ru-RU" dirty="0"/>
                        <a:t> GC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 sz="1800" b="0" i="0" u="none" strike="noStrike" baseline="0" noProof="0" dirty="0">
                          <a:solidFill>
                            <a:srgbClr val="000000"/>
                          </a:solidFill>
                          <a:latin typeface="Aptos"/>
                        </a:rPr>
                        <a:t>Простота, эффективность для малых приложений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 sz="1800" b="0" i="0" u="none" strike="noStrike" baseline="0" noProof="0" dirty="0">
                          <a:solidFill>
                            <a:srgbClr val="000000"/>
                          </a:solidFill>
                          <a:latin typeface="Aptos"/>
                        </a:rPr>
                        <a:t>Низкая производительность на многопроцессорных системах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 sz="1800" b="0" i="0" u="none" strike="noStrike" baseline="0" noProof="0" dirty="0">
                          <a:solidFill>
                            <a:srgbClr val="000000"/>
                          </a:solidFill>
                          <a:latin typeface="Aptos"/>
                        </a:rPr>
                        <a:t>Малые приложения, ограниченные ресурсы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 sz="1800" b="0" i="0" u="none" strike="noStrike" baseline="0" noProof="0" dirty="0">
                          <a:solidFill>
                            <a:srgbClr val="000000"/>
                          </a:solidFill>
                          <a:latin typeface="Aptos"/>
                        </a:rPr>
                        <a:t>-XX:+</a:t>
                      </a:r>
                      <a:r>
                        <a:rPr lang="ru-RU" sz="1800" b="0" i="0" u="none" strike="noStrike" baseline="0" noProof="0" dirty="0" err="1">
                          <a:solidFill>
                            <a:srgbClr val="000000"/>
                          </a:solidFill>
                          <a:latin typeface="Aptos"/>
                        </a:rPr>
                        <a:t>UseSerialGC</a:t>
                      </a:r>
                      <a:endParaRPr lang="ru-RU" dirty="0" err="1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911046"/>
                  </a:ext>
                </a:extLst>
              </a:tr>
              <a:tr h="1225224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 sz="1800" b="0" i="0" u="none" strike="noStrike" baseline="0" noProof="0" dirty="0" err="1">
                          <a:solidFill>
                            <a:srgbClr val="000000"/>
                          </a:solidFill>
                          <a:latin typeface="Aptos"/>
                        </a:rPr>
                        <a:t>Parallel</a:t>
                      </a:r>
                      <a:r>
                        <a:rPr lang="ru-RU" sz="1800" b="0" i="0" u="none" strike="noStrike" baseline="0" noProof="0" dirty="0">
                          <a:solidFill>
                            <a:srgbClr val="000000"/>
                          </a:solidFill>
                          <a:latin typeface="Aptos"/>
                        </a:rPr>
                        <a:t> GC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Высокая пропускная способность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Длинные паузы GC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err="1"/>
                        <a:t>Cерверные</a:t>
                      </a:r>
                      <a:r>
                        <a:rPr lang="ru-RU" dirty="0"/>
                        <a:t> приложения, многопроцессорные системы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 sz="1800" b="0" i="0" u="none" strike="noStrike" baseline="0" noProof="0" dirty="0">
                          <a:solidFill>
                            <a:srgbClr val="000000"/>
                          </a:solidFill>
                          <a:latin typeface="Aptos"/>
                        </a:rPr>
                        <a:t>-XX:+</a:t>
                      </a:r>
                      <a:r>
                        <a:rPr lang="ru-RU" sz="1800" b="0" i="0" u="none" strike="noStrike" baseline="0" noProof="0" dirty="0" err="1">
                          <a:solidFill>
                            <a:srgbClr val="000000"/>
                          </a:solidFill>
                          <a:latin typeface="Aptos"/>
                        </a:rPr>
                        <a:t>UseParallelGC</a:t>
                      </a:r>
                      <a:endParaRPr lang="ru-RU" dirty="0" err="1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4451637"/>
                  </a:ext>
                </a:extLst>
              </a:tr>
              <a:tr h="938807">
                <a:tc>
                  <a:txBody>
                    <a:bodyPr/>
                    <a:lstStyle/>
                    <a:p>
                      <a:r>
                        <a:rPr lang="ru-RU" dirty="0"/>
                        <a:t>CMS</a:t>
                      </a:r>
                    </a:p>
                    <a:p>
                      <a:pPr lvl="0">
                        <a:buNone/>
                      </a:pP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 sz="1800" b="0" i="0" u="none" strike="noStrike" baseline="0" noProof="0" dirty="0">
                          <a:solidFill>
                            <a:srgbClr val="000000"/>
                          </a:solidFill>
                          <a:latin typeface="Aptos"/>
                        </a:rPr>
                        <a:t>Низкие паузы GC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 sz="1800" b="0" i="0" u="none" strike="noStrike" baseline="0" noProof="0" dirty="0">
                          <a:solidFill>
                            <a:srgbClr val="000000"/>
                          </a:solidFill>
                          <a:latin typeface="Aptos"/>
                        </a:rPr>
                        <a:t>Возможная фрагментация памяти, сложность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 sz="1800" b="0" i="0" u="none" strike="noStrike" baseline="0" noProof="0" dirty="0">
                          <a:solidFill>
                            <a:srgbClr val="000000"/>
                          </a:solidFill>
                          <a:latin typeface="Aptos"/>
                        </a:rPr>
                        <a:t>Интерактивные приложения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ru-RU" sz="1800" b="0" i="0" u="none" strike="noStrike" baseline="0" noProof="0" dirty="0">
                          <a:solidFill>
                            <a:srgbClr val="000000"/>
                          </a:solidFill>
                          <a:latin typeface="Aptos"/>
                        </a:rPr>
                        <a:t>-XX:+</a:t>
                      </a:r>
                      <a:r>
                        <a:rPr lang="ru-RU" sz="1800" b="0" i="0" u="none" strike="noStrike" baseline="0" noProof="0" dirty="0" err="1">
                          <a:solidFill>
                            <a:srgbClr val="000000"/>
                          </a:solidFill>
                          <a:latin typeface="Aptos"/>
                        </a:rPr>
                        <a:t>UseConcMarkSweepGC</a:t>
                      </a:r>
                      <a:endParaRPr lang="ru-RU" dirty="0" err="1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2372213"/>
                  </a:ext>
                </a:extLst>
              </a:tr>
              <a:tr h="1225224">
                <a:tc>
                  <a:txBody>
                    <a:bodyPr/>
                    <a:lstStyle/>
                    <a:p>
                      <a:r>
                        <a:rPr lang="ru-RU" dirty="0"/>
                        <a:t>G1 GC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 sz="1800" b="0" i="0" u="none" strike="noStrike" baseline="0" noProof="0" dirty="0">
                          <a:solidFill>
                            <a:srgbClr val="000000"/>
                          </a:solidFill>
                          <a:latin typeface="Aptos"/>
                        </a:rPr>
                        <a:t>Баланс между производительностью и задержкой, масштабируемость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 sz="1800" b="0" i="0" u="none" strike="noStrike" baseline="0" noProof="0" dirty="0">
                          <a:solidFill>
                            <a:srgbClr val="000000"/>
                          </a:solidFill>
                          <a:latin typeface="Aptos"/>
                        </a:rPr>
                        <a:t>Может требовать тонкой настройки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 sz="1800" b="0" i="0" u="none" strike="noStrike" baseline="0" noProof="0" dirty="0">
                          <a:solidFill>
                            <a:srgbClr val="000000"/>
                          </a:solidFill>
                          <a:latin typeface="Aptos"/>
                        </a:rPr>
                        <a:t>Большие серверные приложения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 sz="1800" b="0" i="0" u="none" strike="noStrike" baseline="0" noProof="0" dirty="0">
                          <a:solidFill>
                            <a:srgbClr val="000000"/>
                          </a:solidFill>
                          <a:latin typeface="Aptos"/>
                        </a:rPr>
                        <a:t>-XX:+UseG1GC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1101111"/>
                  </a:ext>
                </a:extLst>
              </a:tr>
              <a:tr h="1225224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 sz="1800" b="0" i="0" u="none" strike="noStrike" baseline="0" noProof="0" dirty="0">
                          <a:solidFill>
                            <a:srgbClr val="000000"/>
                          </a:solidFill>
                          <a:latin typeface="Aptos"/>
                        </a:rPr>
                        <a:t>ZGC/</a:t>
                      </a:r>
                      <a:r>
                        <a:rPr lang="ru-RU" sz="1800" b="0" i="0" u="none" strike="noStrike" baseline="0" noProof="0" dirty="0" err="1">
                          <a:solidFill>
                            <a:srgbClr val="000000"/>
                          </a:solidFill>
                          <a:latin typeface="Aptos"/>
                        </a:rPr>
                        <a:t>Shenandoah</a:t>
                      </a:r>
                      <a:endParaRPr lang="ru-RU" dirty="0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 sz="1800" b="0" i="0" u="none" strike="noStrike" baseline="0" noProof="0" dirty="0">
                          <a:solidFill>
                            <a:srgbClr val="000000"/>
                          </a:solidFill>
                          <a:latin typeface="Aptos"/>
                        </a:rPr>
                        <a:t>Минимальные паузы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 sz="1800" b="0" i="0" u="none" strike="noStrike" baseline="0" noProof="0" dirty="0">
                          <a:solidFill>
                            <a:srgbClr val="000000"/>
                          </a:solidFill>
                          <a:latin typeface="Aptos"/>
                        </a:rPr>
                        <a:t>Новизна, потенциальные ограничения в использовании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ru-RU" sz="1800" b="0" i="0" u="none" strike="noStrike" baseline="0" noProof="0" dirty="0">
                          <a:solidFill>
                            <a:srgbClr val="000000"/>
                          </a:solidFill>
                          <a:latin typeface="Aptos"/>
                        </a:rPr>
                        <a:t>Приложения с требованиями к ультранизкой задержке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ru-RU" sz="1800" b="0" i="0" u="none" strike="noStrike" baseline="0" noProof="0" dirty="0">
                          <a:solidFill>
                            <a:srgbClr val="000000"/>
                          </a:solidFill>
                          <a:latin typeface="Aptos"/>
                        </a:rPr>
                        <a:t>-XX:+</a:t>
                      </a:r>
                      <a:r>
                        <a:rPr lang="ru-RU" sz="1800" b="0" i="0" u="none" strike="noStrike" baseline="0" noProof="0" dirty="0" err="1">
                          <a:solidFill>
                            <a:srgbClr val="000000"/>
                          </a:solidFill>
                          <a:latin typeface="Aptos"/>
                        </a:rPr>
                        <a:t>UseZGC</a:t>
                      </a:r>
                      <a:endParaRPr lang="ru-RU" dirty="0" err="1"/>
                    </a:p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ru-RU" sz="1800" b="0" i="0" u="none" strike="noStrike" baseline="0" noProof="0" dirty="0">
                          <a:solidFill>
                            <a:srgbClr val="000000"/>
                          </a:solidFill>
                          <a:latin typeface="Aptos"/>
                        </a:rPr>
                        <a:t>-XX:+</a:t>
                      </a:r>
                      <a:r>
                        <a:rPr lang="ru-RU" sz="1800" b="0" i="0" u="none" strike="noStrike" baseline="0" noProof="0" dirty="0" err="1">
                          <a:solidFill>
                            <a:srgbClr val="000000"/>
                          </a:solidFill>
                          <a:latin typeface="Aptos"/>
                        </a:rPr>
                        <a:t>UseShenandoahGC</a:t>
                      </a:r>
                      <a:endParaRPr lang="ru-RU" dirty="0" err="1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15408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9070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B8A7B33-8A66-37BF-79C0-DE524504C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Пример 1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19A092B-7978-9A0A-BF4C-320D78E579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/>
              <a:t>Настроить GC для веб-серверного приложения, где приоритетом является минимизация времени остановки для низкой задержки.</a:t>
            </a:r>
          </a:p>
          <a:p>
            <a:r>
              <a:rPr lang="ru-RU" dirty="0"/>
              <a:t>Код:</a:t>
            </a:r>
          </a:p>
          <a:p>
            <a:endParaRPr lang="ru-RU" dirty="0"/>
          </a:p>
        </p:txBody>
      </p:sp>
      <p:pic>
        <p:nvPicPr>
          <p:cNvPr id="6" name="Рисунок 5" descr="Изображение выглядит как текст, Шрифт, снимок экрана, типограф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ED614AA-D62E-1A9A-BD36-8687C55BFD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9075" y="3886200"/>
            <a:ext cx="666115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7377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EAA100E-CF27-AE41-B1D9-AD943EE3A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Пример 2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AD47DC2-D277-9F91-6E20-696143E67D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/>
              <a:t>Настроить GC для приложения обработки больших данных, где важна общая пропускная способность и эффективность использования памяти.</a:t>
            </a:r>
          </a:p>
          <a:p>
            <a:r>
              <a:rPr lang="ru-RU" dirty="0"/>
              <a:t>Код:</a:t>
            </a:r>
          </a:p>
          <a:p>
            <a:endParaRPr lang="ru-RU" dirty="0"/>
          </a:p>
        </p:txBody>
      </p:sp>
      <p:pic>
        <p:nvPicPr>
          <p:cNvPr id="6" name="Рисунок 5" descr="Изображение выглядит как текст, Шрифт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5C03215-2308-F96D-7ADF-5BA8F6CDA9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6025" y="3871913"/>
            <a:ext cx="7219950" cy="2301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1350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C199AF3-EFA9-39BC-8F00-CAAED4458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Утечка памяти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3BA7F6C-CB1E-5597-D4DB-6E3606E348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974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ru-RU" dirty="0"/>
              <a:t>Причины:</a:t>
            </a:r>
          </a:p>
          <a:p>
            <a:r>
              <a:rPr lang="ru-RU" dirty="0">
                <a:solidFill>
                  <a:srgbClr val="000000"/>
                </a:solidFill>
                <a:ea typeface="+mn-lt"/>
                <a:cs typeface="+mn-lt"/>
              </a:rPr>
              <a:t>Неправильное управление ресурсами</a:t>
            </a:r>
          </a:p>
          <a:p>
            <a:r>
              <a:rPr lang="ru-RU" dirty="0">
                <a:solidFill>
                  <a:srgbClr val="000000"/>
                </a:solidFill>
              </a:rPr>
              <a:t>Статические коллекции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2E2DC0-1683-2F2B-D915-C49C69494F8A}"/>
              </a:ext>
            </a:extLst>
          </p:cNvPr>
          <p:cNvSpPr txBox="1"/>
          <p:nvPr/>
        </p:nvSpPr>
        <p:spPr>
          <a:xfrm>
            <a:off x="6508750" y="1825625"/>
            <a:ext cx="5429250" cy="190250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ru-RU" sz="2800" dirty="0"/>
              <a:t>Решения:</a:t>
            </a:r>
            <a:endParaRPr lang="en-US" sz="2800" dirty="0"/>
          </a:p>
          <a:p>
            <a:pPr marL="2857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lang="ru-RU" sz="2800" dirty="0"/>
              <a:t>Профилирование памяти</a:t>
            </a:r>
            <a:endParaRPr lang="en-US" sz="2800" dirty="0"/>
          </a:p>
          <a:p>
            <a:pPr marL="285750" indent="-285750">
              <a:lnSpc>
                <a:spcPct val="90000"/>
              </a:lnSpc>
              <a:spcBef>
                <a:spcPts val="1000"/>
              </a:spcBef>
              <a:buFont typeface="Arial"/>
              <a:buChar char="•"/>
            </a:pPr>
            <a:r>
              <a:rPr lang="ru-RU" sz="2800" dirty="0"/>
              <a:t>Использование </a:t>
            </a:r>
            <a:r>
              <a:rPr lang="ru-RU" sz="2800" dirty="0" err="1"/>
              <a:t>Weak</a:t>
            </a:r>
            <a:r>
              <a:rPr lang="ru-RU" sz="2800" dirty="0"/>
              <a:t> </a:t>
            </a:r>
            <a:r>
              <a:rPr lang="ru-RU" sz="2800" dirty="0" err="1"/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41599606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B243C46-6F4F-E586-F76A-1471E849A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Пример 1</a:t>
            </a:r>
          </a:p>
        </p:txBody>
      </p:sp>
      <p:pic>
        <p:nvPicPr>
          <p:cNvPr id="7" name="Объект 6" descr="Изображение выглядит как текст, снимок экрана, дисплей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4D131A4-E40A-CF75-0166-30169D9C56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57142" y="1500080"/>
            <a:ext cx="8098308" cy="5177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1383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Объект 3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4DC1EAC-327F-4380-E3BC-703D0F23F6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39450" y="1175201"/>
            <a:ext cx="11123397" cy="3963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18116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9AF0CB8-15DB-9EB9-CE4B-0859108BC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Исправленный пример</a:t>
            </a:r>
          </a:p>
        </p:txBody>
      </p:sp>
      <p:pic>
        <p:nvPicPr>
          <p:cNvPr id="4" name="Объект 3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BCA638E-E3FF-0C7C-3D82-EA14606A4E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14500" y="1561307"/>
            <a:ext cx="8763000" cy="4765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7728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Объект 3" descr="Изображение выглядит как текст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D197258-0B90-AFC1-B46E-D8837EA672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41712" y="389731"/>
            <a:ext cx="5121275" cy="6080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3898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BF8286-5087-C905-3C10-1DA4B7F27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Пример 2</a:t>
            </a:r>
          </a:p>
        </p:txBody>
      </p:sp>
      <p:pic>
        <p:nvPicPr>
          <p:cNvPr id="8" name="Объект 7" descr="Изображение выглядит как текст, снимок экрана, дисплей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46BAFA5-6F36-AE9B-9402-AE5A6F3FBDE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79525" y="1715294"/>
            <a:ext cx="9632950" cy="448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4280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5E9799-AD67-E857-3756-FA3C96D0D5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Источники</a:t>
            </a:r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C6D6B4C-F509-A692-7CC5-5D9F2B5666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ru-RU" dirty="0">
                <a:ea typeface="+mn-lt"/>
                <a:cs typeface="+mn-lt"/>
                <a:hlinkClick r:id="rId2"/>
              </a:rPr>
              <a:t>https://habr.com/ru/companies/otus/articles/553996/</a:t>
            </a:r>
            <a:endParaRPr lang="ru-RU"/>
          </a:p>
          <a:p>
            <a:r>
              <a:rPr lang="ru-RU" dirty="0">
                <a:ea typeface="+mn-lt"/>
                <a:cs typeface="+mn-lt"/>
                <a:hlinkClick r:id="rId3"/>
              </a:rPr>
              <a:t>https://habr.com/ru/companies/otus/articles/776342/</a:t>
            </a:r>
          </a:p>
          <a:p>
            <a:r>
              <a:rPr lang="ru-RU" dirty="0">
                <a:ea typeface="+mn-lt"/>
                <a:cs typeface="+mn-lt"/>
                <a:hlinkClick r:id="rId4"/>
              </a:rPr>
              <a:t>https://javarush.com/groups/posts/4075-kofe-breyk-210-vse-tipih-sborjshikov-musora-v-java-o-kotorihkh-vih-dolzhnih-znatjh</a:t>
            </a:r>
          </a:p>
          <a:p>
            <a:r>
              <a:rPr lang="ru-RU" dirty="0">
                <a:ea typeface="+mn-lt"/>
                <a:cs typeface="+mn-lt"/>
                <a:hlinkClick r:id="rId5"/>
              </a:rPr>
              <a:t>https://javarush.com/quests/lectures/questservlets.level18.lecture05</a:t>
            </a:r>
          </a:p>
          <a:p>
            <a:endParaRPr lang="ru-RU" dirty="0">
              <a:ea typeface="+mn-lt"/>
              <a:cs typeface="+mn-lt"/>
            </a:endParaRPr>
          </a:p>
          <a:p>
            <a:endParaRPr lang="ru-RU" dirty="0">
              <a:ea typeface="+mn-lt"/>
              <a:cs typeface="+mn-lt"/>
            </a:endParaRPr>
          </a:p>
          <a:p>
            <a:endParaRPr lang="ru-RU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2360167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Широкоэкранный</PresentationFormat>
  <Paragraphs>0</Paragraphs>
  <Slides>25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25</vt:i4>
      </vt:variant>
    </vt:vector>
  </HeadingPairs>
  <TitlesOfParts>
    <vt:vector size="26" baseType="lpstr">
      <vt:lpstr>Office Theme</vt:lpstr>
      <vt:lpstr>Сборщик мусора</vt:lpstr>
      <vt:lpstr>Структура памяти Java</vt:lpstr>
      <vt:lpstr>Что такое мусор</vt:lpstr>
      <vt:lpstr>Mark &amp; Sweep</vt:lpstr>
      <vt:lpstr>Поколения объектов</vt:lpstr>
      <vt:lpstr>Гипотезы о поколениях</vt:lpstr>
      <vt:lpstr>Оптимизированная сборка мусора</vt:lpstr>
      <vt:lpstr>Плюсы и минусы поколений</vt:lpstr>
      <vt:lpstr>Основные флаги</vt:lpstr>
      <vt:lpstr>Пример</vt:lpstr>
      <vt:lpstr>Настройки GC</vt:lpstr>
      <vt:lpstr>Первая Minor GC</vt:lpstr>
      <vt:lpstr>Вторая Minor GC + Первая Major GC</vt:lpstr>
      <vt:lpstr>Третья Minor GC</vt:lpstr>
      <vt:lpstr>Четвёртая Minor GC + Вторая Major GC</vt:lpstr>
      <vt:lpstr>Презентация PowerPoint</vt:lpstr>
      <vt:lpstr>Пример 1</vt:lpstr>
      <vt:lpstr>Пример 2</vt:lpstr>
      <vt:lpstr>Утечка памяти</vt:lpstr>
      <vt:lpstr>Пример 1</vt:lpstr>
      <vt:lpstr>Презентация PowerPoint</vt:lpstr>
      <vt:lpstr>Исправленный пример</vt:lpstr>
      <vt:lpstr>Презентация PowerPoint</vt:lpstr>
      <vt:lpstr>Пример 2</vt:lpstr>
      <vt:lpstr>Источники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545</cp:revision>
  <dcterms:created xsi:type="dcterms:W3CDTF">2025-12-03T16:59:17Z</dcterms:created>
  <dcterms:modified xsi:type="dcterms:W3CDTF">2025-12-05T12:19:09Z</dcterms:modified>
</cp:coreProperties>
</file>