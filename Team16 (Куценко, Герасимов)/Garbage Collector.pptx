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7.png" ContentType="image/png"/>
  <Override PartName="/ppt/media/image6.jpeg" ContentType="image/jpeg"/>
  <Override PartName="/ppt/media/image4.png" ContentType="image/png"/>
  <Override PartName="/ppt/media/image5.png" ContentType="image/png"/>
  <Override PartName="/ppt/media/image11.png" ContentType="image/png"/>
  <Override PartName="/ppt/media/image8.png" ContentType="image/png"/>
  <Override PartName="/ppt/media/image10.png" ContentType="image/png"/>
  <Override PartName="/ppt/media/image9.png" ContentType="image/png"/>
  <Override PartName="/ppt/media/image12.png" ContentType="image/png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7E7B19-2639-42E1-A872-E0B936E4C014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Для правки структуры щёлкните мышью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FEC357-3D3E-4596-ADC1-B34F00DB3AA7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10BD1A-850E-4F0A-B141-B38EB0153D9D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EECF5B-400C-472C-8EB1-F49F2D9C289B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4F3DB9-3CF9-4C32-9E02-24B1D6C9691C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F2764A-26D5-4402-B834-7CD2D37F4C06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47A4FD-F75E-4748-8225-F02A971394E5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39F88D-CF6B-4D0C-B794-94632EAD29AE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BE676F-E02F-462B-B918-16A49C76E6A7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1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F43D43-EDE6-4BD2-A053-004133FD882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Для правки структуры щёлкните мышью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Второй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Третий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Четвёртый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Пятый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Шестой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Седьмой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b="0" lang="ru-RU" sz="16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&lt;дата/время&gt;</a:t>
            </a:r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CA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en-CA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BD4F3B-DD96-4B1E-9A31-6F74A13EED72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&lt;номер&gt;</a:t>
            </a:fld>
            <a:endParaRPr b="0" lang="en-CA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https://habr.com/ru/companies/otus/articles/553996/" TargetMode="External"/><Relationship Id="rId2" Type="http://schemas.openxmlformats.org/officeDocument/2006/relationships/hyperlink" Target="https://habr.com/ru/companies/otus/articles/776342/" TargetMode="External"/><Relationship Id="rId3" Type="http://schemas.openxmlformats.org/officeDocument/2006/relationships/hyperlink" Target="https://javarush.com/groups/posts/4075-kofe-breyk-210-vse-tipih-sborjshikov-musora-v-java-o-kotorihkh-vih-dolzhnih-znatjh" TargetMode="External"/><Relationship Id="rId4" Type="http://schemas.openxmlformats.org/officeDocument/2006/relationships/hyperlink" Target="https://javarush.com/quests/lectures/questservlets.level18.lecture05" TargetMode="External"/><Relationship Id="rId5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Сборщик мусора</a:t>
            </a:r>
            <a:endParaRPr b="0" lang="ru-RU" sz="6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Куценко Артём, Герасимов Илья</a:t>
            </a:r>
            <a:endParaRPr b="0" lang="en-CA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5030102/30401</a:t>
            </a:r>
            <a:endParaRPr b="0" lang="en-CA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Структура памяти Java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63" name="Объект 3" descr="Изображение выглядит как текст, снимок экрана, Прямоугольник, Шрифт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1753200" y="1516680"/>
            <a:ext cx="8685000" cy="4649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Что такое мусор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Мусор - это объект в памяти программы, который больше не может быть достигнут по ссылке.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66" name="Рисунок 3" descr="Изображение выглядит как текст, снимок экрана, Шрифт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1684080" y="2980440"/>
            <a:ext cx="8844120" cy="310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ptos Display"/>
                <a:ea typeface="Aptos Display"/>
              </a:rPr>
              <a:t>Mark &amp; Sweep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68" name="Объект 6" descr="Mark &amp; Sweep GC"/>
          <p:cNvPicPr/>
          <p:nvPr/>
        </p:nvPicPr>
        <p:blipFill>
          <a:blip r:embed="rId1"/>
          <a:stretch/>
        </p:blipFill>
        <p:spPr>
          <a:xfrm>
            <a:off x="990720" y="1901160"/>
            <a:ext cx="10210320" cy="4200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Поколения объектов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70" name="Объект 3" descr="Поколения в куче"/>
          <p:cNvPicPr/>
          <p:nvPr/>
        </p:nvPicPr>
        <p:blipFill>
          <a:blip r:embed="rId1"/>
          <a:stretch/>
        </p:blipFill>
        <p:spPr>
          <a:xfrm>
            <a:off x="902520" y="1825560"/>
            <a:ext cx="10386720" cy="4350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Гипотезы о поколениях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514440" indent="-5144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Большинство объектов умирают молодыми (98% объектов становятся мусором вскоре после создания).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514440" indent="-5144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Чем дольше объект живет, тем дольше он будет продолжать жить.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Оптимизированная сборка мусора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74" name="Объект 4" descr="Изображение выглядит как текст, снимок экрана, Прямоугольник, прямоугольный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7177680" y="1135800"/>
            <a:ext cx="5013720" cy="561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Box 7"/>
          <p:cNvSpPr/>
          <p:nvPr/>
        </p:nvSpPr>
        <p:spPr>
          <a:xfrm>
            <a:off x="599760" y="1714320"/>
            <a:ext cx="6555600" cy="51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Новые объекты создаются в Eden.</a:t>
            </a:r>
            <a:endParaRPr b="0" lang="en-CA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При заполнении Eden происходит Minor GC.</a:t>
            </a:r>
            <a:endParaRPr b="0" lang="en-CA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Выжившие после Minor GC объекты перемещаются в S0 (S1).</a:t>
            </a:r>
            <a:endParaRPr b="0" lang="en-CA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При очередном Minor GC очищаются Eden и S0, выжившие объекты переходят в S1, и их возраст увеличивается. S0 и S1 каждый раз меняются местами.</a:t>
            </a:r>
            <a:endParaRPr b="0" lang="en-CA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При достижении определённого возраста или заполнении S0/S1 выжившие объекты перемещаются в Old.</a:t>
            </a:r>
            <a:endParaRPr b="0" lang="en-CA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При заполнении Old происходит Major GC.</a:t>
            </a:r>
            <a:endParaRPr b="0" lang="en-CA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CA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Плюсы и минусы поколений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Плюсы: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Minor GC происходит в меньшей части кучи (~ 2/3 от кучи). Этап маркировки эффективен, потому что область небольшая и состоит в основном из мертвых объектов.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Минусы: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В каждый момент времени одно из пространств Survivor (S0 или S1) пустое и не используется.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Основные флаги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9" name="Объект 3"/>
          <p:cNvGraphicFramePr/>
          <p:nvPr/>
        </p:nvGraphicFramePr>
        <p:xfrm>
          <a:off x="844200" y="1482840"/>
          <a:ext cx="10515240" cy="508788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695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Флаг</a:t>
                      </a:r>
                      <a:endParaRPr b="0" lang="en-CA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Описание</a:t>
                      </a:r>
                      <a:endParaRPr b="0" lang="en-CA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95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-Xms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Первоначальный размер кучи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95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-Xmx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Максимальный размер кучи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95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-XX:NewRatio=n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Отношение размера Old Generation к Young Generation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95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-XX:SurvivorRatio=n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Отношение размера Eden к Survivor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695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-XX:MaxTenuringThreshold=n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Возраст объекта, при котором объект перемещается из области Survivor в область Old Generation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695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-Xlog:gc*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Подробное логирование всех событий сборщика мусора (доступно в Java9+)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Пример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" name="Объект 3"/>
          <p:cNvGraphicFramePr/>
          <p:nvPr/>
        </p:nvGraphicFramePr>
        <p:xfrm>
          <a:off x="0" y="0"/>
          <a:ext cx="12179160" cy="6892920"/>
        </p:xfrm>
        <a:graphic>
          <a:graphicData uri="http://schemas.openxmlformats.org/drawingml/2006/table">
            <a:tbl>
              <a:tblPr/>
              <a:tblGrid>
                <a:gridCol w="2298960"/>
                <a:gridCol w="2741760"/>
                <a:gridCol w="2670840"/>
                <a:gridCol w="2233440"/>
                <a:gridCol w="2233440"/>
              </a:tblGrid>
              <a:tr h="588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Сборщик мусора</a:t>
                      </a:r>
                      <a:endParaRPr b="0" lang="en-CA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Преимущества</a:t>
                      </a:r>
                      <a:endParaRPr b="0" lang="en-CA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Недостатки</a:t>
                      </a:r>
                      <a:endParaRPr b="0" lang="en-CA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Применение</a:t>
                      </a:r>
                      <a:endParaRPr b="0" lang="en-CA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Флаг</a:t>
                      </a:r>
                      <a:endParaRPr b="0" lang="en-CA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1638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Serial 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Простота, эффективность для малых приложений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Низкая производительность на многопроцессорных системах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Малые приложения, ограниченные ресурсы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-XX:+UseSerialGC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1225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Parallel 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Высокая пропускная способность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Длинные паузы 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Cерверные приложения, многопроцессорные системы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-XX:+UseParallelGC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9385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CMS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Низкие паузы 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Возможная фрагментация памяти, сложность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Интерактивные приложения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-XX:+UseConcMarkSweepGC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1225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G1 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Баланс между производительностью и задержкой, масштабируемость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Может требовать тонкой настройки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Большие серверные приложения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-XX:+UseG1GC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1225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ZGC/Shenandoah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Минимальные паузы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Новизна, потенциальные ограничения в использовании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Приложения с требованиями к ультранизкой задержке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-XX:+UseZGC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-R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-XX:+UseShenandoahGC</a:t>
                      </a:r>
                      <a:endParaRPr b="0" lang="en-CA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Пример 1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Настроить GC для веб-серверного приложения, где приоритетом является минимизация времени остановки для низкой задержки.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Код: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85" name="Рисунок 5" descr="Изображение выглядит как текст, Шрифт, снимок экрана, типография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2759040" y="3886200"/>
            <a:ext cx="6660720" cy="228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Пример 2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Настроить GC для сервера приложений, обрабатывающего высокие нагрузки и требующего большого объема памяти и высокой пропускной способности.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Код: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88" name="Рисунок 3" descr="Изображение выглядит как текст, Шрифт, снимок экрана, типография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2518200" y="3900960"/>
            <a:ext cx="7546320" cy="2278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Утечка памяти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459720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Причины: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Неправильное управление ресурсами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Статические коллекции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6508800" y="1825560"/>
            <a:ext cx="5428800" cy="188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90000"/>
              </a:lnSpc>
              <a:spcBef>
                <a:spcPts val="1001"/>
              </a:spcBef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Решения:</a:t>
            </a:r>
            <a:endParaRPr b="0" lang="en-CA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Профилирование памяти</a:t>
            </a:r>
            <a:endParaRPr b="0" lang="en-CA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Использование Weak References</a:t>
            </a:r>
            <a:endParaRPr b="0" lang="en-CA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Пример 1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93" name="Объект 6" descr="Изображение выглядит как текст, снимок экрана, дисплей, Шрифт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2057040" y="1500120"/>
            <a:ext cx="8097840" cy="5177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Объект 3" descr="Изображение выглядит как текст, снимок экрана, Шрифт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539280" y="1175040"/>
            <a:ext cx="11122920" cy="396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Исправленный пример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96" name="Объект 3" descr="Изображение выглядит как текст, снимок экрана, Шрифт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1714680" y="1561320"/>
            <a:ext cx="8762760" cy="476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Объект 3" descr="Изображение выглядит как текст, снимок экрана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3541680" y="389880"/>
            <a:ext cx="5121000" cy="607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Пример 2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99" name="Объект 7" descr="Изображение выглядит как текст, снимок экрана, дисплей, Шрифт&#10;&#10;Содержимое, созданное искусственным интеллектом, может быть неверным."/>
          <p:cNvPicPr/>
          <p:nvPr/>
        </p:nvPicPr>
        <p:blipFill>
          <a:blip r:embed="rId1"/>
          <a:stretch/>
        </p:blipFill>
        <p:spPr>
          <a:xfrm>
            <a:off x="1279440" y="1715400"/>
            <a:ext cx="9632520" cy="448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Aptos Display"/>
              </a:rPr>
              <a:t>Источники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sng">
                <a:solidFill>
                  <a:schemeClr val="dk1"/>
                </a:solidFill>
                <a:effectLst/>
                <a:uFillTx/>
                <a:latin typeface="Aptos"/>
                <a:ea typeface="Aptos"/>
                <a:hlinkClick r:id="rId1"/>
              </a:rPr>
              <a:t>https://habr.com/ru/companies/otus/articles/553996/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sng">
                <a:solidFill>
                  <a:schemeClr val="dk1"/>
                </a:solidFill>
                <a:effectLst/>
                <a:uFillTx/>
                <a:latin typeface="Aptos"/>
                <a:ea typeface="Aptos"/>
                <a:hlinkClick r:id="rId2"/>
              </a:rPr>
              <a:t>https://habr.com/ru/companies/otus/articles/776342/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sng">
                <a:solidFill>
                  <a:schemeClr val="dk1"/>
                </a:solidFill>
                <a:effectLst/>
                <a:uFillTx/>
                <a:latin typeface="Aptos"/>
                <a:ea typeface="Aptos"/>
                <a:hlinkClick r:id="rId3"/>
              </a:rPr>
              <a:t>https://javarush.com/groups/posts/4075-kofe-breyk-210-vse-tipih-sborjshikov-musora-v-java-o-kotorihkh-vih-dolzhnih-znatjh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sng">
                <a:solidFill>
                  <a:schemeClr val="dk1"/>
                </a:solidFill>
                <a:effectLst/>
                <a:uFillTx/>
                <a:latin typeface="Aptos"/>
                <a:ea typeface="Aptos"/>
                <a:hlinkClick r:id="rId4"/>
              </a:rPr>
              <a:t>https://javarush.com/quests/lectures/questservlets.level18.lecture05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ru-RU" sz="2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LibreOffice/25.8.3.1$Windows_X86_64 LibreOffice_project/52ad9dd1c984050a9fb6932dbfb16e86a49e9758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2025-12-03T16:59:17Z</dcterms:created>
  <dc:creator/>
  <dc:description/>
  <dc:language>en-CA</dc:language>
  <cp:lastModifiedBy/>
  <dcterms:modified xsi:type="dcterms:W3CDTF">2025-12-05T11:37:03Z</dcterms:modified>
  <cp:revision>466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i4>20</vt:i4>
  </property>
</Properties>
</file>