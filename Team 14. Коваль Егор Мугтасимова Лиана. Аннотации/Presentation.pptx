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57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DB33AE-11CE-413D-96F6-17022DF050BD}" v="39" dt="2025-11-07T10:44:46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Аннотации в </a:t>
            </a:r>
            <a:r>
              <a:rPr lang="af-ZA" b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Java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15809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solidFill>
                  <a:srgbClr val="0F1115"/>
                </a:solidFill>
                <a:ea typeface="+mn-lt"/>
                <a:cs typeface="+mn-lt"/>
              </a:rPr>
              <a:t>Докладчики: Коваль Егор, </a:t>
            </a:r>
            <a:r>
              <a:rPr lang="ru-RU" dirty="0" err="1">
                <a:solidFill>
                  <a:srgbClr val="0F1115"/>
                </a:solidFill>
                <a:ea typeface="+mn-lt"/>
                <a:cs typeface="+mn-lt"/>
              </a:rPr>
              <a:t>Мугтасимова</a:t>
            </a:r>
            <a:r>
              <a:rPr lang="ru-RU" dirty="0">
                <a:solidFill>
                  <a:srgbClr val="0F1115"/>
                </a:solidFill>
                <a:ea typeface="+mn-lt"/>
                <a:cs typeface="+mn-lt"/>
              </a:rPr>
              <a:t> Лиана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465A93-870A-FD3F-25B2-940611A40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0F1115"/>
                </a:solidFill>
                <a:ea typeface="+mj-lt"/>
                <a:cs typeface="+mj-lt"/>
              </a:rPr>
              <a:t>Аннотация — это форма метаданных, которая добавляется в исходный код Java. Она не меняет логику выполнения программы напрямую, но предоставляет информацию о программе для различных инструментов.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BE0AB5-7CEB-3B4C-EFC2-257785C99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Виды аннотаций:</a:t>
            </a:r>
          </a:p>
          <a:p>
            <a:pPr>
              <a:buFont typeface="Arial"/>
              <a:buChar char="•"/>
            </a:pPr>
            <a:r>
              <a:rPr lang="ru-RU" sz="2000" dirty="0">
                <a:solidFill>
                  <a:srgbClr val="0F1115"/>
                </a:solidFill>
                <a:ea typeface="+mn-lt"/>
                <a:cs typeface="+mn-lt"/>
              </a:rPr>
              <a:t>Для компилятора</a:t>
            </a:r>
            <a:endParaRPr lang="ru-RU" sz="2000" dirty="0">
              <a:solidFill>
                <a:srgbClr val="0F1115"/>
              </a:solidFill>
            </a:endParaRPr>
          </a:p>
          <a:p>
            <a:pPr>
              <a:buFont typeface="Arial"/>
              <a:buChar char="•"/>
            </a:pPr>
            <a:r>
              <a:rPr lang="ru-RU" sz="2000" dirty="0">
                <a:solidFill>
                  <a:srgbClr val="0F1115"/>
                </a:solidFill>
                <a:ea typeface="+mn-lt"/>
                <a:cs typeface="+mn-lt"/>
              </a:rPr>
              <a:t>Для времени выполнения</a:t>
            </a:r>
            <a:endParaRPr lang="ru-RU" sz="2000" dirty="0">
              <a:solidFill>
                <a:srgbClr val="0F1115"/>
              </a:solidFill>
            </a:endParaRPr>
          </a:p>
          <a:p>
            <a:pPr>
              <a:buFont typeface="Arial"/>
              <a:buChar char="•"/>
            </a:pPr>
            <a:r>
              <a:rPr lang="ru-RU" sz="2000" dirty="0">
                <a:solidFill>
                  <a:srgbClr val="0F1115"/>
                </a:solidFill>
                <a:ea typeface="+mn-lt"/>
                <a:cs typeface="+mn-lt"/>
              </a:rPr>
              <a:t>Для других инструментов сборки и анализа</a:t>
            </a:r>
            <a:endParaRPr lang="ru-RU" sz="2000" dirty="0">
              <a:solidFill>
                <a:srgbClr val="0F1115"/>
              </a:solidFill>
            </a:endParaRPr>
          </a:p>
          <a:p>
            <a:pPr>
              <a:buFont typeface="Arial"/>
              <a:buChar char="•"/>
            </a:pPr>
            <a:endParaRPr lang="ru-RU" sz="2000" dirty="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ru-RU" sz="2000" b="1" dirty="0">
                <a:solidFill>
                  <a:srgbClr val="0F1115"/>
                </a:solidFill>
                <a:ea typeface="+mn-lt"/>
                <a:cs typeface="+mn-lt"/>
              </a:rPr>
              <a:t>Простая аналогия:</a:t>
            </a:r>
            <a:r>
              <a:rPr lang="ru-RU" sz="2000" dirty="0">
                <a:solidFill>
                  <a:srgbClr val="0F1115"/>
                </a:solidFill>
                <a:ea typeface="+mn-lt"/>
                <a:cs typeface="+mn-lt"/>
              </a:rPr>
              <a:t> Это как стикер-напоминание, который вы клеите на код. Сам по себе стикер ничего не делает, но его читают вы (или ваши инструменты) и действуете соответственно.</a:t>
            </a:r>
            <a:endParaRPr lang="ru-RU" sz="20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3453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346EF1-5675-385A-499A-7F7871E38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094" y="0"/>
            <a:ext cx="4505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2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CD94C-E10B-A82C-C4C2-00063C08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0F1115"/>
                </a:solidFill>
              </a:rPr>
              <a:t>Встроенные аннотации.</a:t>
            </a:r>
            <a:endParaRPr lang="ru-RU" sz="2800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09680E-62C2-91BA-491F-7971D0150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Java предоставляет набор встроенных аннотаций, самые важные из которых находятся в пакете </a:t>
            </a:r>
            <a:r>
              <a:rPr lang="ru-RU" sz="1800" err="1">
                <a:solidFill>
                  <a:srgbClr val="0F1115"/>
                </a:solidFill>
                <a:latin typeface="Consolas"/>
              </a:rPr>
              <a:t>java.lang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.</a:t>
            </a:r>
            <a:endParaRPr lang="ru-RU" sz="1800" dirty="0"/>
          </a:p>
          <a:p>
            <a:r>
              <a:rPr lang="ru-RU" sz="1800" dirty="0">
                <a:solidFill>
                  <a:srgbClr val="0F1115"/>
                </a:solidFill>
                <a:latin typeface="Consolas"/>
              </a:rPr>
              <a:t>@Override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 — Указывает, что метод переопределяет метод родительского класса.</a:t>
            </a:r>
            <a:endParaRPr lang="ru-RU" sz="1800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Практическая польза: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 Компилятор проверяет, действительно ли такой метод существует в суперклассе. Помогает избежать опечаток.</a:t>
            </a:r>
            <a:endParaRPr lang="ru-RU" sz="1800"/>
          </a:p>
          <a:p>
            <a:endParaRPr lang="ru-RU" dirty="0"/>
          </a:p>
        </p:txBody>
      </p:sp>
      <p:pic>
        <p:nvPicPr>
          <p:cNvPr id="7" name="Объект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9BE6019-C4A2-D32F-92F0-70C9331D4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5988" y="847744"/>
            <a:ext cx="6629400" cy="479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39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A8B6F-1BE3-B9D5-E56B-56EC0EF5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52F3E4-819E-67C5-7C89-B2F9C8A3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>
                <a:solidFill>
                  <a:srgbClr val="0F1115"/>
                </a:solidFill>
              </a:rPr>
              <a:t>Встроенные аннотации.</a:t>
            </a:r>
            <a:endParaRPr lang="ru-RU" sz="280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252AF2-DFFA-5B10-43C1-CE19FFA92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20288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sz="1800" dirty="0">
                <a:solidFill>
                  <a:srgbClr val="0F1115"/>
                </a:solidFill>
                <a:latin typeface="Consolas"/>
              </a:rPr>
              <a:t>@Deprecated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 — Пометка устаревшего кода, который не рекомендуется использовать.</a:t>
            </a:r>
            <a:endParaRPr lang="ru-RU" sz="1800">
              <a:ea typeface="+mn-lt"/>
              <a:cs typeface="+mn-lt"/>
            </a:endParaRPr>
          </a:p>
          <a:p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Практическая польза: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 При использовании такого метода/класса компилятор и IDE покажут предупреждение.</a:t>
            </a:r>
            <a:endParaRPr lang="ru-RU" sz="1800" dirty="0">
              <a:ea typeface="+mn-lt"/>
              <a:cs typeface="+mn-lt"/>
            </a:endParaRPr>
          </a:p>
          <a:p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Атрибуты </a:t>
            </a:r>
            <a:r>
              <a:rPr lang="ru-RU" sz="1800" dirty="0" err="1">
                <a:solidFill>
                  <a:srgbClr val="0F1115"/>
                </a:solidFill>
                <a:ea typeface="+mn-lt"/>
                <a:cs typeface="+mn-lt"/>
              </a:rPr>
              <a:t>since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 и </a:t>
            </a:r>
            <a:r>
              <a:rPr lang="ru-RU" sz="1800" dirty="0" err="1">
                <a:solidFill>
                  <a:srgbClr val="0F1115"/>
                </a:solidFill>
                <a:ea typeface="+mn-lt"/>
                <a:cs typeface="+mn-lt"/>
              </a:rPr>
              <a:t>forRemoval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: Аннотация может содержать атрибуты </a:t>
            </a:r>
            <a:r>
              <a:rPr lang="ru-RU" sz="1800" dirty="0" err="1">
                <a:solidFill>
                  <a:srgbClr val="0F1115"/>
                </a:solidFill>
                <a:ea typeface="+mn-lt"/>
                <a:cs typeface="+mn-lt"/>
              </a:rPr>
              <a:t>since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 (указывающие на версию, в которой элемент был признан устаревшим) и </a:t>
            </a:r>
            <a:r>
              <a:rPr lang="ru-RU" sz="1800" dirty="0" err="1">
                <a:solidFill>
                  <a:srgbClr val="0F1115"/>
                </a:solidFill>
                <a:ea typeface="+mn-lt"/>
                <a:cs typeface="+mn-lt"/>
              </a:rPr>
              <a:t>forRemoval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 (логическое значение, указывающее, предназначен ли элемент для удаления в будущей версии).</a:t>
            </a:r>
            <a:endParaRPr lang="ru-RU" dirty="0">
              <a:ea typeface="+mn-lt"/>
              <a:cs typeface="+mn-lt"/>
            </a:endParaRPr>
          </a:p>
          <a:p>
            <a:endParaRPr lang="ru-RU" sz="1800" dirty="0">
              <a:solidFill>
                <a:srgbClr val="0F1115"/>
              </a:solidFill>
            </a:endParaRPr>
          </a:p>
          <a:p>
            <a:endParaRPr lang="ru-RU" dirty="0"/>
          </a:p>
        </p:txBody>
      </p:sp>
      <p:pic>
        <p:nvPicPr>
          <p:cNvPr id="6" name="Объект 5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435410-E275-7ECC-7266-AA294ADD32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518423"/>
            <a:ext cx="6172200" cy="381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99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7495-7579-5E50-1D77-E04BBD35A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7548A-D63E-0FD2-EF10-6091B934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>
                <a:solidFill>
                  <a:srgbClr val="0F1115"/>
                </a:solidFill>
              </a:rPr>
              <a:t>Встроенные аннотации.</a:t>
            </a:r>
            <a:endParaRPr lang="ru-RU" sz="280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3E2550-4C3E-336B-74E8-1D8CBE682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 dirty="0">
                <a:solidFill>
                  <a:srgbClr val="0F1115"/>
                </a:solidFill>
                <a:latin typeface="Consolas"/>
              </a:rPr>
              <a:t>@SuppressWarnings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 — Подавляет предупреждения компилятора в указанном элементе.</a:t>
            </a:r>
            <a:endParaRPr lang="ru-RU" sz="1800" dirty="0">
              <a:ea typeface="+mn-lt"/>
              <a:cs typeface="+mn-lt"/>
            </a:endParaRPr>
          </a:p>
          <a:p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Практическая польза: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 Используется, когда вы уверены в своей логике и хотите убрать "шум" от компилятора</a:t>
            </a:r>
            <a:endParaRPr lang="ru-RU" sz="1800" dirty="0"/>
          </a:p>
          <a:p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Аннотация принимает в качестве параметра массив строк, где каждая строка представляет определенный тип предупреждения, подлежащего подавлению.</a:t>
            </a:r>
            <a:endParaRPr lang="ru-RU" dirty="0"/>
          </a:p>
          <a:p>
            <a:endParaRPr lang="ru-RU" sz="1800" dirty="0">
              <a:solidFill>
                <a:srgbClr val="0F1115"/>
              </a:solidFill>
            </a:endParaRPr>
          </a:p>
          <a:p>
            <a:endParaRPr lang="ru-RU" dirty="0"/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AEDDB9-72ED-4FDC-1E1D-E21E1A9C2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2168664"/>
            <a:ext cx="6172200" cy="251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24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587E3-48C7-4071-0C4F-96ABF7B9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E7C34-0F07-2C6A-5AFE-A741AC82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ru-RU" sz="2400" b="1" dirty="0">
                <a:solidFill>
                  <a:srgbClr val="0F1115"/>
                </a:solidFill>
              </a:rPr>
              <a:t>Аннотации для управления жизненным циклом (Spring, JPA)</a:t>
            </a:r>
            <a:endParaRPr lang="ru-RU" sz="2400" dirty="0"/>
          </a:p>
          <a:p>
            <a:endParaRPr lang="ru-RU" sz="2800" b="1" dirty="0">
              <a:solidFill>
                <a:srgbClr val="0F111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D4F931-608B-72C2-011D-BA8C86B0A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Аннотации широко используются в фреймворках для конфигурации приложений "на лету". Это основа таких технологий, как Spring и </a:t>
            </a:r>
            <a:r>
              <a:rPr lang="ru-RU" sz="1800" err="1">
                <a:solidFill>
                  <a:srgbClr val="0F1115"/>
                </a:solidFill>
                <a:ea typeface="+mn-lt"/>
                <a:cs typeface="+mn-lt"/>
              </a:rPr>
              <a:t>Jakarta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ru-RU" sz="1800" err="1">
                <a:solidFill>
                  <a:srgbClr val="0F1115"/>
                </a:solidFill>
                <a:ea typeface="+mn-lt"/>
                <a:cs typeface="+mn-lt"/>
              </a:rPr>
              <a:t>Persistence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 (JPA).</a:t>
            </a:r>
            <a:endParaRPr lang="ru-RU" sz="1800" dirty="0"/>
          </a:p>
          <a:p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Spring Framework: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 Управление зависимостями и </a:t>
            </a:r>
            <a:r>
              <a:rPr lang="ru-RU" sz="1800" err="1">
                <a:solidFill>
                  <a:srgbClr val="0F1115"/>
                </a:solidFill>
                <a:ea typeface="+mn-lt"/>
                <a:cs typeface="+mn-lt"/>
              </a:rPr>
              <a:t>бинами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.</a:t>
            </a:r>
            <a:endParaRPr lang="ru-RU" sz="1800" dirty="0">
              <a:ea typeface="+mn-lt"/>
              <a:cs typeface="+mn-lt"/>
            </a:endParaRPr>
          </a:p>
          <a:p>
            <a:endParaRPr lang="ru-RU" sz="1800" dirty="0">
              <a:solidFill>
                <a:srgbClr val="0F1115"/>
              </a:solidFill>
            </a:endParaRPr>
          </a:p>
          <a:p>
            <a:endParaRPr lang="ru-RU" sz="1800" dirty="0">
              <a:solidFill>
                <a:srgbClr val="0F1115"/>
              </a:solidFill>
            </a:endParaRPr>
          </a:p>
          <a:p>
            <a:endParaRPr lang="ru-RU" dirty="0"/>
          </a:p>
        </p:txBody>
      </p:sp>
      <p:pic>
        <p:nvPicPr>
          <p:cNvPr id="7" name="Объект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E70708-A0CE-1743-B79A-E4F7A3C4B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1695" y="987425"/>
            <a:ext cx="4715185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41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9BFF5-BF80-CA37-E1D3-DD3C2C2BE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1967BC-159F-22D6-4902-21A8D68C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ru-RU" sz="2400" b="1" dirty="0">
                <a:solidFill>
                  <a:srgbClr val="0F1115"/>
                </a:solidFill>
              </a:rPr>
              <a:t>Аннотации для управления жизненным циклом (Spring, JPA)</a:t>
            </a:r>
            <a:endParaRPr lang="ru-RU" sz="2400" dirty="0"/>
          </a:p>
          <a:p>
            <a:endParaRPr lang="ru-RU" sz="2800" b="1" dirty="0">
              <a:solidFill>
                <a:srgbClr val="0F111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37ED73-AC0B-16E2-73FE-7207E4B00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JPA (</a:t>
            </a:r>
            <a:r>
              <a:rPr lang="ru-RU" sz="1800" b="1" err="1">
                <a:solidFill>
                  <a:srgbClr val="0F1115"/>
                </a:solidFill>
                <a:ea typeface="+mn-lt"/>
                <a:cs typeface="+mn-lt"/>
              </a:rPr>
              <a:t>Hibernate</a:t>
            </a:r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):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 Отображение объектов на таблицы БД.</a:t>
            </a:r>
            <a:endParaRPr lang="ru-RU" sz="1800" dirty="0">
              <a:ea typeface="+mn-lt"/>
              <a:cs typeface="+mn-lt"/>
            </a:endParaRPr>
          </a:p>
          <a:p>
            <a:endParaRPr lang="ru-RU" sz="1800" dirty="0">
              <a:solidFill>
                <a:srgbClr val="0F1115"/>
              </a:solidFill>
            </a:endParaRPr>
          </a:p>
          <a:p>
            <a:endParaRPr lang="ru-RU" sz="1800" dirty="0">
              <a:solidFill>
                <a:srgbClr val="0F1115"/>
              </a:solidFill>
            </a:endParaRPr>
          </a:p>
          <a:p>
            <a:endParaRPr lang="ru-RU" dirty="0"/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9E57A8-A885-8166-B5D0-5B799F27E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4569" y="987425"/>
            <a:ext cx="5249437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99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76C28-DAE5-5CA3-B411-80B05F3AF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43E1E7-CA05-39FE-7E22-14885251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ru-RU" sz="2400" b="1" dirty="0">
                <a:solidFill>
                  <a:srgbClr val="0F1115"/>
                </a:solidFill>
              </a:rPr>
              <a:t>Создание собственной аннотации</a:t>
            </a:r>
            <a:endParaRPr lang="ru-RU" sz="2400" dirty="0"/>
          </a:p>
          <a:p>
            <a:endParaRPr lang="ru-RU" sz="2400" b="1" dirty="0">
              <a:solidFill>
                <a:srgbClr val="0F1115"/>
              </a:solidFill>
            </a:endParaRPr>
          </a:p>
          <a:p>
            <a:endParaRPr lang="ru-RU" sz="2800" b="1" dirty="0">
              <a:solidFill>
                <a:srgbClr val="0F111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9F892A-13AB-1329-9E83-06AA9F6CB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Шаг 1: Объявление аннотации</a:t>
            </a:r>
            <a:br>
              <a:rPr lang="ru-RU" sz="1800" b="1" dirty="0">
                <a:ea typeface="+mn-lt"/>
                <a:cs typeface="+mn-lt"/>
              </a:rPr>
            </a:br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Ключевое слово </a:t>
            </a:r>
            <a:r>
              <a:rPr lang="ru-RU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@interface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. Указываем, где (</a:t>
            </a:r>
            <a:r>
              <a:rPr lang="ru-RU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@Target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) и когда (</a:t>
            </a:r>
            <a:r>
              <a:rPr lang="ru-RU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@Retention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) будет работать наша аннотация.</a:t>
            </a:r>
            <a:endParaRPr lang="ru-RU" sz="1800" dirty="0">
              <a:ea typeface="+mn-lt"/>
              <a:cs typeface="+mn-lt"/>
            </a:endParaRPr>
          </a:p>
          <a:p>
            <a:endParaRPr lang="ru-RU" sz="1800" dirty="0">
              <a:solidFill>
                <a:srgbClr val="0F1115"/>
              </a:solidFill>
            </a:endParaRPr>
          </a:p>
          <a:p>
            <a:endParaRPr lang="ru-RU" sz="1800" dirty="0">
              <a:solidFill>
                <a:srgbClr val="0F1115"/>
              </a:solidFill>
            </a:endParaRPr>
          </a:p>
          <a:p>
            <a:endParaRPr lang="ru-RU" dirty="0"/>
          </a:p>
        </p:txBody>
      </p:sp>
      <p:pic>
        <p:nvPicPr>
          <p:cNvPr id="7" name="Объект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473DC1-BEBC-28C7-1981-4FB3E324A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2470201"/>
            <a:ext cx="6851821" cy="211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B6162-E416-F48C-D7FB-7A922C460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025FF1-3DA0-1952-FC2A-102BE9F3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ru-RU" sz="2400" b="1">
                <a:solidFill>
                  <a:srgbClr val="0F1115"/>
                </a:solidFill>
              </a:rPr>
              <a:t>Создание собственной аннотации</a:t>
            </a:r>
            <a:endParaRPr lang="ru-RU" sz="2400"/>
          </a:p>
          <a:p>
            <a:endParaRPr lang="ru-RU" sz="2400" b="1" dirty="0">
              <a:solidFill>
                <a:srgbClr val="0F1115"/>
              </a:solidFill>
            </a:endParaRPr>
          </a:p>
          <a:p>
            <a:endParaRPr lang="ru-RU" sz="2800" b="1" dirty="0">
              <a:solidFill>
                <a:srgbClr val="0F111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1E3AFB-2FF9-1BC0-81B8-20AAF1348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Шаг 2: Обработка аннотации </a:t>
            </a:r>
            <a:br>
              <a:rPr lang="ru-RU" sz="1800" b="1" dirty="0">
                <a:ea typeface="+mn-lt"/>
                <a:cs typeface="+mn-lt"/>
              </a:rPr>
            </a:br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Без обработчика аннотация — просто метка. Обработка происходит через </a:t>
            </a:r>
            <a:r>
              <a:rPr lang="ru-RU" sz="1800" b="1" dirty="0" err="1">
                <a:solidFill>
                  <a:srgbClr val="0F1115"/>
                </a:solidFill>
                <a:ea typeface="+mn-lt"/>
                <a:cs typeface="+mn-lt"/>
              </a:rPr>
              <a:t>Reflection</a:t>
            </a:r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 API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.</a:t>
            </a:r>
            <a:endParaRPr lang="ru-RU" sz="1800" dirty="0"/>
          </a:p>
          <a:p>
            <a:endParaRPr lang="ru-RU" sz="1800" dirty="0">
              <a:solidFill>
                <a:srgbClr val="0F1115"/>
              </a:solidFill>
            </a:endParaRPr>
          </a:p>
          <a:p>
            <a:endParaRPr lang="ru-RU" sz="1800" dirty="0">
              <a:solidFill>
                <a:srgbClr val="0F1115"/>
              </a:solidFill>
            </a:endParaRPr>
          </a:p>
          <a:p>
            <a:endParaRPr lang="ru-RU" dirty="0"/>
          </a:p>
        </p:txBody>
      </p:sp>
      <p:pic>
        <p:nvPicPr>
          <p:cNvPr id="10" name="Объект 9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3C633DD-1440-D436-F0F1-1FE78CFAD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075873"/>
            <a:ext cx="6172200" cy="46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825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EBE9-32B0-7032-591D-B9580F4D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E92C4-DD8A-A44D-539F-BE94354EF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ru-RU" sz="2400" b="1">
                <a:solidFill>
                  <a:srgbClr val="0F1115"/>
                </a:solidFill>
              </a:rPr>
              <a:t>Создание собственной аннотации</a:t>
            </a:r>
            <a:endParaRPr lang="ru-RU" sz="2400"/>
          </a:p>
          <a:p>
            <a:endParaRPr lang="ru-RU" sz="2400" b="1" dirty="0">
              <a:solidFill>
                <a:srgbClr val="0F1115"/>
              </a:solidFill>
            </a:endParaRPr>
          </a:p>
          <a:p>
            <a:endParaRPr lang="ru-RU" sz="2800" b="1" dirty="0">
              <a:solidFill>
                <a:srgbClr val="0F111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EE5C6E-F3EA-2363-746C-63E259367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b="1" dirty="0">
                <a:solidFill>
                  <a:srgbClr val="0F1115"/>
                </a:solidFill>
                <a:ea typeface="+mn-lt"/>
                <a:cs typeface="+mn-lt"/>
              </a:rPr>
              <a:t>Шаг 3: Использование аннотации</a:t>
            </a:r>
            <a:endParaRPr lang="ru-RU" sz="2000" dirty="0">
              <a:ea typeface="+mn-lt"/>
              <a:cs typeface="+mn-lt"/>
            </a:endParaRPr>
          </a:p>
          <a:p>
            <a:endParaRPr lang="ru-RU" sz="1800" dirty="0">
              <a:solidFill>
                <a:srgbClr val="0F1115"/>
              </a:solidFill>
            </a:endParaRPr>
          </a:p>
          <a:p>
            <a:endParaRPr lang="ru-RU" sz="1800" dirty="0">
              <a:solidFill>
                <a:srgbClr val="0F1115"/>
              </a:solidFill>
            </a:endParaRPr>
          </a:p>
          <a:p>
            <a:endParaRPr lang="ru-RU" dirty="0"/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F69426-AE11-775B-E408-245561831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633770"/>
            <a:ext cx="6172200" cy="35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08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764F4F-FA31-F055-B94D-5A0F5D996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b="1" dirty="0">
                <a:solidFill>
                  <a:srgbClr val="0F1115"/>
                </a:solidFill>
              </a:rPr>
              <a:t>Итоги: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566D05-28AF-1B8A-3DCB-BAA93600A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Аннотации — это мост между кодом и метаданными</a:t>
            </a:r>
            <a:endParaRPr lang="ru-RU" sz="1800" dirty="0"/>
          </a:p>
          <a:p>
            <a:pPr>
              <a:buFont typeface="Arial"/>
              <a:buChar char="•"/>
            </a:pPr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Упрощают конфигурацию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 — Позволяют описывать поведение прямо в коде, делая его более читаемым и понятным</a:t>
            </a:r>
            <a:endParaRPr lang="ru-RU" sz="1800" dirty="0"/>
          </a:p>
          <a:p>
            <a:pPr>
              <a:buFont typeface="Arial"/>
              <a:buChar char="•"/>
            </a:pPr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Автоматизируют рутину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 — Избавляют от шаблонного кода, делегируя работу компилятору и фреймворкам</a:t>
            </a:r>
            <a:endParaRPr lang="ru-RU" sz="1800" dirty="0"/>
          </a:p>
          <a:p>
            <a:pPr>
              <a:buFont typeface="Arial"/>
              <a:buChar char="•"/>
            </a:pPr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Делают код безопаснее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 — Помогают избежать ошибок на этапе компиляции (</a:t>
            </a:r>
            <a:r>
              <a:rPr lang="ru-RU" sz="1800" dirty="0">
                <a:solidFill>
                  <a:srgbClr val="0F1115"/>
                </a:solidFill>
                <a:latin typeface="Consolas"/>
              </a:rPr>
              <a:t>@Override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rgbClr val="0F1115"/>
                </a:solidFill>
                <a:latin typeface="Consolas"/>
              </a:rPr>
              <a:t>@Deprecated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)</a:t>
            </a:r>
            <a:endParaRPr lang="ru-RU" sz="1800" dirty="0"/>
          </a:p>
          <a:p>
            <a:pPr>
              <a:buFont typeface="Arial"/>
              <a:buChar char="•"/>
            </a:pPr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Аннотации сами по себе не выполняют код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 — они лишь предоставляют информацию</a:t>
            </a:r>
            <a:endParaRPr lang="ru-RU" sz="1800" dirty="0"/>
          </a:p>
          <a:p>
            <a:pPr>
              <a:buFont typeface="Arial"/>
              <a:buChar char="•"/>
            </a:pPr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Реальную работу делают обработчики аннотаций</a:t>
            </a:r>
            <a:r>
              <a:rPr lang="ru-RU" sz="1800" dirty="0">
                <a:solidFill>
                  <a:srgbClr val="0F1115"/>
                </a:solidFill>
                <a:ea typeface="+mn-lt"/>
                <a:cs typeface="+mn-lt"/>
              </a:rPr>
              <a:t> (компилятор, фреймворки)</a:t>
            </a:r>
            <a:endParaRPr lang="ru-RU" sz="1800" dirty="0">
              <a:solidFill>
                <a:srgbClr val="0F1115"/>
              </a:solidFill>
            </a:endParaRPr>
          </a:p>
          <a:p>
            <a:pPr>
              <a:buFont typeface="Arial"/>
              <a:buChar char="•"/>
            </a:pPr>
            <a:r>
              <a:rPr lang="ru-RU" sz="1800" b="1" dirty="0">
                <a:solidFill>
                  <a:srgbClr val="0F1115"/>
                </a:solidFill>
                <a:ea typeface="+mn-lt"/>
                <a:cs typeface="+mn-lt"/>
              </a:rPr>
              <a:t>Правильное использование аннотаций делает код чище и профессиональнее</a:t>
            </a:r>
            <a:endParaRPr lang="ru-RU" sz="1800" b="1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31812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Аннотации в Java</vt:lpstr>
      <vt:lpstr>Аннотация — это форма метаданных, которая добавляется в исходный код Java. Она не меняет логику выполнения программы напрямую, но предоставляет информацию о программе для различных инструментов.</vt:lpstr>
      <vt:lpstr>Презентация PowerPoint</vt:lpstr>
      <vt:lpstr>Встроенные аннотации. </vt:lpstr>
      <vt:lpstr>Встроенные аннотации. </vt:lpstr>
      <vt:lpstr>Встроенные аннотации. </vt:lpstr>
      <vt:lpstr>Аннотации для управления жизненным циклом (Spring, JPA) </vt:lpstr>
      <vt:lpstr>Аннотации для управления жизненным циклом (Spring, JPA) </vt:lpstr>
      <vt:lpstr>Создание собственной аннотации  </vt:lpstr>
      <vt:lpstr>Создание собственной аннотации  </vt:lpstr>
      <vt:lpstr>Создание собственной аннотации  </vt:lpstr>
      <vt:lpstr>Итоги: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164</cp:revision>
  <dcterms:created xsi:type="dcterms:W3CDTF">2025-10-31T09:36:07Z</dcterms:created>
  <dcterms:modified xsi:type="dcterms:W3CDTF">2025-11-07T10:44:57Z</dcterms:modified>
</cp:coreProperties>
</file>