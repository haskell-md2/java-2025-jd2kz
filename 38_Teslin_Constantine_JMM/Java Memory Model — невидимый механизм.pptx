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6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251CE-35CF-115A-A81F-0429D57F5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B842227-CCE9-E321-7056-C7C4CC32E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6FE57B-33D3-B339-E6A2-EC1428101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BD3A6-C32E-4672-83EC-C890C73FE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615FF2-6BF6-6329-54C1-B67D34D6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21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EB43D-2002-4806-36EF-0C9E851C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FAA04-CA9A-8AEB-7F13-19C74BC63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E4F028-1C42-A7D0-72E4-BB64E53D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42CA0F-9765-9A75-68F6-671FFF24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E970B2-3174-8EF5-E488-A887D82E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97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90F6FB-7247-016C-6ED8-43B845B8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E175C9-3B2D-2C02-46EA-2A5500952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0A297C-28BB-5CFA-F27B-85457FD32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F5F133-A5AA-FDAC-49CD-79342749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A21ADD-A488-87FA-540D-244DB64C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253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94B9D-0E52-537A-FC8B-A9F154F7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0870B2-B1C3-B2C3-FD3F-F2EA18E56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9FAA37-6325-4838-2C65-7383A14FC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F6999B-379C-E31A-1CD2-3F169A63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299E30-E75D-A35C-9F30-24D4BADA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A04269-221E-DE07-D56F-580E2C57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59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7F7A6-2134-2E53-2D7C-0156CD789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1BC2CB-34B2-83F1-3272-B08185D5B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CAEF02-66EB-E0E8-E2AF-1362B865E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57ADDC-8498-BE75-DD40-D5BCD2C95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85ADBC2-E2DF-D725-0232-D04A4D826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62F9B8E-A414-E4E3-7E55-F9CF7599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EFF705-701F-2A46-58A3-551BED8F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7280888-0AB5-40CD-982E-E1F40762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73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2D5F2-4D49-FF29-F730-8404893F0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F46D27-FFA6-7300-13F8-99F49E63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B2AE9FD-48E1-7D23-C6CB-AD241ABD2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D4DFCBB-1D0A-779B-CABD-4F27E58E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5973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9D94381-95DB-9199-45CB-C4C9EDC6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EE1A882-A22B-8956-1813-08B4F0FC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F919CD-4168-F7FD-B8DE-2DBC0770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329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56E99-5EDF-081B-2253-AA7463BA2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F86463-3C43-A421-EEFB-03FEC23F8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82E8F4-AC8F-B384-C99D-EF1FF0BCC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6FA3C1-FC46-03D9-6C76-E319D17A7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0C2972-910F-62CF-7FE8-D5235069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654FD9-83B6-FA61-702B-CB151695B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31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99FC73-5D56-9AF7-3A81-640A981B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D17CD5-4DA3-9AA1-9A9B-0DA5D18DA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39542A-BDC3-4B28-6B89-8707702B5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3DD402-DF3F-7D71-23D6-46B078986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498D70-3664-9419-1425-BEB89B040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EAE656-7B83-79A5-897F-66663785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47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186B2-B232-99CB-4F63-B65B190A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93BE70-4089-14B0-817C-C2A416DAF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154E9B-2858-3AA1-30EA-B6FD6B62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C82948-2B80-A876-B7DD-26608A8A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E3998D-CE52-BBC8-DBEF-31404B7E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65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14C0F7-4061-6E76-CCEF-44B7719C4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7BF1D6-DA97-A1EF-53A9-54245AD70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C499BE-CB3C-E87E-307F-F9D14EDE6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D6C87E-85E8-450B-90E0-798E355A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135D2E-9FBD-77ED-B9CD-70A6159C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58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11E1E-EAA6-B523-DDD2-944D9D91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5E8D22-EED1-AD3F-F042-9595443D0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82920C-EE22-0E3B-9B6D-8406B4AE8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F5C19-ABEE-4AB7-9B05-D11C250EED48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F50064-CC21-3D5E-CCF5-F592114C9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B35534-F63F-465D-DBA2-CEBAD2FC2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542A9-9289-4567-912C-D584AA043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4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98760-2120-1F59-E0FB-77C327D38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3139" y="2835679"/>
            <a:ext cx="8965722" cy="118664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560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Java</a:t>
            </a:r>
            <a:r>
              <a:rPr lang="en-US" sz="36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Memory Model</a:t>
            </a:r>
            <a:r>
              <a:rPr lang="ru-RU" sz="36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 </a:t>
            </a:r>
            <a:r>
              <a:rPr lang="ru-RU" sz="3600" dirty="0">
                <a:solidFill>
                  <a:schemeClr val="bg1"/>
                </a:solidFill>
                <a:effectLst/>
                <a:latin typeface="Candara Light" panose="020E0502030303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невидимый механизм, управляющий потоками</a:t>
            </a:r>
            <a:endParaRPr lang="ru-RU" sz="9600" dirty="0">
              <a:solidFill>
                <a:schemeClr val="bg1"/>
              </a:solidFill>
              <a:latin typeface="Candara Light" panose="020E0502030303020204" pitchFamily="34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603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DB451-6E05-68B0-EE8B-00F4E5E8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838" y="534839"/>
            <a:ext cx="5484962" cy="873114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Что такое </a:t>
            </a:r>
            <a:r>
              <a:rPr lang="en-US" sz="28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Java Memory Model</a:t>
            </a:r>
            <a:r>
              <a:rPr lang="ru-RU" sz="28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?</a:t>
            </a:r>
            <a:endParaRPr lang="ru-RU" sz="6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713141-D50E-1949-0AC0-3177D1A25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0326" y="2861813"/>
            <a:ext cx="7831347" cy="1134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560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JMM</a:t>
            </a:r>
            <a:r>
              <a:rPr lang="ru-RU" sz="2000" dirty="0">
                <a:solidFill>
                  <a:schemeClr val="bg1"/>
                </a:solidFill>
                <a:effectLst/>
                <a:latin typeface="Candara Light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набор правил, определяющих, как потоки обмениваются данными через память. Обеспечивает видимость изменений, порядок операций и последовательность исполнения.</a:t>
            </a:r>
            <a:endParaRPr lang="ru-RU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</p:txBody>
      </p:sp>
      <p:pic>
        <p:nvPicPr>
          <p:cNvPr id="5" name="Рисунок 4" descr="Изображение выглядит как текст, электроника, снимок экрана, Устройство отображения&#10;&#10;AI-generated content may be incorrect.">
            <a:extLst>
              <a:ext uri="{FF2B5EF4-FFF2-40B4-BE49-F238E27FC236}">
                <a16:creationId xmlns:a16="http://schemas.microsoft.com/office/drawing/2014/main" id="{95EB70BF-6207-75E7-700F-9312FAD61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026" y="1580460"/>
            <a:ext cx="2350574" cy="4176669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397563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7FFE1C-8039-DFAE-A953-3605BEA3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184" y="486830"/>
            <a:ext cx="5024120" cy="107759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Проблема многопоточности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67029A-698B-F744-7932-CB2DE655D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7531" y="2890202"/>
            <a:ext cx="7125306" cy="10775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</a:rPr>
              <a:t>Потоки могут кешировать значения,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оптимизации компилятора </a:t>
            </a: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</a:rPr>
              <a:t>или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процессора</a:t>
            </a: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</a:rPr>
              <a:t> изменяют порядок, один поток видит старые данные.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543BB00-ABDB-3178-54DA-62F34F4FE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105" y="1420955"/>
            <a:ext cx="6492803" cy="4016088"/>
          </a:xfrm>
          <a:prstGeom prst="rect">
            <a:avLst/>
          </a:prstGeom>
          <a:ln>
            <a:noFill/>
          </a:ln>
          <a:effectLst>
            <a:outerShdw blurRad="330200" dist="228600" dir="13500000" sx="109000" sy="109000" algn="tl" rotWithShape="0">
              <a:schemeClr val="tx1">
                <a:alpha val="44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30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0CA17-34F8-6195-9CFA-3932E90C0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8955" y="541771"/>
            <a:ext cx="4824845" cy="861002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Как 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JMM </a:t>
            </a:r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решает проблему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8F8EF-CB11-4DAB-5552-03CA83E24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9237" y="2855912"/>
            <a:ext cx="8804563" cy="1146175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JMM вводит понятие “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happens-before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”. Если действие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"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happens-before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" действия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, то результаты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будут видны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B.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Гарантирует видимость изменений и упорядоченность операций.</a:t>
            </a:r>
          </a:p>
        </p:txBody>
      </p:sp>
    </p:spTree>
    <p:extLst>
      <p:ext uri="{BB962C8B-B14F-4D97-AF65-F5344CB8AC3E}">
        <p14:creationId xmlns:p14="http://schemas.microsoft.com/office/powerpoint/2010/main" val="1491817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A8F2A1-831F-ED0A-87D8-0755586A9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636" y="770371"/>
            <a:ext cx="5604164" cy="684357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Средства синхронизации в 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Java</a:t>
            </a:r>
            <a:endParaRPr lang="ru-RU" sz="2800" b="1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C0E1BC-BDA1-487F-8DA4-113EB74CD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1064" y="2627312"/>
            <a:ext cx="7692736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1.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synchronized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— блокирует доступ к коду, публикует изменения 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2.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volatile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— переменная всегда читается/пишется из общей памяти 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3.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final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— защищает значения после инициализации 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4.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Atomic классы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— атомарные операции.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CDBA72-6B81-E6CB-233E-7B757E6D6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064" y="4557319"/>
            <a:ext cx="7013349" cy="649657"/>
          </a:xfrm>
          <a:prstGeom prst="rect">
            <a:avLst/>
          </a:prstGeom>
          <a:effectLst>
            <a:outerShdw blurRad="457200" sx="102000" sy="102000" algn="ctr" rotWithShape="0">
              <a:srgbClr val="000000">
                <a:alpha val="8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8282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CDDF5-73A8-DBE7-A7B7-1AA4A974C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4" y="538797"/>
            <a:ext cx="5998556" cy="798657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Пример правильной работы с JMM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0F172E-3D83-ED47-F95E-238CCCD8F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983" y="1479694"/>
            <a:ext cx="6418177" cy="4144265"/>
          </a:xfrm>
          <a:prstGeom prst="rect">
            <a:avLst/>
          </a:prstGeom>
          <a:effectLst>
            <a:outerShdw blurRad="457200" sx="105000" sy="105000" algn="ctr" rotWithShape="0">
              <a:srgbClr val="000000">
                <a:alpha val="6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1182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8ECD66-2714-B26E-D74E-17327D6B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473" y="681037"/>
            <a:ext cx="4367645" cy="653184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Правила 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Happens-Before</a:t>
            </a:r>
            <a:endParaRPr lang="ru-RU" sz="2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664852-A3C3-D6AA-0208-FDB6C9773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7426" y="2554576"/>
            <a:ext cx="7079673" cy="199823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Внутри одного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потока</a:t>
            </a: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порядок действий сохраняется. </a:t>
            </a:r>
          </a:p>
          <a:p>
            <a:pPr marL="514350" indent="-514350"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Выход из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synchronized</a:t>
            </a: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блока публикует изменения.</a:t>
            </a:r>
          </a:p>
          <a:p>
            <a:pPr marL="514350" indent="-514350"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Запись в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volatile</a:t>
            </a: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переменную видна всем потокам.</a:t>
            </a:r>
          </a:p>
          <a:p>
            <a:pPr marL="514350" indent="-514350"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Завершение конструктора делает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final</a:t>
            </a: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поля видимыми.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5D485D-7A5D-DD43-0F26-247E0D8B4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041" y="1334221"/>
            <a:ext cx="2191056" cy="96215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06C7BD-D8EE-1C81-6641-553E40966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908" y="1317251"/>
            <a:ext cx="4344006" cy="20957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12EDA6-6A4C-5F9C-0046-46612C788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883" y="2797960"/>
            <a:ext cx="3972479" cy="32198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C263F40-6700-C39B-49CD-D9EEBF3C73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908" y="3871291"/>
            <a:ext cx="4248743" cy="152421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4093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3D0CA-7C27-2351-615A-4C588F06F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7518" y="676853"/>
            <a:ext cx="5926282" cy="694748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Последствия игнорирования 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JMM</a:t>
            </a:r>
            <a:endParaRPr lang="ru-RU" sz="2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0B12E2-0B44-BD0F-1BD7-71D8AADB7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36240" y="2694672"/>
            <a:ext cx="822959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dara Light" panose="020E0502030303020204" pitchFamily="34" charset="0"/>
              </a:rPr>
              <a:t>Непредсказуемое поведение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560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программы</a:t>
            </a:r>
            <a:endParaRPr lang="en-US" altLang="ru-RU" sz="2000" b="1" dirty="0">
              <a:solidFill>
                <a:srgbClr val="FF560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560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Потеря данных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dara Light" panose="020E0502030303020204" pitchFamily="34" charset="0"/>
              </a:rPr>
              <a:t>и нарушение логики</a:t>
            </a:r>
            <a:endParaRPr lang="en-US" altLang="ru-RU" sz="20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560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Опасные оптимизации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dara Light" panose="020E0502030303020204" pitchFamily="34" charset="0"/>
              </a:rPr>
              <a:t>компилятора и процессора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ndara Light" panose="020E0502030303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dara Light" panose="020E0502030303020204" pitchFamily="34" charset="0"/>
              </a:rPr>
              <a:t>Трудности отладки и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560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невозможность воспроизведения багов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dara Light" panose="020E0502030303020204" pitchFamily="34" charset="0"/>
              </a:rPr>
            </a:b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468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4E035-C884-9640-94FC-199CC204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2127" y="681037"/>
            <a:ext cx="3359727" cy="89217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Зачем нужна 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JMM</a:t>
            </a:r>
            <a:endParaRPr lang="ru-RU" sz="2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D26E20-9E1E-5CD3-AD6D-0DF7E5F81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436" y="2564967"/>
            <a:ext cx="8773391" cy="172806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Упорядочивает доступ к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памяти</a:t>
            </a: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между потоками.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Делает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многопоточность</a:t>
            </a: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безопасной.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Позволяет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JVM</a:t>
            </a: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оптимизировать код.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Даёт разработчику уверенность, что код </a:t>
            </a:r>
            <a:r>
              <a:rPr lang="ru-RU" sz="2000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выполнится корректно</a:t>
            </a:r>
          </a:p>
        </p:txBody>
      </p:sp>
    </p:spTree>
    <p:extLst>
      <p:ext uri="{BB962C8B-B14F-4D97-AF65-F5344CB8AC3E}">
        <p14:creationId xmlns:p14="http://schemas.microsoft.com/office/powerpoint/2010/main" val="54120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AA96F-5056-B707-86AA-D7DCF879C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151" y="2103437"/>
            <a:ext cx="6035566" cy="1325563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681268-F2B1-2689-A9AB-498B57673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671" y="3429000"/>
            <a:ext cx="8883869" cy="970127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“</a:t>
            </a:r>
            <a:r>
              <a:rPr lang="ru-RU" b="1" dirty="0">
                <a:solidFill>
                  <a:srgbClr val="FF560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Память — как море</a:t>
            </a:r>
            <a:r>
              <a:rPr lang="ru-RU" b="1" dirty="0">
                <a:solidFill>
                  <a:srgbClr val="FF560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.</a:t>
            </a:r>
            <a:r>
              <a:rPr lang="ru-RU" dirty="0">
                <a:solidFill>
                  <a:schemeClr val="bg1"/>
                </a:solidFill>
                <a:latin typeface="Candara Light" panose="020E0502030303020204" pitchFamily="34" charset="0"/>
                <a:ea typeface="Roboto" panose="02000000000000000000" pitchFamily="2" charset="0"/>
              </a:rPr>
              <a:t> Без правил течений потоки превращаются в шторм.”</a:t>
            </a:r>
          </a:p>
        </p:txBody>
      </p:sp>
    </p:spTree>
    <p:extLst>
      <p:ext uri="{BB962C8B-B14F-4D97-AF65-F5344CB8AC3E}">
        <p14:creationId xmlns:p14="http://schemas.microsoft.com/office/powerpoint/2010/main" val="137237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238</Words>
  <Application>Microsoft Office PowerPoint</Application>
  <PresentationFormat>Широкоэкранный</PresentationFormat>
  <Paragraphs>30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Candara Light</vt:lpstr>
      <vt:lpstr>Roboto</vt:lpstr>
      <vt:lpstr>Тема Office</vt:lpstr>
      <vt:lpstr>Java Memory Model — невидимый механизм, управляющий потоками</vt:lpstr>
      <vt:lpstr>Что такое Java Memory Model?</vt:lpstr>
      <vt:lpstr>Проблема многопоточности</vt:lpstr>
      <vt:lpstr>Как JMM решает проблему</vt:lpstr>
      <vt:lpstr>Средства синхронизации в Java</vt:lpstr>
      <vt:lpstr>Пример правильной работы с JMM</vt:lpstr>
      <vt:lpstr>Правила Happens-Before</vt:lpstr>
      <vt:lpstr>Последствия игнорирования JMM</vt:lpstr>
      <vt:lpstr>Зачем нужна JMM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fyt683pfd@hotmail.com</dc:creator>
  <cp:lastModifiedBy>fyt683pfd@hotmail.com</cp:lastModifiedBy>
  <cp:revision>4</cp:revision>
  <dcterms:created xsi:type="dcterms:W3CDTF">2025-11-08T13:18:37Z</dcterms:created>
  <dcterms:modified xsi:type="dcterms:W3CDTF">2025-11-09T09:38:23Z</dcterms:modified>
</cp:coreProperties>
</file>