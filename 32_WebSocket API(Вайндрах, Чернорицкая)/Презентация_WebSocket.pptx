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89" r:id="rId5"/>
    <p:sldId id="288" r:id="rId6"/>
    <p:sldId id="259" r:id="rId7"/>
    <p:sldId id="260" r:id="rId8"/>
    <p:sldId id="262" r:id="rId9"/>
    <p:sldId id="264" r:id="rId10"/>
    <p:sldId id="266" r:id="rId11"/>
    <p:sldId id="268" r:id="rId12"/>
    <p:sldId id="284" r:id="rId13"/>
    <p:sldId id="270" r:id="rId14"/>
    <p:sldId id="271" r:id="rId15"/>
    <p:sldId id="273" r:id="rId16"/>
    <p:sldId id="286" r:id="rId17"/>
    <p:sldId id="274" r:id="rId18"/>
    <p:sldId id="287" r:id="rId19"/>
    <p:sldId id="275" r:id="rId20"/>
    <p:sldId id="279" r:id="rId21"/>
    <p:sldId id="277" r:id="rId22"/>
    <p:sldId id="278" r:id="rId23"/>
    <p:sldId id="281" r:id="rId24"/>
    <p:sldId id="282" r:id="rId25"/>
  </p:sldIdLst>
  <p:sldSz cx="12801600" cy="7772400"/>
  <p:notesSz cx="12801600" cy="7772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869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38668" y="909272"/>
            <a:ext cx="9068927" cy="2880288"/>
          </a:xfrm>
        </p:spPr>
        <p:txBody>
          <a:bodyPr bIns="0" anchor="b">
            <a:normAutofit/>
          </a:bodyPr>
          <a:lstStyle>
            <a:lvl1pPr algn="l">
              <a:defRPr sz="693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38669" y="4002032"/>
            <a:ext cx="9068926" cy="1107970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90" b="0" cap="all" baseline="0">
                <a:solidFill>
                  <a:schemeClr val="tx1"/>
                </a:solidFill>
              </a:defRPr>
            </a:lvl1pPr>
            <a:lvl2pPr marL="480060" indent="0" algn="ctr">
              <a:buNone/>
              <a:defRPr sz="189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37325" y="373215"/>
            <a:ext cx="5222611" cy="350428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https://editorhtmlonline.com/ru/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09548" y="905503"/>
            <a:ext cx="851570" cy="570722"/>
          </a:xfrm>
        </p:spPr>
        <p:txBody>
          <a:bodyPr/>
          <a:lstStyle/>
          <a:p>
            <a:pPr marL="6858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ru-RU" spc="-20" smtClean="0"/>
              <a:t>‹#›</a:t>
            </a:fld>
            <a:r>
              <a:rPr lang="ru-RU" spc="-20"/>
              <a:t>/28</a:t>
            </a:r>
            <a:endParaRPr lang="ru-RU" spc="-2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538669" y="3999014"/>
            <a:ext cx="90689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887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https://editorhtmlonline.com/ru/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6858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ru-RU" spc="-20" smtClean="0"/>
              <a:t>‹#›</a:t>
            </a:fld>
            <a:r>
              <a:rPr lang="ru-RU" spc="-20"/>
              <a:t>/28</a:t>
            </a:r>
            <a:endParaRPr lang="ru-RU" spc="-20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526591" y="2093366"/>
            <a:ext cx="1008789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718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6951" y="1990281"/>
            <a:ext cx="9075312" cy="2139677"/>
          </a:xfrm>
        </p:spPr>
        <p:txBody>
          <a:bodyPr anchor="b">
            <a:normAutofit/>
          </a:bodyPr>
          <a:lstStyle>
            <a:lvl1pPr algn="l">
              <a:defRPr sz="378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6951" y="4313688"/>
            <a:ext cx="9061968" cy="1147986"/>
          </a:xfrm>
        </p:spPr>
        <p:txBody>
          <a:bodyPr tIns="91440">
            <a:normAutofit/>
          </a:bodyPr>
          <a:lstStyle>
            <a:lvl1pPr marL="0" indent="0" algn="l">
              <a:buNone/>
              <a:defRPr sz="1890">
                <a:solidFill>
                  <a:schemeClr val="tx1"/>
                </a:solidFill>
              </a:defRPr>
            </a:lvl1pPr>
            <a:lvl2pPr marL="48006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https://editorhtmlonline.com/ru/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6858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ru-RU" spc="-20" smtClean="0"/>
              <a:t>‹#›</a:t>
            </a:fld>
            <a:r>
              <a:rPr lang="ru-RU" spc="-20"/>
              <a:t>/28</a:t>
            </a:r>
            <a:endParaRPr lang="ru-RU" spc="-2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526951" y="4312316"/>
            <a:ext cx="906196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8701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1678" y="912208"/>
            <a:ext cx="10085917" cy="120054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19697" y="2278995"/>
            <a:ext cx="4877410" cy="390840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34459" y="2286322"/>
            <a:ext cx="4877410" cy="39003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https://editorhtmlonline.com/ru/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6858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ru-RU" spc="-20" smtClean="0"/>
              <a:t>‹#›</a:t>
            </a:fld>
            <a:r>
              <a:rPr lang="ru-RU" spc="-20"/>
              <a:t>/28</a:t>
            </a:r>
            <a:endParaRPr lang="ru-RU" spc="-20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526591" y="2093366"/>
            <a:ext cx="1008789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250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9551" y="911385"/>
            <a:ext cx="10088044" cy="119716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9550" y="2288823"/>
            <a:ext cx="4877410" cy="908869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310" b="0" cap="all" baseline="0">
                <a:solidFill>
                  <a:schemeClr val="accent1"/>
                </a:solidFill>
              </a:defRPr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9550" y="3200839"/>
            <a:ext cx="4877410" cy="299705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32980" y="2292737"/>
            <a:ext cx="4877410" cy="9092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310" b="0" cap="all" baseline="0">
                <a:solidFill>
                  <a:schemeClr val="accent1"/>
                </a:solidFill>
              </a:defRPr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32980" y="3197691"/>
            <a:ext cx="4877410" cy="29890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https://editorhtmlonline.com/ru/</a:t>
            </a:r>
            <a:endParaRPr lang="en-US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6858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ru-RU" spc="-20" smtClean="0"/>
              <a:t>‹#›</a:t>
            </a:fld>
            <a:r>
              <a:rPr lang="ru-RU" spc="-20"/>
              <a:t>/28</a:t>
            </a:r>
            <a:endParaRPr lang="ru-RU" spc="-20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526591" y="2093366"/>
            <a:ext cx="1008789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7324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https://editorhtmlonline.com/ru/</a:t>
            </a:r>
            <a:endParaRPr lang="en-US" spc="-1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6858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ru-RU" spc="-20" smtClean="0"/>
              <a:t>‹#›</a:t>
            </a:fld>
            <a:r>
              <a:rPr lang="ru-RU" spc="-20"/>
              <a:t>/28</a:t>
            </a:r>
            <a:endParaRPr lang="ru-RU" spc="-20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526591" y="2093366"/>
            <a:ext cx="1008789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320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https://editorhtmlonline.com/ru/</a:t>
            </a:r>
            <a:endParaRPr lang="en-US" spc="-1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6858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ru-RU" spc="-20" smtClean="0"/>
              <a:t>‹#›</a:t>
            </a:fld>
            <a:r>
              <a:rPr lang="ru-RU" spc="-20"/>
              <a:t>/28</a:t>
            </a:r>
            <a:endParaRPr lang="ru-RU" spc="-20" dirty="0"/>
          </a:p>
        </p:txBody>
      </p:sp>
    </p:spTree>
    <p:extLst>
      <p:ext uri="{BB962C8B-B14F-4D97-AF65-F5344CB8AC3E}">
        <p14:creationId xmlns:p14="http://schemas.microsoft.com/office/powerpoint/2010/main" val="2300732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6905" y="905503"/>
            <a:ext cx="3436754" cy="2546733"/>
          </a:xfrm>
        </p:spPr>
        <p:txBody>
          <a:bodyPr anchor="b">
            <a:normAutofit/>
          </a:bodyPr>
          <a:lstStyle>
            <a:lvl1pPr algn="l">
              <a:defRPr sz="252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5899" y="905504"/>
            <a:ext cx="6313094" cy="5280003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6905" y="3632891"/>
            <a:ext cx="3438764" cy="2547938"/>
          </a:xfrm>
        </p:spPr>
        <p:txBody>
          <a:bodyPr/>
          <a:lstStyle>
            <a:lvl1pPr marL="0" indent="0" algn="l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https://editorhtmlonline.com/ru/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6858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ru-RU" spc="-20" smtClean="0"/>
              <a:t>‹#›</a:t>
            </a:fld>
            <a:r>
              <a:rPr lang="ru-RU" spc="-20"/>
              <a:t>/28</a:t>
            </a:r>
            <a:endParaRPr lang="ru-RU" spc="-20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520694" y="3632890"/>
            <a:ext cx="343296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2350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851257" y="546460"/>
            <a:ext cx="4278260" cy="5835648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767" y="1280115"/>
            <a:ext cx="5808944" cy="2074662"/>
          </a:xfrm>
        </p:spPr>
        <p:txBody>
          <a:bodyPr anchor="b">
            <a:normAutofit/>
          </a:bodyPr>
          <a:lstStyle>
            <a:lvl1pPr>
              <a:defRPr sz="336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30609" y="1272215"/>
            <a:ext cx="2930730" cy="438183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846" y="3565457"/>
            <a:ext cx="5800624" cy="2270908"/>
          </a:xfrm>
        </p:spPr>
        <p:txBody>
          <a:bodyPr>
            <a:normAutofit/>
          </a:bodyPr>
          <a:lstStyle>
            <a:lvl1pPr marL="0" indent="0" algn="l">
              <a:buNone/>
              <a:defRPr sz="189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19751" y="6199171"/>
            <a:ext cx="5803719" cy="362806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19751" y="361126"/>
            <a:ext cx="5818054" cy="363722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https://editorhtmlonline.com/ru/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6858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ru-RU" spc="-20" smtClean="0"/>
              <a:t>‹#›</a:t>
            </a:fld>
            <a:r>
              <a:rPr lang="ru-RU" spc="-20"/>
              <a:t>/28</a:t>
            </a:r>
            <a:endParaRPr lang="ru-RU" spc="-20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519751" y="3562752"/>
            <a:ext cx="58037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334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https://editorhtmlonline.com/ru/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6858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ru-RU" spc="-20" smtClean="0"/>
              <a:t>‹#›</a:t>
            </a:fld>
            <a:r>
              <a:rPr lang="ru-RU" spc="-20"/>
              <a:t>/28</a:t>
            </a:r>
            <a:endParaRPr lang="ru-RU" spc="-20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526591" y="2093366"/>
            <a:ext cx="1008789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6582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11067" y="905503"/>
            <a:ext cx="1696529" cy="5281208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6905" y="905503"/>
            <a:ext cx="8220272" cy="528120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https://editorhtmlonline.com/ru/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6858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ru-RU" spc="-20" smtClean="0"/>
              <a:t>‹#›</a:t>
            </a:fld>
            <a:r>
              <a:rPr lang="ru-RU" spc="-20"/>
              <a:t>/28</a:t>
            </a:r>
            <a:endParaRPr lang="ru-RU" spc="-2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911067" y="905503"/>
            <a:ext cx="0" cy="5281208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640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288740"/>
            <a:ext cx="12801600" cy="46534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943344"/>
            <a:ext cx="12801600" cy="8420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158" y="911789"/>
            <a:ext cx="10083439" cy="11891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158" y="2284497"/>
            <a:ext cx="10083439" cy="3910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31845" y="374420"/>
            <a:ext cx="3675751" cy="3504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158" y="373215"/>
            <a:ext cx="6235778" cy="3504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https://editorhtmlonline.com/ru/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4064" y="905503"/>
            <a:ext cx="851570" cy="57072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940">
                <a:solidFill>
                  <a:schemeClr val="accent1"/>
                </a:solidFill>
              </a:defRPr>
            </a:lvl1pPr>
          </a:lstStyle>
          <a:p>
            <a:pPr marL="6858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ru-RU" spc="-20" smtClean="0"/>
              <a:t>‹#›</a:t>
            </a:fld>
            <a:r>
              <a:rPr lang="ru-RU" spc="-20"/>
              <a:t>/28</a:t>
            </a:r>
            <a:endParaRPr lang="ru-RU" spc="-2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945535"/>
            <a:ext cx="128016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52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336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120000"/>
        </a:lnSpc>
        <a:spcBef>
          <a:spcPts val="10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1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120000"/>
        </a:lnSpc>
        <a:spcBef>
          <a:spcPts val="52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9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120000"/>
        </a:lnSpc>
        <a:spcBef>
          <a:spcPts val="52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8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120000"/>
        </a:lnSpc>
        <a:spcBef>
          <a:spcPts val="52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7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120000"/>
        </a:lnSpc>
        <a:spcBef>
          <a:spcPts val="52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6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120000"/>
        </a:lnSpc>
        <a:spcBef>
          <a:spcPts val="52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6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120000"/>
        </a:lnSpc>
        <a:spcBef>
          <a:spcPts val="52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6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120000"/>
        </a:lnSpc>
        <a:spcBef>
          <a:spcPts val="52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6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120000"/>
        </a:lnSpc>
        <a:spcBef>
          <a:spcPts val="52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6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1990" y="1322069"/>
            <a:ext cx="11452860" cy="4880610"/>
            <a:chOff x="681990" y="1322069"/>
            <a:chExt cx="11452860" cy="4880610"/>
          </a:xfrm>
        </p:grpSpPr>
        <p:sp>
          <p:nvSpPr>
            <p:cNvPr id="3" name="object 3"/>
            <p:cNvSpPr/>
            <p:nvPr/>
          </p:nvSpPr>
          <p:spPr>
            <a:xfrm>
              <a:off x="687705" y="1327784"/>
              <a:ext cx="11441430" cy="4869180"/>
            </a:xfrm>
            <a:custGeom>
              <a:avLst/>
              <a:gdLst/>
              <a:ahLst/>
              <a:cxnLst/>
              <a:rect l="l" t="t" r="r" b="b"/>
              <a:pathLst>
                <a:path w="11441430" h="4869180">
                  <a:moveTo>
                    <a:pt x="0" y="4737735"/>
                  </a:moveTo>
                  <a:lnTo>
                    <a:pt x="0" y="131445"/>
                  </a:lnTo>
                  <a:lnTo>
                    <a:pt x="157" y="124987"/>
                  </a:lnTo>
                  <a:lnTo>
                    <a:pt x="7680" y="87169"/>
                  </a:lnTo>
                  <a:lnTo>
                    <a:pt x="25871" y="53136"/>
                  </a:lnTo>
                  <a:lnTo>
                    <a:pt x="53136" y="25871"/>
                  </a:lnTo>
                  <a:lnTo>
                    <a:pt x="87169" y="7680"/>
                  </a:lnTo>
                  <a:lnTo>
                    <a:pt x="124987" y="157"/>
                  </a:lnTo>
                  <a:lnTo>
                    <a:pt x="131445" y="0"/>
                  </a:lnTo>
                  <a:lnTo>
                    <a:pt x="11309985" y="0"/>
                  </a:lnTo>
                  <a:lnTo>
                    <a:pt x="11348141" y="5658"/>
                  </a:lnTo>
                  <a:lnTo>
                    <a:pt x="11383010" y="22152"/>
                  </a:lnTo>
                  <a:lnTo>
                    <a:pt x="11411594" y="48056"/>
                  </a:lnTo>
                  <a:lnTo>
                    <a:pt x="11431423" y="81143"/>
                  </a:lnTo>
                  <a:lnTo>
                    <a:pt x="11440798" y="118560"/>
                  </a:lnTo>
                  <a:lnTo>
                    <a:pt x="11441430" y="131445"/>
                  </a:lnTo>
                  <a:lnTo>
                    <a:pt x="11441430" y="4737735"/>
                  </a:lnTo>
                  <a:lnTo>
                    <a:pt x="11435770" y="4775891"/>
                  </a:lnTo>
                  <a:lnTo>
                    <a:pt x="11419277" y="4810761"/>
                  </a:lnTo>
                  <a:lnTo>
                    <a:pt x="11393372" y="4839344"/>
                  </a:lnTo>
                  <a:lnTo>
                    <a:pt x="11360286" y="4859174"/>
                  </a:lnTo>
                  <a:lnTo>
                    <a:pt x="11322868" y="4868548"/>
                  </a:lnTo>
                  <a:lnTo>
                    <a:pt x="11309985" y="4869180"/>
                  </a:lnTo>
                  <a:lnTo>
                    <a:pt x="131445" y="4869180"/>
                  </a:lnTo>
                  <a:lnTo>
                    <a:pt x="93288" y="4863521"/>
                  </a:lnTo>
                  <a:lnTo>
                    <a:pt x="58418" y="4847027"/>
                  </a:lnTo>
                  <a:lnTo>
                    <a:pt x="29835" y="4821123"/>
                  </a:lnTo>
                  <a:lnTo>
                    <a:pt x="10005" y="4788036"/>
                  </a:lnTo>
                  <a:lnTo>
                    <a:pt x="631" y="4750619"/>
                  </a:lnTo>
                  <a:lnTo>
                    <a:pt x="0" y="4737735"/>
                  </a:lnTo>
                  <a:close/>
                </a:path>
              </a:pathLst>
            </a:custGeom>
            <a:ln w="11430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36320" y="3505200"/>
              <a:ext cx="10744200" cy="11430"/>
            </a:xfrm>
            <a:custGeom>
              <a:avLst/>
              <a:gdLst/>
              <a:ahLst/>
              <a:cxnLst/>
              <a:rect l="l" t="t" r="r" b="b"/>
              <a:pathLst>
                <a:path w="10744200" h="11429">
                  <a:moveTo>
                    <a:pt x="10744200" y="11430"/>
                  </a:moveTo>
                  <a:lnTo>
                    <a:pt x="0" y="11430"/>
                  </a:lnTo>
                  <a:lnTo>
                    <a:pt x="0" y="0"/>
                  </a:lnTo>
                  <a:lnTo>
                    <a:pt x="10744200" y="0"/>
                  </a:lnTo>
                  <a:lnTo>
                    <a:pt x="10744200" y="1143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05200" y="2042354"/>
            <a:ext cx="5494337" cy="519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50" spc="-20" dirty="0">
                <a:solidFill>
                  <a:srgbClr val="2B3D4F"/>
                </a:solidFill>
              </a:rPr>
              <a:t>WebSocket</a:t>
            </a:r>
            <a:r>
              <a:rPr sz="3250" spc="-75" dirty="0">
                <a:solidFill>
                  <a:srgbClr val="2B3D4F"/>
                </a:solidFill>
              </a:rPr>
              <a:t> </a:t>
            </a:r>
            <a:r>
              <a:rPr sz="3250" dirty="0">
                <a:solidFill>
                  <a:srgbClr val="2B3D4F"/>
                </a:solidFill>
              </a:rPr>
              <a:t>API</a:t>
            </a:r>
            <a:r>
              <a:rPr sz="3250" spc="-75" dirty="0">
                <a:solidFill>
                  <a:srgbClr val="2B3D4F"/>
                </a:solidFill>
              </a:rPr>
              <a:t> </a:t>
            </a:r>
            <a:r>
              <a:rPr sz="3250" dirty="0">
                <a:solidFill>
                  <a:srgbClr val="2B3D4F"/>
                </a:solidFill>
              </a:rPr>
              <a:t>в</a:t>
            </a:r>
            <a:r>
              <a:rPr sz="3250" spc="-70" dirty="0">
                <a:solidFill>
                  <a:srgbClr val="2B3D4F"/>
                </a:solidFill>
              </a:rPr>
              <a:t> </a:t>
            </a:r>
            <a:r>
              <a:rPr sz="3250" spc="-20" dirty="0">
                <a:solidFill>
                  <a:srgbClr val="2B3D4F"/>
                </a:solidFill>
              </a:rPr>
              <a:t>Java</a:t>
            </a:r>
            <a:endParaRPr sz="3250" dirty="0"/>
          </a:p>
        </p:txBody>
      </p:sp>
      <p:sp>
        <p:nvSpPr>
          <p:cNvPr id="6" name="object 6"/>
          <p:cNvSpPr txBox="1"/>
          <p:nvPr/>
        </p:nvSpPr>
        <p:spPr>
          <a:xfrm>
            <a:off x="2045335" y="3052638"/>
            <a:ext cx="8726170" cy="1667123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2500" b="1" dirty="0">
                <a:solidFill>
                  <a:srgbClr val="205C86"/>
                </a:solidFill>
                <a:latin typeface="Segoe UI"/>
                <a:cs typeface="Segoe UI"/>
              </a:rPr>
              <a:t>От</a:t>
            </a:r>
            <a:r>
              <a:rPr sz="2500" b="1" spc="10" dirty="0">
                <a:solidFill>
                  <a:srgbClr val="205C86"/>
                </a:solidFill>
                <a:latin typeface="Segoe UI"/>
                <a:cs typeface="Segoe UI"/>
              </a:rPr>
              <a:t> </a:t>
            </a:r>
            <a:r>
              <a:rPr sz="2500" b="1" dirty="0">
                <a:solidFill>
                  <a:srgbClr val="205C86"/>
                </a:solidFill>
                <a:latin typeface="Segoe UI"/>
                <a:cs typeface="Segoe UI"/>
              </a:rPr>
              <a:t>основ</a:t>
            </a:r>
            <a:r>
              <a:rPr sz="2500" b="1" spc="15" dirty="0">
                <a:solidFill>
                  <a:srgbClr val="205C86"/>
                </a:solidFill>
                <a:latin typeface="Segoe UI"/>
                <a:cs typeface="Segoe UI"/>
              </a:rPr>
              <a:t> </a:t>
            </a:r>
            <a:r>
              <a:rPr sz="2500" b="1" dirty="0">
                <a:solidFill>
                  <a:srgbClr val="205C86"/>
                </a:solidFill>
                <a:latin typeface="Segoe UI"/>
                <a:cs typeface="Segoe UI"/>
              </a:rPr>
              <a:t>к</a:t>
            </a:r>
            <a:r>
              <a:rPr sz="2500" b="1" spc="10" dirty="0">
                <a:solidFill>
                  <a:srgbClr val="205C86"/>
                </a:solidFill>
                <a:latin typeface="Segoe UI"/>
                <a:cs typeface="Segoe UI"/>
              </a:rPr>
              <a:t> </a:t>
            </a:r>
            <a:r>
              <a:rPr sz="2500" b="1" dirty="0">
                <a:solidFill>
                  <a:srgbClr val="205C86"/>
                </a:solidFill>
                <a:latin typeface="Segoe UI"/>
                <a:cs typeface="Segoe UI"/>
              </a:rPr>
              <a:t>Modern</a:t>
            </a:r>
            <a:r>
              <a:rPr sz="2500" b="1" spc="15" dirty="0">
                <a:solidFill>
                  <a:srgbClr val="205C86"/>
                </a:solidFill>
                <a:latin typeface="Segoe UI"/>
                <a:cs typeface="Segoe UI"/>
              </a:rPr>
              <a:t> </a:t>
            </a:r>
            <a:r>
              <a:rPr sz="2500" b="1" spc="-20" dirty="0">
                <a:solidFill>
                  <a:srgbClr val="205C86"/>
                </a:solidFill>
                <a:latin typeface="Segoe UI"/>
                <a:cs typeface="Segoe UI"/>
              </a:rPr>
              <a:t>Real-</a:t>
            </a:r>
            <a:r>
              <a:rPr sz="2500" b="1" dirty="0">
                <a:solidFill>
                  <a:srgbClr val="205C86"/>
                </a:solidFill>
                <a:latin typeface="Segoe UI"/>
                <a:cs typeface="Segoe UI"/>
              </a:rPr>
              <a:t>time</a:t>
            </a:r>
            <a:r>
              <a:rPr sz="2500" b="1" spc="15" dirty="0">
                <a:solidFill>
                  <a:srgbClr val="205C86"/>
                </a:solidFill>
                <a:latin typeface="Segoe UI"/>
                <a:cs typeface="Segoe UI"/>
              </a:rPr>
              <a:t> </a:t>
            </a:r>
            <a:r>
              <a:rPr sz="2500" b="1" spc="-10" dirty="0">
                <a:solidFill>
                  <a:srgbClr val="205C86"/>
                </a:solidFill>
                <a:latin typeface="Segoe UI"/>
                <a:cs typeface="Segoe UI"/>
              </a:rPr>
              <a:t>коммуникациям</a:t>
            </a:r>
            <a:endParaRPr sz="2500" dirty="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3130"/>
              </a:spcBef>
            </a:pPr>
            <a:r>
              <a:rPr sz="1950" dirty="0">
                <a:solidFill>
                  <a:srgbClr val="333333"/>
                </a:solidFill>
                <a:latin typeface="Segoe UI"/>
                <a:cs typeface="Segoe UI"/>
              </a:rPr>
              <a:t>Эволюция</a:t>
            </a:r>
            <a:r>
              <a:rPr sz="1950" spc="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50" dirty="0">
                <a:solidFill>
                  <a:srgbClr val="333333"/>
                </a:solidFill>
                <a:latin typeface="Segoe UI"/>
                <a:cs typeface="Segoe UI"/>
              </a:rPr>
              <a:t>живого</a:t>
            </a:r>
            <a:r>
              <a:rPr sz="1950" spc="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50" dirty="0">
                <a:solidFill>
                  <a:srgbClr val="333333"/>
                </a:solidFill>
                <a:latin typeface="Segoe UI"/>
                <a:cs typeface="Segoe UI"/>
              </a:rPr>
              <a:t>общения</a:t>
            </a:r>
            <a:r>
              <a:rPr sz="1950" spc="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50" dirty="0">
                <a:solidFill>
                  <a:srgbClr val="333333"/>
                </a:solidFill>
                <a:latin typeface="Segoe UI"/>
                <a:cs typeface="Segoe UI"/>
              </a:rPr>
              <a:t>между</a:t>
            </a:r>
            <a:r>
              <a:rPr sz="1950" spc="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50" dirty="0">
                <a:solidFill>
                  <a:srgbClr val="333333"/>
                </a:solidFill>
                <a:latin typeface="Segoe UI"/>
                <a:cs typeface="Segoe UI"/>
              </a:rPr>
              <a:t>клиентом</a:t>
            </a:r>
            <a:r>
              <a:rPr sz="1950" spc="7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50" dirty="0">
                <a:solidFill>
                  <a:srgbClr val="333333"/>
                </a:solidFill>
                <a:latin typeface="Segoe UI"/>
                <a:cs typeface="Segoe UI"/>
              </a:rPr>
              <a:t>и</a:t>
            </a:r>
            <a:r>
              <a:rPr sz="1950" spc="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50" spc="-10" dirty="0">
                <a:solidFill>
                  <a:srgbClr val="333333"/>
                </a:solidFill>
                <a:latin typeface="Segoe UI"/>
                <a:cs typeface="Segoe UI"/>
              </a:rPr>
              <a:t>сервером</a:t>
            </a:r>
            <a:endParaRPr sz="195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055"/>
              </a:spcBef>
            </a:pPr>
            <a:endParaRPr sz="1950" dirty="0"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18FF1F-3EAC-1B27-960E-228BF0A6AC4F}"/>
              </a:ext>
            </a:extLst>
          </p:cNvPr>
          <p:cNvSpPr txBox="1"/>
          <p:nvPr/>
        </p:nvSpPr>
        <p:spPr>
          <a:xfrm>
            <a:off x="9327555" y="5136598"/>
            <a:ext cx="27863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Вайндрах</a:t>
            </a:r>
            <a:r>
              <a:rPr lang="ru-RU" dirty="0"/>
              <a:t> Елизавета</a:t>
            </a:r>
            <a:br>
              <a:rPr lang="ru-RU" dirty="0"/>
            </a:br>
            <a:r>
              <a:rPr lang="ru-RU" dirty="0"/>
              <a:t>Чернорицкая Анастасия</a:t>
            </a:r>
            <a:br>
              <a:rPr lang="ru-RU" dirty="0"/>
            </a:br>
            <a:r>
              <a:rPr lang="ru-RU" dirty="0"/>
              <a:t>5030102/30202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9600" y="361950"/>
            <a:ext cx="11525250" cy="5734050"/>
            <a:chOff x="681990" y="361950"/>
            <a:chExt cx="11452860" cy="4297680"/>
          </a:xfrm>
        </p:grpSpPr>
        <p:sp>
          <p:nvSpPr>
            <p:cNvPr id="3" name="object 3"/>
            <p:cNvSpPr/>
            <p:nvPr/>
          </p:nvSpPr>
          <p:spPr>
            <a:xfrm>
              <a:off x="687705" y="367665"/>
              <a:ext cx="11441430" cy="4286250"/>
            </a:xfrm>
            <a:custGeom>
              <a:avLst/>
              <a:gdLst/>
              <a:ahLst/>
              <a:cxnLst/>
              <a:rect l="l" t="t" r="r" b="b"/>
              <a:pathLst>
                <a:path w="11441430" h="4286250">
                  <a:moveTo>
                    <a:pt x="0" y="4154805"/>
                  </a:moveTo>
                  <a:lnTo>
                    <a:pt x="0" y="131445"/>
                  </a:lnTo>
                  <a:lnTo>
                    <a:pt x="157" y="124987"/>
                  </a:lnTo>
                  <a:lnTo>
                    <a:pt x="7680" y="87169"/>
                  </a:lnTo>
                  <a:lnTo>
                    <a:pt x="25871" y="53135"/>
                  </a:lnTo>
                  <a:lnTo>
                    <a:pt x="53136" y="25871"/>
                  </a:lnTo>
                  <a:lnTo>
                    <a:pt x="87169" y="7680"/>
                  </a:lnTo>
                  <a:lnTo>
                    <a:pt x="124987" y="157"/>
                  </a:lnTo>
                  <a:lnTo>
                    <a:pt x="131445" y="0"/>
                  </a:lnTo>
                  <a:lnTo>
                    <a:pt x="11309985" y="0"/>
                  </a:lnTo>
                  <a:lnTo>
                    <a:pt x="11348141" y="5658"/>
                  </a:lnTo>
                  <a:lnTo>
                    <a:pt x="11383010" y="22151"/>
                  </a:lnTo>
                  <a:lnTo>
                    <a:pt x="11411594" y="48055"/>
                  </a:lnTo>
                  <a:lnTo>
                    <a:pt x="11431423" y="81142"/>
                  </a:lnTo>
                  <a:lnTo>
                    <a:pt x="11440798" y="118560"/>
                  </a:lnTo>
                  <a:lnTo>
                    <a:pt x="11441430" y="131445"/>
                  </a:lnTo>
                  <a:lnTo>
                    <a:pt x="11441430" y="4154805"/>
                  </a:lnTo>
                  <a:lnTo>
                    <a:pt x="11435770" y="4192960"/>
                  </a:lnTo>
                  <a:lnTo>
                    <a:pt x="11419277" y="4227829"/>
                  </a:lnTo>
                  <a:lnTo>
                    <a:pt x="11393372" y="4256412"/>
                  </a:lnTo>
                  <a:lnTo>
                    <a:pt x="11360286" y="4276241"/>
                  </a:lnTo>
                  <a:lnTo>
                    <a:pt x="11322868" y="4285618"/>
                  </a:lnTo>
                  <a:lnTo>
                    <a:pt x="11309985" y="4286250"/>
                  </a:lnTo>
                  <a:lnTo>
                    <a:pt x="131445" y="4286250"/>
                  </a:lnTo>
                  <a:lnTo>
                    <a:pt x="93288" y="4280590"/>
                  </a:lnTo>
                  <a:lnTo>
                    <a:pt x="58418" y="4264095"/>
                  </a:lnTo>
                  <a:lnTo>
                    <a:pt x="29835" y="4238191"/>
                  </a:lnTo>
                  <a:lnTo>
                    <a:pt x="10005" y="4205105"/>
                  </a:lnTo>
                  <a:lnTo>
                    <a:pt x="631" y="4167688"/>
                  </a:lnTo>
                  <a:lnTo>
                    <a:pt x="0" y="4154805"/>
                  </a:lnTo>
                  <a:close/>
                </a:path>
              </a:pathLst>
            </a:custGeom>
            <a:ln w="11430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36320" y="1607820"/>
              <a:ext cx="10744200" cy="11430"/>
            </a:xfrm>
            <a:custGeom>
              <a:avLst/>
              <a:gdLst/>
              <a:ahLst/>
              <a:cxnLst/>
              <a:rect l="l" t="t" r="r" b="b"/>
              <a:pathLst>
                <a:path w="10744200" h="11430">
                  <a:moveTo>
                    <a:pt x="10744200" y="11430"/>
                  </a:moveTo>
                  <a:lnTo>
                    <a:pt x="0" y="11430"/>
                  </a:lnTo>
                  <a:lnTo>
                    <a:pt x="0" y="0"/>
                  </a:lnTo>
                  <a:lnTo>
                    <a:pt x="10744200" y="0"/>
                  </a:lnTo>
                  <a:lnTo>
                    <a:pt x="10744200" y="1143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23619" y="1046486"/>
            <a:ext cx="7055484" cy="4001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ru-RU" spc="-10" dirty="0"/>
              <a:t>План</a:t>
            </a:r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idx="1"/>
          </p:nvPr>
        </p:nvSpPr>
        <p:spPr>
          <a:xfrm>
            <a:off x="1055370" y="1832379"/>
            <a:ext cx="10820400" cy="26084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75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ru-RU" b="1" dirty="0">
                <a:latin typeface="Segoe UI"/>
                <a:cs typeface="Segoe UI"/>
              </a:rPr>
              <a:t>Часть 1. Фундаментальные различия между HTTP и WebSocket</a:t>
            </a:r>
          </a:p>
          <a:p>
            <a:pPr marL="381000">
              <a:lnSpc>
                <a:spcPct val="100000"/>
              </a:lnSpc>
              <a:spcBef>
                <a:spcPts val="100"/>
              </a:spcBef>
            </a:pPr>
            <a:endParaRPr lang="ru-RU" b="1" dirty="0">
              <a:latin typeface="Segoe UI"/>
              <a:cs typeface="Segoe UI"/>
            </a:endParaRPr>
          </a:p>
          <a:p>
            <a:pPr marL="66675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ru-RU" b="1" dirty="0"/>
              <a:t>Часть 2. Архитектура </a:t>
            </a:r>
            <a:r>
              <a:rPr lang="ru-RU" b="1" dirty="0">
                <a:latin typeface="Segoe UI"/>
                <a:cs typeface="Segoe UI"/>
              </a:rPr>
              <a:t>и протокол WebSocket</a:t>
            </a:r>
          </a:p>
          <a:p>
            <a:pPr marL="381000">
              <a:lnSpc>
                <a:spcPct val="100000"/>
              </a:lnSpc>
              <a:spcBef>
                <a:spcPts val="100"/>
              </a:spcBef>
            </a:pPr>
            <a:endParaRPr lang="ru-RU" b="1" dirty="0">
              <a:latin typeface="Segoe UI"/>
              <a:cs typeface="Segoe UI"/>
            </a:endParaRPr>
          </a:p>
          <a:p>
            <a:pPr marL="66675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ru-RU" b="1" dirty="0"/>
              <a:t>Часть 3. Практическая </a:t>
            </a:r>
            <a:r>
              <a:rPr lang="ru-RU" b="1" dirty="0">
                <a:latin typeface="Segoe UI"/>
                <a:cs typeface="Segoe UI"/>
              </a:rPr>
              <a:t>реализация на Java WebSocket API</a:t>
            </a:r>
          </a:p>
          <a:p>
            <a:pPr marL="381000">
              <a:lnSpc>
                <a:spcPct val="100000"/>
              </a:lnSpc>
              <a:spcBef>
                <a:spcPts val="100"/>
              </a:spcBef>
            </a:pPr>
            <a:endParaRPr lang="ru-RU" b="1" dirty="0">
              <a:latin typeface="Segoe UI"/>
              <a:cs typeface="Segoe UI"/>
            </a:endParaRPr>
          </a:p>
          <a:p>
            <a:pPr marL="66675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ru-RU" b="1" dirty="0"/>
              <a:t>Часть 4. Проблемы </a:t>
            </a:r>
            <a:r>
              <a:rPr lang="ru-RU" b="1" dirty="0">
                <a:latin typeface="Segoe UI"/>
                <a:cs typeface="Segoe UI"/>
              </a:rPr>
              <a:t>производства и их решения</a:t>
            </a:r>
          </a:p>
          <a:p>
            <a:pPr marL="381000">
              <a:lnSpc>
                <a:spcPct val="100000"/>
              </a:lnSpc>
              <a:spcBef>
                <a:spcPts val="100"/>
              </a:spcBef>
            </a:pPr>
            <a:endParaRPr lang="ru-RU" b="1" dirty="0">
              <a:latin typeface="Segoe UI"/>
              <a:cs typeface="Segoe UI"/>
            </a:endParaRPr>
          </a:p>
          <a:p>
            <a:pPr marL="66675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ru-RU" b="1" dirty="0">
                <a:latin typeface="Segoe UI"/>
                <a:cs typeface="Segoe UI"/>
              </a:rPr>
              <a:t>Часть 5. Современные альтернативы и настоящее </a:t>
            </a:r>
            <a:r>
              <a:rPr lang="ru-RU" b="1" dirty="0" err="1">
                <a:latin typeface="Segoe UI"/>
                <a:cs typeface="Segoe UI"/>
              </a:rPr>
              <a:t>real-time</a:t>
            </a:r>
            <a:r>
              <a:rPr lang="ru-RU" b="1" dirty="0">
                <a:latin typeface="Segoe UI"/>
                <a:cs typeface="Segoe UI"/>
              </a:rPr>
              <a:t> коммуникаций</a:t>
            </a:r>
            <a:endParaRPr spc="-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7704" y="367665"/>
            <a:ext cx="11656695" cy="6551263"/>
            <a:chOff x="687705" y="367666"/>
            <a:chExt cx="11441430" cy="5852160"/>
          </a:xfrm>
        </p:grpSpPr>
        <p:sp>
          <p:nvSpPr>
            <p:cNvPr id="3" name="object 3"/>
            <p:cNvSpPr/>
            <p:nvPr/>
          </p:nvSpPr>
          <p:spPr>
            <a:xfrm>
              <a:off x="687705" y="367666"/>
              <a:ext cx="11441430" cy="5852160"/>
            </a:xfrm>
            <a:custGeom>
              <a:avLst/>
              <a:gdLst/>
              <a:ahLst/>
              <a:cxnLst/>
              <a:rect l="l" t="t" r="r" b="b"/>
              <a:pathLst>
                <a:path w="11441430" h="5852160">
                  <a:moveTo>
                    <a:pt x="0" y="5720715"/>
                  </a:moveTo>
                  <a:lnTo>
                    <a:pt x="0" y="131445"/>
                  </a:lnTo>
                  <a:lnTo>
                    <a:pt x="157" y="124987"/>
                  </a:lnTo>
                  <a:lnTo>
                    <a:pt x="7680" y="87166"/>
                  </a:lnTo>
                  <a:lnTo>
                    <a:pt x="25871" y="53134"/>
                  </a:lnTo>
                  <a:lnTo>
                    <a:pt x="53136" y="25869"/>
                  </a:lnTo>
                  <a:lnTo>
                    <a:pt x="87169" y="7678"/>
                  </a:lnTo>
                  <a:lnTo>
                    <a:pt x="124987" y="158"/>
                  </a:lnTo>
                  <a:lnTo>
                    <a:pt x="131445" y="0"/>
                  </a:lnTo>
                  <a:lnTo>
                    <a:pt x="11309985" y="0"/>
                  </a:lnTo>
                  <a:lnTo>
                    <a:pt x="11348141" y="5657"/>
                  </a:lnTo>
                  <a:lnTo>
                    <a:pt x="11383010" y="22149"/>
                  </a:lnTo>
                  <a:lnTo>
                    <a:pt x="11411594" y="48054"/>
                  </a:lnTo>
                  <a:lnTo>
                    <a:pt x="11431423" y="81140"/>
                  </a:lnTo>
                  <a:lnTo>
                    <a:pt x="11440798" y="118560"/>
                  </a:lnTo>
                  <a:lnTo>
                    <a:pt x="11441430" y="131445"/>
                  </a:lnTo>
                  <a:lnTo>
                    <a:pt x="11441430" y="5720715"/>
                  </a:lnTo>
                  <a:lnTo>
                    <a:pt x="11435770" y="5758870"/>
                  </a:lnTo>
                  <a:lnTo>
                    <a:pt x="11419277" y="5793739"/>
                  </a:lnTo>
                  <a:lnTo>
                    <a:pt x="11393372" y="5822322"/>
                  </a:lnTo>
                  <a:lnTo>
                    <a:pt x="11360286" y="5842153"/>
                  </a:lnTo>
                  <a:lnTo>
                    <a:pt x="11322868" y="5851528"/>
                  </a:lnTo>
                  <a:lnTo>
                    <a:pt x="11309985" y="5852160"/>
                  </a:lnTo>
                  <a:lnTo>
                    <a:pt x="131445" y="5852160"/>
                  </a:lnTo>
                  <a:lnTo>
                    <a:pt x="93288" y="5846499"/>
                  </a:lnTo>
                  <a:lnTo>
                    <a:pt x="58418" y="5830006"/>
                  </a:lnTo>
                  <a:lnTo>
                    <a:pt x="29835" y="5804102"/>
                  </a:lnTo>
                  <a:lnTo>
                    <a:pt x="10005" y="5771014"/>
                  </a:lnTo>
                  <a:lnTo>
                    <a:pt x="631" y="5733597"/>
                  </a:lnTo>
                  <a:lnTo>
                    <a:pt x="0" y="5720715"/>
                  </a:lnTo>
                  <a:close/>
                </a:path>
              </a:pathLst>
            </a:custGeom>
            <a:ln w="11430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04003" y="1956521"/>
              <a:ext cx="10744200" cy="11430"/>
            </a:xfrm>
            <a:custGeom>
              <a:avLst/>
              <a:gdLst/>
              <a:ahLst/>
              <a:cxnLst/>
              <a:rect l="l" t="t" r="r" b="b"/>
              <a:pathLst>
                <a:path w="10744200" h="11430">
                  <a:moveTo>
                    <a:pt x="10744200" y="11430"/>
                  </a:moveTo>
                  <a:lnTo>
                    <a:pt x="0" y="11430"/>
                  </a:lnTo>
                  <a:lnTo>
                    <a:pt x="0" y="0"/>
                  </a:lnTo>
                  <a:lnTo>
                    <a:pt x="10744200" y="0"/>
                  </a:lnTo>
                  <a:lnTo>
                    <a:pt x="10744200" y="1143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47737" y="853471"/>
            <a:ext cx="7055484" cy="4001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ru-RU" dirty="0"/>
              <a:t>Что такое </a:t>
            </a:r>
            <a:r>
              <a:rPr lang="en-US" dirty="0"/>
              <a:t>HTTP API?</a:t>
            </a:r>
            <a:endParaRPr spc="-10" dirty="0"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3ADE8D64-5793-4358-8F6C-B3220136DD59}"/>
              </a:ext>
            </a:extLst>
          </p:cNvPr>
          <p:cNvSpPr/>
          <p:nvPr/>
        </p:nvSpPr>
        <p:spPr>
          <a:xfrm>
            <a:off x="979473" y="2571858"/>
            <a:ext cx="10869297" cy="2055464"/>
          </a:xfrm>
          <a:custGeom>
            <a:avLst/>
            <a:gdLst/>
            <a:ahLst/>
            <a:cxnLst/>
            <a:rect l="l" t="t" r="r" b="b"/>
            <a:pathLst>
              <a:path w="10732770" h="548639">
                <a:moveTo>
                  <a:pt x="0" y="462915"/>
                </a:moveTo>
                <a:lnTo>
                  <a:pt x="0" y="85725"/>
                </a:lnTo>
                <a:lnTo>
                  <a:pt x="0" y="80096"/>
                </a:lnTo>
                <a:lnTo>
                  <a:pt x="549" y="74521"/>
                </a:lnTo>
                <a:lnTo>
                  <a:pt x="1647" y="69001"/>
                </a:lnTo>
                <a:lnTo>
                  <a:pt x="2745" y="63478"/>
                </a:lnTo>
                <a:lnTo>
                  <a:pt x="4371" y="58115"/>
                </a:lnTo>
                <a:lnTo>
                  <a:pt x="25108" y="25105"/>
                </a:lnTo>
                <a:lnTo>
                  <a:pt x="29088" y="21123"/>
                </a:lnTo>
                <a:lnTo>
                  <a:pt x="33418" y="17572"/>
                </a:lnTo>
                <a:lnTo>
                  <a:pt x="38098" y="14444"/>
                </a:lnTo>
                <a:lnTo>
                  <a:pt x="42778" y="11315"/>
                </a:lnTo>
                <a:lnTo>
                  <a:pt x="80096" y="0"/>
                </a:lnTo>
                <a:lnTo>
                  <a:pt x="85725" y="0"/>
                </a:lnTo>
                <a:lnTo>
                  <a:pt x="10647045" y="0"/>
                </a:lnTo>
                <a:lnTo>
                  <a:pt x="10652673" y="0"/>
                </a:lnTo>
                <a:lnTo>
                  <a:pt x="10658248" y="549"/>
                </a:lnTo>
                <a:lnTo>
                  <a:pt x="10694670" y="14444"/>
                </a:lnTo>
                <a:lnTo>
                  <a:pt x="10707661" y="25105"/>
                </a:lnTo>
                <a:lnTo>
                  <a:pt x="10711642" y="29085"/>
                </a:lnTo>
                <a:lnTo>
                  <a:pt x="10730023" y="63476"/>
                </a:lnTo>
                <a:lnTo>
                  <a:pt x="10732770" y="85725"/>
                </a:lnTo>
                <a:lnTo>
                  <a:pt x="10732770" y="462915"/>
                </a:lnTo>
                <a:lnTo>
                  <a:pt x="10724089" y="500916"/>
                </a:lnTo>
                <a:lnTo>
                  <a:pt x="10699351" y="531062"/>
                </a:lnTo>
                <a:lnTo>
                  <a:pt x="10694670" y="534187"/>
                </a:lnTo>
                <a:lnTo>
                  <a:pt x="10689990" y="537316"/>
                </a:lnTo>
                <a:lnTo>
                  <a:pt x="10685049" y="539958"/>
                </a:lnTo>
                <a:lnTo>
                  <a:pt x="10679850" y="542110"/>
                </a:lnTo>
                <a:lnTo>
                  <a:pt x="10674650" y="544264"/>
                </a:lnTo>
                <a:lnTo>
                  <a:pt x="10647045" y="548640"/>
                </a:lnTo>
                <a:lnTo>
                  <a:pt x="85725" y="548640"/>
                </a:lnTo>
                <a:lnTo>
                  <a:pt x="52919" y="542110"/>
                </a:lnTo>
                <a:lnTo>
                  <a:pt x="47719" y="539958"/>
                </a:lnTo>
                <a:lnTo>
                  <a:pt x="42778" y="537316"/>
                </a:lnTo>
                <a:lnTo>
                  <a:pt x="38098" y="534187"/>
                </a:lnTo>
                <a:lnTo>
                  <a:pt x="33418" y="531062"/>
                </a:lnTo>
                <a:lnTo>
                  <a:pt x="8679" y="500916"/>
                </a:lnTo>
                <a:lnTo>
                  <a:pt x="0" y="468543"/>
                </a:lnTo>
                <a:lnTo>
                  <a:pt x="0" y="462915"/>
                </a:lnTo>
                <a:close/>
              </a:path>
            </a:pathLst>
          </a:custGeom>
          <a:ln w="11430">
            <a:solidFill>
              <a:srgbClr val="DDDD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EB37F071-7DE9-AFCB-C035-25C94DBF893B}"/>
              </a:ext>
            </a:extLst>
          </p:cNvPr>
          <p:cNvSpPr/>
          <p:nvPr/>
        </p:nvSpPr>
        <p:spPr>
          <a:xfrm>
            <a:off x="1009953" y="5058768"/>
            <a:ext cx="10744199" cy="1690438"/>
          </a:xfrm>
          <a:custGeom>
            <a:avLst/>
            <a:gdLst/>
            <a:ahLst/>
            <a:cxnLst/>
            <a:rect l="l" t="t" r="r" b="b"/>
            <a:pathLst>
              <a:path w="10732770" h="548639">
                <a:moveTo>
                  <a:pt x="0" y="462915"/>
                </a:moveTo>
                <a:lnTo>
                  <a:pt x="0" y="85725"/>
                </a:lnTo>
                <a:lnTo>
                  <a:pt x="0" y="80096"/>
                </a:lnTo>
                <a:lnTo>
                  <a:pt x="549" y="74521"/>
                </a:lnTo>
                <a:lnTo>
                  <a:pt x="1647" y="69001"/>
                </a:lnTo>
                <a:lnTo>
                  <a:pt x="2745" y="63478"/>
                </a:lnTo>
                <a:lnTo>
                  <a:pt x="4371" y="58115"/>
                </a:lnTo>
                <a:lnTo>
                  <a:pt x="25108" y="25105"/>
                </a:lnTo>
                <a:lnTo>
                  <a:pt x="29088" y="21123"/>
                </a:lnTo>
                <a:lnTo>
                  <a:pt x="33418" y="17572"/>
                </a:lnTo>
                <a:lnTo>
                  <a:pt x="38098" y="14444"/>
                </a:lnTo>
                <a:lnTo>
                  <a:pt x="42778" y="11315"/>
                </a:lnTo>
                <a:lnTo>
                  <a:pt x="80096" y="0"/>
                </a:lnTo>
                <a:lnTo>
                  <a:pt x="85725" y="0"/>
                </a:lnTo>
                <a:lnTo>
                  <a:pt x="10647045" y="0"/>
                </a:lnTo>
                <a:lnTo>
                  <a:pt x="10652673" y="0"/>
                </a:lnTo>
                <a:lnTo>
                  <a:pt x="10658248" y="549"/>
                </a:lnTo>
                <a:lnTo>
                  <a:pt x="10694670" y="14444"/>
                </a:lnTo>
                <a:lnTo>
                  <a:pt x="10707661" y="25105"/>
                </a:lnTo>
                <a:lnTo>
                  <a:pt x="10711642" y="29085"/>
                </a:lnTo>
                <a:lnTo>
                  <a:pt x="10730023" y="63476"/>
                </a:lnTo>
                <a:lnTo>
                  <a:pt x="10732770" y="85725"/>
                </a:lnTo>
                <a:lnTo>
                  <a:pt x="10732770" y="462915"/>
                </a:lnTo>
                <a:lnTo>
                  <a:pt x="10724089" y="500916"/>
                </a:lnTo>
                <a:lnTo>
                  <a:pt x="10699351" y="531062"/>
                </a:lnTo>
                <a:lnTo>
                  <a:pt x="10694670" y="534187"/>
                </a:lnTo>
                <a:lnTo>
                  <a:pt x="10689990" y="537316"/>
                </a:lnTo>
                <a:lnTo>
                  <a:pt x="10685049" y="539958"/>
                </a:lnTo>
                <a:lnTo>
                  <a:pt x="10679850" y="542110"/>
                </a:lnTo>
                <a:lnTo>
                  <a:pt x="10674650" y="544264"/>
                </a:lnTo>
                <a:lnTo>
                  <a:pt x="10647045" y="548640"/>
                </a:lnTo>
                <a:lnTo>
                  <a:pt x="85725" y="548640"/>
                </a:lnTo>
                <a:lnTo>
                  <a:pt x="52919" y="542110"/>
                </a:lnTo>
                <a:lnTo>
                  <a:pt x="47719" y="539958"/>
                </a:lnTo>
                <a:lnTo>
                  <a:pt x="42778" y="537316"/>
                </a:lnTo>
                <a:lnTo>
                  <a:pt x="38098" y="534187"/>
                </a:lnTo>
                <a:lnTo>
                  <a:pt x="33418" y="531062"/>
                </a:lnTo>
                <a:lnTo>
                  <a:pt x="8679" y="500916"/>
                </a:lnTo>
                <a:lnTo>
                  <a:pt x="0" y="468543"/>
                </a:lnTo>
                <a:lnTo>
                  <a:pt x="0" y="462915"/>
                </a:lnTo>
                <a:close/>
              </a:path>
            </a:pathLst>
          </a:custGeom>
          <a:ln w="11430">
            <a:solidFill>
              <a:srgbClr val="DDDDDD"/>
            </a:solidFill>
          </a:ln>
        </p:spPr>
        <p:txBody>
          <a:bodyPr wrap="square" lIns="0" tIns="0" rIns="0" bIns="0" rtlCol="0"/>
          <a:lstStyle/>
          <a:p>
            <a:r>
              <a:rPr lang="ru-RU" sz="1400" b="1" dirty="0">
                <a:latin typeface="Segoe UI" panose="020B0702040204020203" pitchFamily="34" charset="0"/>
                <a:cs typeface="Segoe UI" panose="020B0702040204020203" pitchFamily="34" charset="0"/>
              </a:rPr>
              <a:t>   Недостатки:</a:t>
            </a:r>
          </a:p>
          <a:p>
            <a:endParaRPr lang="ru-RU" sz="1400" dirty="0">
              <a:latin typeface="Segoe UI" panose="020B0702040204020203" pitchFamily="34" charset="0"/>
              <a:cs typeface="Segoe UI" panose="020B07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i="1" dirty="0">
                <a:latin typeface="Segoe UI" panose="020B0702040204020203" pitchFamily="34" charset="0"/>
                <a:cs typeface="Segoe UI" panose="020B0702040204020203" pitchFamily="34" charset="0"/>
              </a:rPr>
              <a:t>  Сервер держит соединения открытыми</a:t>
            </a:r>
          </a:p>
          <a:p>
            <a:endParaRPr lang="ru-RU" sz="1400" i="1" dirty="0">
              <a:latin typeface="Segoe UI" panose="020B0702040204020203" pitchFamily="34" charset="0"/>
              <a:cs typeface="Segoe UI" panose="020B07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i="1" dirty="0">
                <a:latin typeface="Segoe UI" panose="020B0702040204020203" pitchFamily="34" charset="0"/>
                <a:cs typeface="Segoe UI" panose="020B0702040204020203" pitchFamily="34" charset="0"/>
              </a:rPr>
              <a:t>  Сложность масштабирования</a:t>
            </a:r>
          </a:p>
          <a:p>
            <a:endParaRPr lang="ru-RU" sz="1400" i="1" dirty="0">
              <a:latin typeface="Segoe UI" panose="020B0702040204020203" pitchFamily="34" charset="0"/>
              <a:cs typeface="Segoe UI" panose="020B07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i="1" dirty="0">
                <a:latin typeface="Segoe UI" panose="020B0702040204020203" pitchFamily="34" charset="0"/>
                <a:cs typeface="Segoe UI" panose="020B0702040204020203" pitchFamily="34" charset="0"/>
              </a:rPr>
              <a:t>  Требует повторных подключений</a:t>
            </a:r>
            <a:endParaRPr sz="1400" i="1" dirty="0">
              <a:latin typeface="Segoe UI" panose="020B0702040204020203" pitchFamily="34" charset="0"/>
              <a:cs typeface="Segoe UI" panose="020B07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C10180-9C6B-1F3C-66E5-C916E6C40AD9}"/>
              </a:ext>
            </a:extLst>
          </p:cNvPr>
          <p:cNvSpPr txBox="1"/>
          <p:nvPr/>
        </p:nvSpPr>
        <p:spPr>
          <a:xfrm>
            <a:off x="1009953" y="2571858"/>
            <a:ext cx="10001263" cy="2074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i="0" dirty="0">
                <a:solidFill>
                  <a:srgbClr val="0F1115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Основные характеристики HTTP:</a:t>
            </a:r>
            <a:endParaRPr lang="ru-RU" sz="1400" dirty="0">
              <a:solidFill>
                <a:srgbClr val="0F1115"/>
              </a:solidFill>
              <a:latin typeface="Segoe UI" panose="020B0702040204020203" pitchFamily="34" charset="0"/>
              <a:cs typeface="Segoe UI" panose="020B0702040204020203" pitchFamily="34" charset="0"/>
            </a:endParaRPr>
          </a:p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1" i="1" dirty="0">
                <a:solidFill>
                  <a:srgbClr val="0F1115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Stateless (без состояния)</a:t>
            </a:r>
            <a:r>
              <a:rPr lang="ru-RU" sz="1400" b="0" i="1" dirty="0">
                <a:solidFill>
                  <a:srgbClr val="0F1115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: 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Каждый запрос независим, сервер не хранит информацию о предыдущих запросах</a:t>
            </a:r>
          </a:p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1" i="1" dirty="0">
                <a:solidFill>
                  <a:srgbClr val="0F1115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Соединение закрывается</a:t>
            </a:r>
            <a:r>
              <a:rPr lang="ru-RU" sz="1400" b="0" i="1" dirty="0">
                <a:solidFill>
                  <a:srgbClr val="0F1115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: 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После ответа соединение разрывается (в HTTP/1.0) или сохраняется для нескольких запросов (HTTP/1.1 Keep-Alive)</a:t>
            </a:r>
          </a:p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1" i="1" dirty="0">
                <a:solidFill>
                  <a:srgbClr val="0F1115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Инициатива всегда на клиенте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: Сервер не может отправить данные без запроса от клиента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04718A-72AE-3D9A-F8CF-3CF4F0A79703}"/>
              </a:ext>
            </a:extLst>
          </p:cNvPr>
          <p:cNvSpPr txBox="1"/>
          <p:nvPr/>
        </p:nvSpPr>
        <p:spPr>
          <a:xfrm>
            <a:off x="1061708" y="1469168"/>
            <a:ext cx="97869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600" b="1" i="0" dirty="0">
                <a:solidFill>
                  <a:srgbClr val="0F1115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HTTP (HyperText Transfer Protocol)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 - это протокол прикладного уровня, основанный на модели </a:t>
            </a:r>
            <a:r>
              <a:rPr lang="ru-RU" sz="1600" b="1" i="0" dirty="0">
                <a:solidFill>
                  <a:srgbClr val="0F1115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запрос-ответ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 (</a:t>
            </a:r>
            <a:r>
              <a:rPr lang="ru-RU" sz="1600" b="0" i="0" dirty="0" err="1">
                <a:solidFill>
                  <a:srgbClr val="0F1115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request-response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Segoe UI" panose="020B0702040204020203" pitchFamily="34" charset="0"/>
                <a:cs typeface="Segoe UI" panose="020B0702040204020203" pitchFamily="34" charset="0"/>
              </a:rPr>
              <a:t>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7D94C9C-61C9-2744-F4EA-C0E28DEA3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7101032-F7DA-46C2-F1FE-4C152076D8B2}"/>
              </a:ext>
            </a:extLst>
          </p:cNvPr>
          <p:cNvGrpSpPr/>
          <p:nvPr/>
        </p:nvGrpSpPr>
        <p:grpSpPr>
          <a:xfrm>
            <a:off x="687705" y="367666"/>
            <a:ext cx="11441430" cy="5852160"/>
            <a:chOff x="687705" y="367666"/>
            <a:chExt cx="11441430" cy="585216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73A1C8E3-B9E5-839D-1EEF-27ED6DD86AE2}"/>
                </a:ext>
              </a:extLst>
            </p:cNvPr>
            <p:cNvSpPr/>
            <p:nvPr/>
          </p:nvSpPr>
          <p:spPr>
            <a:xfrm>
              <a:off x="687705" y="367666"/>
              <a:ext cx="11441430" cy="5852160"/>
            </a:xfrm>
            <a:custGeom>
              <a:avLst/>
              <a:gdLst/>
              <a:ahLst/>
              <a:cxnLst/>
              <a:rect l="l" t="t" r="r" b="b"/>
              <a:pathLst>
                <a:path w="11441430" h="5852160">
                  <a:moveTo>
                    <a:pt x="0" y="5720715"/>
                  </a:moveTo>
                  <a:lnTo>
                    <a:pt x="0" y="131445"/>
                  </a:lnTo>
                  <a:lnTo>
                    <a:pt x="157" y="124987"/>
                  </a:lnTo>
                  <a:lnTo>
                    <a:pt x="7680" y="87166"/>
                  </a:lnTo>
                  <a:lnTo>
                    <a:pt x="25871" y="53134"/>
                  </a:lnTo>
                  <a:lnTo>
                    <a:pt x="53136" y="25869"/>
                  </a:lnTo>
                  <a:lnTo>
                    <a:pt x="87169" y="7678"/>
                  </a:lnTo>
                  <a:lnTo>
                    <a:pt x="124987" y="158"/>
                  </a:lnTo>
                  <a:lnTo>
                    <a:pt x="131445" y="0"/>
                  </a:lnTo>
                  <a:lnTo>
                    <a:pt x="11309985" y="0"/>
                  </a:lnTo>
                  <a:lnTo>
                    <a:pt x="11348141" y="5657"/>
                  </a:lnTo>
                  <a:lnTo>
                    <a:pt x="11383010" y="22149"/>
                  </a:lnTo>
                  <a:lnTo>
                    <a:pt x="11411594" y="48054"/>
                  </a:lnTo>
                  <a:lnTo>
                    <a:pt x="11431423" y="81140"/>
                  </a:lnTo>
                  <a:lnTo>
                    <a:pt x="11440798" y="118560"/>
                  </a:lnTo>
                  <a:lnTo>
                    <a:pt x="11441430" y="131445"/>
                  </a:lnTo>
                  <a:lnTo>
                    <a:pt x="11441430" y="5720715"/>
                  </a:lnTo>
                  <a:lnTo>
                    <a:pt x="11435770" y="5758870"/>
                  </a:lnTo>
                  <a:lnTo>
                    <a:pt x="11419277" y="5793739"/>
                  </a:lnTo>
                  <a:lnTo>
                    <a:pt x="11393372" y="5822322"/>
                  </a:lnTo>
                  <a:lnTo>
                    <a:pt x="11360286" y="5842153"/>
                  </a:lnTo>
                  <a:lnTo>
                    <a:pt x="11322868" y="5851528"/>
                  </a:lnTo>
                  <a:lnTo>
                    <a:pt x="11309985" y="5852160"/>
                  </a:lnTo>
                  <a:lnTo>
                    <a:pt x="131445" y="5852160"/>
                  </a:lnTo>
                  <a:lnTo>
                    <a:pt x="93288" y="5846499"/>
                  </a:lnTo>
                  <a:lnTo>
                    <a:pt x="58418" y="5830006"/>
                  </a:lnTo>
                  <a:lnTo>
                    <a:pt x="29835" y="5804102"/>
                  </a:lnTo>
                  <a:lnTo>
                    <a:pt x="10005" y="5771014"/>
                  </a:lnTo>
                  <a:lnTo>
                    <a:pt x="631" y="5733597"/>
                  </a:lnTo>
                  <a:lnTo>
                    <a:pt x="0" y="5720715"/>
                  </a:lnTo>
                  <a:close/>
                </a:path>
              </a:pathLst>
            </a:custGeom>
            <a:ln w="11430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75319DA-4924-4BA1-1F19-E328121EDF45}"/>
                </a:ext>
              </a:extLst>
            </p:cNvPr>
            <p:cNvSpPr/>
            <p:nvPr/>
          </p:nvSpPr>
          <p:spPr>
            <a:xfrm>
              <a:off x="1017903" y="1775421"/>
              <a:ext cx="10744200" cy="11430"/>
            </a:xfrm>
            <a:custGeom>
              <a:avLst/>
              <a:gdLst/>
              <a:ahLst/>
              <a:cxnLst/>
              <a:rect l="l" t="t" r="r" b="b"/>
              <a:pathLst>
                <a:path w="10744200" h="11430">
                  <a:moveTo>
                    <a:pt x="10744200" y="11430"/>
                  </a:moveTo>
                  <a:lnTo>
                    <a:pt x="0" y="11430"/>
                  </a:lnTo>
                  <a:lnTo>
                    <a:pt x="0" y="0"/>
                  </a:lnTo>
                  <a:lnTo>
                    <a:pt x="10744200" y="0"/>
                  </a:lnTo>
                  <a:lnTo>
                    <a:pt x="10744200" y="1143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FB64DB4-E672-F276-4E24-AA699A27A4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7737" y="853471"/>
            <a:ext cx="7055484" cy="784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ru-RU" dirty="0"/>
              <a:t>Пример:</a:t>
            </a:r>
            <a:br>
              <a:rPr lang="ru-RU" dirty="0"/>
            </a:br>
            <a:r>
              <a:rPr lang="ru-RU" dirty="0"/>
              <a:t>Представьте,</a:t>
            </a:r>
            <a:r>
              <a:rPr lang="ru-RU" spc="-40" dirty="0"/>
              <a:t> </a:t>
            </a:r>
            <a:r>
              <a:rPr lang="ru-RU" dirty="0"/>
              <a:t>что</a:t>
            </a:r>
            <a:r>
              <a:rPr lang="ru-RU" spc="-40" dirty="0"/>
              <a:t> </a:t>
            </a:r>
            <a:r>
              <a:rPr dirty="0" err="1"/>
              <a:t>вы</a:t>
            </a:r>
            <a:r>
              <a:rPr spc="-35" dirty="0"/>
              <a:t> </a:t>
            </a:r>
            <a:r>
              <a:rPr spc="-10" dirty="0" err="1"/>
              <a:t>общаетесь</a:t>
            </a:r>
            <a:endParaRPr spc="-10" dirty="0"/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F7BEDDC0-7285-25B2-71E4-6304F007E5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83329"/>
              </p:ext>
            </p:extLst>
          </p:nvPr>
        </p:nvGraphicFramePr>
        <p:xfrm>
          <a:off x="1023619" y="2392651"/>
          <a:ext cx="10732769" cy="32804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8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9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59"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000" b="1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HTTP</a:t>
                      </a:r>
                      <a:r>
                        <a:rPr sz="1000" b="1" spc="-4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—</a:t>
                      </a:r>
                      <a:r>
                        <a:rPr sz="1000" b="1" spc="-4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как</a:t>
                      </a:r>
                      <a:r>
                        <a:rPr sz="1000" b="1" spc="-35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10" dirty="0" err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письма</a:t>
                      </a:r>
                      <a:r>
                        <a:rPr sz="1000" b="1" spc="-4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endParaRPr sz="115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139700"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WebSocket</a:t>
                      </a:r>
                      <a:r>
                        <a:rPr sz="1000" b="1" spc="-45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—</a:t>
                      </a:r>
                      <a:r>
                        <a:rPr sz="1000" b="1" spc="-4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как</a:t>
                      </a:r>
                      <a:r>
                        <a:rPr sz="1000" b="1" spc="-4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10" dirty="0" err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телефон</a:t>
                      </a:r>
                      <a:r>
                        <a:rPr sz="1000" b="1" spc="-4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57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350">
                <a:tc>
                  <a:txBody>
                    <a:bodyPr/>
                    <a:lstStyle/>
                    <a:p>
                      <a:pPr marL="485775" marR="1241425">
                        <a:lnSpc>
                          <a:spcPct val="183300"/>
                        </a:lnSpc>
                        <a:spcBef>
                          <a:spcPts val="765"/>
                        </a:spcBef>
                      </a:pPr>
                      <a:r>
                        <a:rPr sz="180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Каждое</a:t>
                      </a:r>
                      <a:r>
                        <a:rPr sz="1800" spc="-2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сообщение</a:t>
                      </a:r>
                      <a:r>
                        <a:rPr sz="1800" spc="-2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—</a:t>
                      </a:r>
                      <a:r>
                        <a:rPr sz="1800" spc="-15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новый</a:t>
                      </a:r>
                      <a:r>
                        <a:rPr sz="1800" spc="-2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конверт </a:t>
                      </a:r>
                      <a:r>
                        <a:rPr sz="180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Ждёте</a:t>
                      </a:r>
                      <a:r>
                        <a:rPr sz="1800" spc="-6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ответа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  <a:p>
                      <a:pPr marL="485775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sz="180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Много накладных </a:t>
                      </a:r>
                      <a:r>
                        <a:rPr sz="1800" spc="-1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расходов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  <a:p>
                      <a:pPr marL="485775" marR="734060">
                        <a:lnSpc>
                          <a:spcPct val="133300"/>
                        </a:lnSpc>
                        <a:spcBef>
                          <a:spcPts val="1080"/>
                        </a:spcBef>
                      </a:pPr>
                      <a:r>
                        <a:rPr sz="180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Вы</a:t>
                      </a:r>
                      <a:r>
                        <a:rPr sz="1800" spc="-1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не</a:t>
                      </a:r>
                      <a:r>
                        <a:rPr sz="1800" spc="-1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узнаете,</a:t>
                      </a:r>
                      <a:r>
                        <a:rPr sz="1800" spc="-1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что</a:t>
                      </a:r>
                      <a:r>
                        <a:rPr sz="1800" spc="-1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друг</a:t>
                      </a:r>
                      <a:r>
                        <a:rPr sz="1800" spc="-1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ответил,</a:t>
                      </a:r>
                      <a:r>
                        <a:rPr sz="1800" spc="-5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пока</a:t>
                      </a:r>
                      <a:r>
                        <a:rPr sz="1800" spc="-1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не </a:t>
                      </a:r>
                      <a:r>
                        <a:rPr sz="180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спросите </a:t>
                      </a:r>
                      <a:r>
                        <a:rPr sz="1800" spc="-1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снова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82600" marR="593725">
                        <a:lnSpc>
                          <a:spcPct val="133300"/>
                        </a:lnSpc>
                        <a:spcBef>
                          <a:spcPts val="1845"/>
                        </a:spcBef>
                      </a:pPr>
                      <a:r>
                        <a:rPr sz="180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Один</a:t>
                      </a:r>
                      <a:r>
                        <a:rPr sz="1800" spc="-4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звонок</a:t>
                      </a:r>
                      <a:r>
                        <a:rPr sz="1800" spc="-35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—</a:t>
                      </a:r>
                      <a:r>
                        <a:rPr sz="1800" spc="-4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бесконечный разговор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  <a:p>
                      <a:pPr marL="482600" marR="189230">
                        <a:lnSpc>
                          <a:spcPct val="183300"/>
                        </a:lnSpc>
                      </a:pPr>
                      <a:r>
                        <a:rPr sz="180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Говорите </a:t>
                      </a:r>
                      <a:r>
                        <a:rPr sz="1800" spc="-1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одновременно </a:t>
                      </a:r>
                      <a:r>
                        <a:rPr sz="180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Минимум накладных </a:t>
                      </a:r>
                      <a:r>
                        <a:rPr sz="1800" spc="-1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расходов </a:t>
                      </a:r>
                      <a:r>
                        <a:rPr sz="180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Сообщение приходит </a:t>
                      </a:r>
                      <a:r>
                        <a:rPr sz="1800" spc="-1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мгновенно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2343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3663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65EEB9F-E8C2-E825-C895-3981F3344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0FCA712-91C3-3574-B10F-D7217FAA93C8}"/>
              </a:ext>
            </a:extLst>
          </p:cNvPr>
          <p:cNvGrpSpPr/>
          <p:nvPr/>
        </p:nvGrpSpPr>
        <p:grpSpPr>
          <a:xfrm>
            <a:off x="533400" y="457200"/>
            <a:ext cx="12123653" cy="6477000"/>
            <a:chOff x="687705" y="367666"/>
            <a:chExt cx="11441430" cy="451485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B07836E3-CB14-A8E5-2B13-4524A6D985D2}"/>
                </a:ext>
              </a:extLst>
            </p:cNvPr>
            <p:cNvSpPr/>
            <p:nvPr/>
          </p:nvSpPr>
          <p:spPr>
            <a:xfrm>
              <a:off x="687705" y="367666"/>
              <a:ext cx="11441430" cy="4514850"/>
            </a:xfrm>
            <a:custGeom>
              <a:avLst/>
              <a:gdLst/>
              <a:ahLst/>
              <a:cxnLst/>
              <a:rect l="l" t="t" r="r" b="b"/>
              <a:pathLst>
                <a:path w="11441430" h="4514850">
                  <a:moveTo>
                    <a:pt x="0" y="4383405"/>
                  </a:moveTo>
                  <a:lnTo>
                    <a:pt x="0" y="131445"/>
                  </a:lnTo>
                  <a:lnTo>
                    <a:pt x="157" y="124987"/>
                  </a:lnTo>
                  <a:lnTo>
                    <a:pt x="7680" y="87167"/>
                  </a:lnTo>
                  <a:lnTo>
                    <a:pt x="25871" y="53134"/>
                  </a:lnTo>
                  <a:lnTo>
                    <a:pt x="53136" y="25868"/>
                  </a:lnTo>
                  <a:lnTo>
                    <a:pt x="87169" y="7677"/>
                  </a:lnTo>
                  <a:lnTo>
                    <a:pt x="124987" y="157"/>
                  </a:lnTo>
                  <a:lnTo>
                    <a:pt x="131445" y="0"/>
                  </a:lnTo>
                  <a:lnTo>
                    <a:pt x="11309985" y="0"/>
                  </a:lnTo>
                  <a:lnTo>
                    <a:pt x="11348141" y="5656"/>
                  </a:lnTo>
                  <a:lnTo>
                    <a:pt x="11383010" y="22150"/>
                  </a:lnTo>
                  <a:lnTo>
                    <a:pt x="11411594" y="48054"/>
                  </a:lnTo>
                  <a:lnTo>
                    <a:pt x="11431423" y="81141"/>
                  </a:lnTo>
                  <a:lnTo>
                    <a:pt x="11440798" y="118560"/>
                  </a:lnTo>
                  <a:lnTo>
                    <a:pt x="11441430" y="131445"/>
                  </a:lnTo>
                  <a:lnTo>
                    <a:pt x="11441430" y="4383405"/>
                  </a:lnTo>
                  <a:lnTo>
                    <a:pt x="11435770" y="4421559"/>
                  </a:lnTo>
                  <a:lnTo>
                    <a:pt x="11419277" y="4456428"/>
                  </a:lnTo>
                  <a:lnTo>
                    <a:pt x="11393372" y="4485012"/>
                  </a:lnTo>
                  <a:lnTo>
                    <a:pt x="11360286" y="4504840"/>
                  </a:lnTo>
                  <a:lnTo>
                    <a:pt x="11322868" y="4514218"/>
                  </a:lnTo>
                  <a:lnTo>
                    <a:pt x="11309985" y="4514850"/>
                  </a:lnTo>
                  <a:lnTo>
                    <a:pt x="131445" y="4514850"/>
                  </a:lnTo>
                  <a:lnTo>
                    <a:pt x="93288" y="4509187"/>
                  </a:lnTo>
                  <a:lnTo>
                    <a:pt x="58418" y="4492693"/>
                  </a:lnTo>
                  <a:lnTo>
                    <a:pt x="29835" y="4466789"/>
                  </a:lnTo>
                  <a:lnTo>
                    <a:pt x="10005" y="4433704"/>
                  </a:lnTo>
                  <a:lnTo>
                    <a:pt x="631" y="4396287"/>
                  </a:lnTo>
                  <a:lnTo>
                    <a:pt x="0" y="4383405"/>
                  </a:lnTo>
                  <a:close/>
                </a:path>
              </a:pathLst>
            </a:custGeom>
            <a:ln w="11430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4C04FAE-45BB-6435-4EBB-2CB392EC18E1}"/>
                </a:ext>
              </a:extLst>
            </p:cNvPr>
            <p:cNvSpPr/>
            <p:nvPr/>
          </p:nvSpPr>
          <p:spPr>
            <a:xfrm>
              <a:off x="1023619" y="1272193"/>
              <a:ext cx="10744200" cy="11430"/>
            </a:xfrm>
            <a:custGeom>
              <a:avLst/>
              <a:gdLst/>
              <a:ahLst/>
              <a:cxnLst/>
              <a:rect l="l" t="t" r="r" b="b"/>
              <a:pathLst>
                <a:path w="10744200" h="11430">
                  <a:moveTo>
                    <a:pt x="10744200" y="11430"/>
                  </a:moveTo>
                  <a:lnTo>
                    <a:pt x="0" y="11430"/>
                  </a:lnTo>
                  <a:lnTo>
                    <a:pt x="0" y="0"/>
                  </a:lnTo>
                  <a:lnTo>
                    <a:pt x="10744200" y="0"/>
                  </a:lnTo>
                  <a:lnTo>
                    <a:pt x="10744200" y="1143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E15B414-0CFD-C20D-EAD4-C5FB34A04071}"/>
                </a:ext>
              </a:extLst>
            </p:cNvPr>
            <p:cNvSpPr/>
            <p:nvPr/>
          </p:nvSpPr>
          <p:spPr>
            <a:xfrm>
              <a:off x="852486" y="1899972"/>
              <a:ext cx="10732770" cy="2825637"/>
            </a:xfrm>
            <a:custGeom>
              <a:avLst/>
              <a:gdLst/>
              <a:ahLst/>
              <a:cxnLst/>
              <a:rect l="l" t="t" r="r" b="b"/>
              <a:pathLst>
                <a:path w="10732770" h="548639">
                  <a:moveTo>
                    <a:pt x="0" y="462915"/>
                  </a:moveTo>
                  <a:lnTo>
                    <a:pt x="0" y="85725"/>
                  </a:lnTo>
                  <a:lnTo>
                    <a:pt x="0" y="80096"/>
                  </a:lnTo>
                  <a:lnTo>
                    <a:pt x="549" y="74521"/>
                  </a:lnTo>
                  <a:lnTo>
                    <a:pt x="1647" y="69001"/>
                  </a:lnTo>
                  <a:lnTo>
                    <a:pt x="2745" y="63478"/>
                  </a:lnTo>
                  <a:lnTo>
                    <a:pt x="4371" y="58115"/>
                  </a:lnTo>
                  <a:lnTo>
                    <a:pt x="25108" y="25105"/>
                  </a:lnTo>
                  <a:lnTo>
                    <a:pt x="29088" y="21123"/>
                  </a:lnTo>
                  <a:lnTo>
                    <a:pt x="33418" y="17572"/>
                  </a:lnTo>
                  <a:lnTo>
                    <a:pt x="38098" y="14444"/>
                  </a:lnTo>
                  <a:lnTo>
                    <a:pt x="42778" y="11315"/>
                  </a:lnTo>
                  <a:lnTo>
                    <a:pt x="80096" y="0"/>
                  </a:lnTo>
                  <a:lnTo>
                    <a:pt x="85725" y="0"/>
                  </a:lnTo>
                  <a:lnTo>
                    <a:pt x="10647045" y="0"/>
                  </a:lnTo>
                  <a:lnTo>
                    <a:pt x="10652673" y="0"/>
                  </a:lnTo>
                  <a:lnTo>
                    <a:pt x="10658248" y="549"/>
                  </a:lnTo>
                  <a:lnTo>
                    <a:pt x="10694670" y="14444"/>
                  </a:lnTo>
                  <a:lnTo>
                    <a:pt x="10707661" y="25105"/>
                  </a:lnTo>
                  <a:lnTo>
                    <a:pt x="10711642" y="29085"/>
                  </a:lnTo>
                  <a:lnTo>
                    <a:pt x="10730023" y="63476"/>
                  </a:lnTo>
                  <a:lnTo>
                    <a:pt x="10732770" y="85725"/>
                  </a:lnTo>
                  <a:lnTo>
                    <a:pt x="10732770" y="462915"/>
                  </a:lnTo>
                  <a:lnTo>
                    <a:pt x="10724089" y="500916"/>
                  </a:lnTo>
                  <a:lnTo>
                    <a:pt x="10699351" y="531062"/>
                  </a:lnTo>
                  <a:lnTo>
                    <a:pt x="10694670" y="534187"/>
                  </a:lnTo>
                  <a:lnTo>
                    <a:pt x="10689990" y="537316"/>
                  </a:lnTo>
                  <a:lnTo>
                    <a:pt x="10685049" y="539958"/>
                  </a:lnTo>
                  <a:lnTo>
                    <a:pt x="10679850" y="542110"/>
                  </a:lnTo>
                  <a:lnTo>
                    <a:pt x="10674650" y="544264"/>
                  </a:lnTo>
                  <a:lnTo>
                    <a:pt x="10647045" y="548640"/>
                  </a:lnTo>
                  <a:lnTo>
                    <a:pt x="85725" y="548640"/>
                  </a:lnTo>
                  <a:lnTo>
                    <a:pt x="52919" y="542110"/>
                  </a:lnTo>
                  <a:lnTo>
                    <a:pt x="47719" y="539958"/>
                  </a:lnTo>
                  <a:lnTo>
                    <a:pt x="42778" y="537316"/>
                  </a:lnTo>
                  <a:lnTo>
                    <a:pt x="38098" y="534187"/>
                  </a:lnTo>
                  <a:lnTo>
                    <a:pt x="33418" y="531062"/>
                  </a:lnTo>
                  <a:lnTo>
                    <a:pt x="8679" y="500916"/>
                  </a:lnTo>
                  <a:lnTo>
                    <a:pt x="0" y="468543"/>
                  </a:lnTo>
                  <a:lnTo>
                    <a:pt x="0" y="462915"/>
                  </a:lnTo>
                  <a:close/>
                </a:path>
              </a:pathLst>
            </a:custGeom>
            <a:ln w="11430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B9D766D4-D27A-A3D1-A3D8-5D663E3020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3619" y="743224"/>
            <a:ext cx="7055484" cy="784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lang="ru-RU" dirty="0"/>
              <a:t>Что такое </a:t>
            </a:r>
            <a:r>
              <a:rPr lang="en-US" dirty="0"/>
              <a:t>WebSocket API?</a:t>
            </a:r>
            <a:br>
              <a:rPr lang="en-US" dirty="0"/>
            </a:br>
            <a:endParaRPr spc="-1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76A4A3B-44A7-8125-F749-477F7CE45EA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23619" y="1732281"/>
            <a:ext cx="11090276" cy="45224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  <a:tabLst>
                <a:tab pos="3856354" algn="l"/>
              </a:tabLst>
            </a:pPr>
            <a:r>
              <a:rPr lang="ru-RU" sz="1800" b="1" spc="-50" dirty="0">
                <a:solidFill>
                  <a:srgbClr val="333333"/>
                </a:solidFill>
                <a:latin typeface="Segoe UI"/>
                <a:cs typeface="Segoe UI"/>
              </a:rPr>
              <a:t>WebSocket</a:t>
            </a:r>
            <a:r>
              <a:rPr lang="ru-RU" sz="1800" spc="-50" dirty="0">
                <a:solidFill>
                  <a:srgbClr val="333333"/>
                </a:solidFill>
                <a:latin typeface="Segoe UI"/>
                <a:cs typeface="Segoe UI"/>
              </a:rPr>
              <a:t> - это протокол полнодуплексной связи поверх TCP-соединения, предоставляющий постоянное двустороннее соединение между клиентом и сервером.</a:t>
            </a:r>
          </a:p>
          <a:p>
            <a:pPr marL="12700" marR="5080">
              <a:lnSpc>
                <a:spcPct val="133300"/>
              </a:lnSpc>
              <a:spcBef>
                <a:spcPts val="100"/>
              </a:spcBef>
              <a:tabLst>
                <a:tab pos="3856354" algn="l"/>
              </a:tabLst>
            </a:pPr>
            <a:endParaRPr lang="ru-RU" sz="1800" spc="-50" dirty="0">
              <a:solidFill>
                <a:srgbClr val="333333"/>
              </a:solidFill>
              <a:latin typeface="Segoe UI"/>
              <a:cs typeface="Segoe UI"/>
            </a:endParaRPr>
          </a:p>
          <a:p>
            <a:pPr marL="12700" marR="5080">
              <a:lnSpc>
                <a:spcPct val="133300"/>
              </a:lnSpc>
              <a:spcBef>
                <a:spcPts val="100"/>
              </a:spcBef>
              <a:tabLst>
                <a:tab pos="3856354" algn="l"/>
              </a:tabLst>
            </a:pPr>
            <a:r>
              <a:rPr lang="ru-RU" sz="1800" b="1" spc="-50" dirty="0">
                <a:solidFill>
                  <a:srgbClr val="333333"/>
                </a:solidFill>
                <a:latin typeface="Segoe UI"/>
                <a:cs typeface="Segoe UI"/>
              </a:rPr>
              <a:t>Ключевые особенности WebSocket API:</a:t>
            </a:r>
          </a:p>
          <a:p>
            <a:pPr marL="12700" marR="5080">
              <a:lnSpc>
                <a:spcPct val="133300"/>
              </a:lnSpc>
              <a:spcBef>
                <a:spcPts val="100"/>
              </a:spcBef>
              <a:tabLst>
                <a:tab pos="3856354" algn="l"/>
              </a:tabLst>
            </a:pPr>
            <a:endParaRPr lang="ru-RU" sz="1800" b="1" spc="-50" dirty="0">
              <a:solidFill>
                <a:srgbClr val="333333"/>
              </a:solidFill>
              <a:latin typeface="Segoe UI"/>
              <a:cs typeface="Segoe UI"/>
            </a:endParaRPr>
          </a:p>
          <a:p>
            <a:pPr marL="298450" marR="5080" indent="-285750">
              <a:lnSpc>
                <a:spcPct val="1333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856354" algn="l"/>
              </a:tabLst>
            </a:pPr>
            <a:r>
              <a:rPr lang="ru-RU" sz="1800" i="1" spc="-50" dirty="0">
                <a:solidFill>
                  <a:srgbClr val="333333"/>
                </a:solidFill>
                <a:latin typeface="Segoe UI"/>
                <a:cs typeface="Segoe UI"/>
              </a:rPr>
              <a:t>Двусторонняя связь (Full-</a:t>
            </a:r>
            <a:r>
              <a:rPr lang="ru-RU" sz="1800" i="1" spc="-50" dirty="0" err="1">
                <a:solidFill>
                  <a:srgbClr val="333333"/>
                </a:solidFill>
                <a:latin typeface="Segoe UI"/>
                <a:cs typeface="Segoe UI"/>
              </a:rPr>
              <a:t>Duplex</a:t>
            </a:r>
            <a:r>
              <a:rPr lang="ru-RU" sz="1800" i="1" spc="-50" dirty="0">
                <a:solidFill>
                  <a:srgbClr val="333333"/>
                </a:solidFill>
                <a:latin typeface="Segoe UI"/>
                <a:cs typeface="Segoe UI"/>
              </a:rPr>
              <a:t>): </a:t>
            </a:r>
            <a:r>
              <a:rPr lang="ru-RU" sz="1800" spc="-50" dirty="0">
                <a:solidFill>
                  <a:srgbClr val="333333"/>
                </a:solidFill>
                <a:latin typeface="Segoe UI"/>
                <a:cs typeface="Segoe UI"/>
              </a:rPr>
              <a:t>Клиент и сервер могут отправлять данные одновременно</a:t>
            </a:r>
          </a:p>
          <a:p>
            <a:pPr marL="12700" marR="5080">
              <a:lnSpc>
                <a:spcPct val="133300"/>
              </a:lnSpc>
              <a:spcBef>
                <a:spcPts val="100"/>
              </a:spcBef>
              <a:tabLst>
                <a:tab pos="3856354" algn="l"/>
              </a:tabLst>
            </a:pPr>
            <a:endParaRPr lang="ru-RU" sz="1800" spc="-50" dirty="0">
              <a:solidFill>
                <a:srgbClr val="333333"/>
              </a:solidFill>
              <a:latin typeface="Segoe UI"/>
              <a:cs typeface="Segoe UI"/>
            </a:endParaRPr>
          </a:p>
          <a:p>
            <a:pPr marL="298450" marR="5080" indent="-285750">
              <a:lnSpc>
                <a:spcPct val="1333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856354" algn="l"/>
              </a:tabLst>
            </a:pPr>
            <a:r>
              <a:rPr lang="ru-RU" sz="1800" i="1" spc="-50" dirty="0">
                <a:solidFill>
                  <a:srgbClr val="333333"/>
                </a:solidFill>
                <a:latin typeface="Segoe UI"/>
                <a:cs typeface="Segoe UI"/>
              </a:rPr>
              <a:t>Постоянное соединение: </a:t>
            </a:r>
            <a:r>
              <a:rPr lang="ru-RU" sz="1800" spc="-50" dirty="0">
                <a:solidFill>
                  <a:srgbClr val="333333"/>
                </a:solidFill>
                <a:latin typeface="Segoe UI"/>
                <a:cs typeface="Segoe UI"/>
              </a:rPr>
              <a:t>Одно соединение сохраняется на протяжении всей сессии</a:t>
            </a:r>
          </a:p>
          <a:p>
            <a:pPr marL="12700" marR="5080">
              <a:lnSpc>
                <a:spcPct val="133300"/>
              </a:lnSpc>
              <a:spcBef>
                <a:spcPts val="100"/>
              </a:spcBef>
              <a:tabLst>
                <a:tab pos="3856354" algn="l"/>
              </a:tabLst>
            </a:pPr>
            <a:endParaRPr lang="ru-RU" sz="1800" spc="-50" dirty="0">
              <a:solidFill>
                <a:srgbClr val="333333"/>
              </a:solidFill>
              <a:latin typeface="Segoe UI"/>
              <a:cs typeface="Segoe UI"/>
            </a:endParaRPr>
          </a:p>
          <a:p>
            <a:pPr marL="298450" marR="5080" indent="-285750">
              <a:lnSpc>
                <a:spcPct val="1333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856354" algn="l"/>
              </a:tabLst>
            </a:pPr>
            <a:r>
              <a:rPr lang="ru-RU" sz="1800" i="1" spc="-50" dirty="0">
                <a:solidFill>
                  <a:srgbClr val="333333"/>
                </a:solidFill>
                <a:latin typeface="Segoe UI"/>
                <a:cs typeface="Segoe UI"/>
              </a:rPr>
              <a:t>Низкий overhead: </a:t>
            </a:r>
            <a:r>
              <a:rPr lang="ru-RU" sz="1800" spc="-50" dirty="0">
                <a:solidFill>
                  <a:srgbClr val="333333"/>
                </a:solidFill>
                <a:latin typeface="Segoe UI"/>
                <a:cs typeface="Segoe UI"/>
              </a:rPr>
              <a:t>Минимальные заголовки после установления соединения</a:t>
            </a:r>
          </a:p>
          <a:p>
            <a:pPr marL="12700" marR="5080">
              <a:lnSpc>
                <a:spcPct val="133300"/>
              </a:lnSpc>
              <a:spcBef>
                <a:spcPts val="100"/>
              </a:spcBef>
              <a:tabLst>
                <a:tab pos="3856354" algn="l"/>
              </a:tabLst>
            </a:pPr>
            <a:endParaRPr lang="ru-RU" sz="1800" spc="-50" dirty="0">
              <a:solidFill>
                <a:srgbClr val="333333"/>
              </a:solidFill>
              <a:latin typeface="Segoe UI"/>
              <a:cs typeface="Segoe UI"/>
            </a:endParaRPr>
          </a:p>
          <a:p>
            <a:pPr marL="298450" marR="5080" indent="-285750">
              <a:lnSpc>
                <a:spcPct val="1333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856354" algn="l"/>
              </a:tabLst>
            </a:pPr>
            <a:r>
              <a:rPr lang="ru-RU" sz="1800" i="1" spc="-50" dirty="0">
                <a:solidFill>
                  <a:srgbClr val="333333"/>
                </a:solidFill>
                <a:latin typeface="Segoe UI"/>
                <a:cs typeface="Segoe UI"/>
              </a:rPr>
              <a:t>Сервер может инициировать отправку: </a:t>
            </a:r>
            <a:r>
              <a:rPr lang="ru-RU" sz="1800" spc="-50" dirty="0">
                <a:solidFill>
                  <a:srgbClr val="333333"/>
                </a:solidFill>
                <a:latin typeface="Segoe UI"/>
                <a:cs typeface="Segoe UI"/>
              </a:rPr>
              <a:t>Push-уведомления без запросов от клиента</a:t>
            </a:r>
            <a:r>
              <a:rPr sz="1800" spc="-50" dirty="0">
                <a:solidFill>
                  <a:srgbClr val="333333"/>
                </a:solidFill>
                <a:latin typeface="Segoe UI"/>
                <a:cs typeface="Segoe UI"/>
              </a:rPr>
              <a:t>.</a:t>
            </a:r>
            <a:endParaRPr sz="18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932982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0" y="381000"/>
            <a:ext cx="11441430" cy="6347892"/>
            <a:chOff x="687705" y="367666"/>
            <a:chExt cx="11441430" cy="4514850"/>
          </a:xfrm>
        </p:grpSpPr>
        <p:sp>
          <p:nvSpPr>
            <p:cNvPr id="3" name="object 3"/>
            <p:cNvSpPr/>
            <p:nvPr/>
          </p:nvSpPr>
          <p:spPr>
            <a:xfrm>
              <a:off x="687705" y="367666"/>
              <a:ext cx="11441430" cy="4514850"/>
            </a:xfrm>
            <a:custGeom>
              <a:avLst/>
              <a:gdLst/>
              <a:ahLst/>
              <a:cxnLst/>
              <a:rect l="l" t="t" r="r" b="b"/>
              <a:pathLst>
                <a:path w="11441430" h="4514850">
                  <a:moveTo>
                    <a:pt x="0" y="4383405"/>
                  </a:moveTo>
                  <a:lnTo>
                    <a:pt x="0" y="131445"/>
                  </a:lnTo>
                  <a:lnTo>
                    <a:pt x="157" y="124987"/>
                  </a:lnTo>
                  <a:lnTo>
                    <a:pt x="7680" y="87167"/>
                  </a:lnTo>
                  <a:lnTo>
                    <a:pt x="25871" y="53134"/>
                  </a:lnTo>
                  <a:lnTo>
                    <a:pt x="53136" y="25868"/>
                  </a:lnTo>
                  <a:lnTo>
                    <a:pt x="87169" y="7677"/>
                  </a:lnTo>
                  <a:lnTo>
                    <a:pt x="124987" y="157"/>
                  </a:lnTo>
                  <a:lnTo>
                    <a:pt x="131445" y="0"/>
                  </a:lnTo>
                  <a:lnTo>
                    <a:pt x="11309985" y="0"/>
                  </a:lnTo>
                  <a:lnTo>
                    <a:pt x="11348141" y="5656"/>
                  </a:lnTo>
                  <a:lnTo>
                    <a:pt x="11383010" y="22150"/>
                  </a:lnTo>
                  <a:lnTo>
                    <a:pt x="11411594" y="48054"/>
                  </a:lnTo>
                  <a:lnTo>
                    <a:pt x="11431423" y="81141"/>
                  </a:lnTo>
                  <a:lnTo>
                    <a:pt x="11440798" y="118560"/>
                  </a:lnTo>
                  <a:lnTo>
                    <a:pt x="11441430" y="131445"/>
                  </a:lnTo>
                  <a:lnTo>
                    <a:pt x="11441430" y="4383405"/>
                  </a:lnTo>
                  <a:lnTo>
                    <a:pt x="11435770" y="4421559"/>
                  </a:lnTo>
                  <a:lnTo>
                    <a:pt x="11419277" y="4456428"/>
                  </a:lnTo>
                  <a:lnTo>
                    <a:pt x="11393372" y="4485012"/>
                  </a:lnTo>
                  <a:lnTo>
                    <a:pt x="11360286" y="4504840"/>
                  </a:lnTo>
                  <a:lnTo>
                    <a:pt x="11322868" y="4514218"/>
                  </a:lnTo>
                  <a:lnTo>
                    <a:pt x="11309985" y="4514850"/>
                  </a:lnTo>
                  <a:lnTo>
                    <a:pt x="131445" y="4514850"/>
                  </a:lnTo>
                  <a:lnTo>
                    <a:pt x="93288" y="4509187"/>
                  </a:lnTo>
                  <a:lnTo>
                    <a:pt x="58418" y="4492693"/>
                  </a:lnTo>
                  <a:lnTo>
                    <a:pt x="29835" y="4466789"/>
                  </a:lnTo>
                  <a:lnTo>
                    <a:pt x="10005" y="4433704"/>
                  </a:lnTo>
                  <a:lnTo>
                    <a:pt x="631" y="4396287"/>
                  </a:lnTo>
                  <a:lnTo>
                    <a:pt x="0" y="4383405"/>
                  </a:lnTo>
                  <a:close/>
                </a:path>
              </a:pathLst>
            </a:custGeom>
            <a:ln w="11430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36320" y="1607821"/>
              <a:ext cx="10744200" cy="11430"/>
            </a:xfrm>
            <a:custGeom>
              <a:avLst/>
              <a:gdLst/>
              <a:ahLst/>
              <a:cxnLst/>
              <a:rect l="l" t="t" r="r" b="b"/>
              <a:pathLst>
                <a:path w="10744200" h="11430">
                  <a:moveTo>
                    <a:pt x="10744200" y="11430"/>
                  </a:moveTo>
                  <a:lnTo>
                    <a:pt x="0" y="11430"/>
                  </a:lnTo>
                  <a:lnTo>
                    <a:pt x="0" y="0"/>
                  </a:lnTo>
                  <a:lnTo>
                    <a:pt x="10744200" y="0"/>
                  </a:lnTo>
                  <a:lnTo>
                    <a:pt x="10744200" y="1143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52486" y="4176969"/>
              <a:ext cx="10732770" cy="548640"/>
            </a:xfrm>
            <a:custGeom>
              <a:avLst/>
              <a:gdLst/>
              <a:ahLst/>
              <a:cxnLst/>
              <a:rect l="l" t="t" r="r" b="b"/>
              <a:pathLst>
                <a:path w="10732770" h="548639">
                  <a:moveTo>
                    <a:pt x="0" y="462915"/>
                  </a:moveTo>
                  <a:lnTo>
                    <a:pt x="0" y="85725"/>
                  </a:lnTo>
                  <a:lnTo>
                    <a:pt x="0" y="80096"/>
                  </a:lnTo>
                  <a:lnTo>
                    <a:pt x="549" y="74521"/>
                  </a:lnTo>
                  <a:lnTo>
                    <a:pt x="1647" y="69001"/>
                  </a:lnTo>
                  <a:lnTo>
                    <a:pt x="2745" y="63478"/>
                  </a:lnTo>
                  <a:lnTo>
                    <a:pt x="4371" y="58115"/>
                  </a:lnTo>
                  <a:lnTo>
                    <a:pt x="25108" y="25105"/>
                  </a:lnTo>
                  <a:lnTo>
                    <a:pt x="29088" y="21123"/>
                  </a:lnTo>
                  <a:lnTo>
                    <a:pt x="33418" y="17572"/>
                  </a:lnTo>
                  <a:lnTo>
                    <a:pt x="38098" y="14444"/>
                  </a:lnTo>
                  <a:lnTo>
                    <a:pt x="42778" y="11315"/>
                  </a:lnTo>
                  <a:lnTo>
                    <a:pt x="80096" y="0"/>
                  </a:lnTo>
                  <a:lnTo>
                    <a:pt x="85725" y="0"/>
                  </a:lnTo>
                  <a:lnTo>
                    <a:pt x="10647045" y="0"/>
                  </a:lnTo>
                  <a:lnTo>
                    <a:pt x="10652673" y="0"/>
                  </a:lnTo>
                  <a:lnTo>
                    <a:pt x="10658248" y="549"/>
                  </a:lnTo>
                  <a:lnTo>
                    <a:pt x="10694670" y="14444"/>
                  </a:lnTo>
                  <a:lnTo>
                    <a:pt x="10707661" y="25105"/>
                  </a:lnTo>
                  <a:lnTo>
                    <a:pt x="10711642" y="29085"/>
                  </a:lnTo>
                  <a:lnTo>
                    <a:pt x="10730023" y="63476"/>
                  </a:lnTo>
                  <a:lnTo>
                    <a:pt x="10732770" y="85725"/>
                  </a:lnTo>
                  <a:lnTo>
                    <a:pt x="10732770" y="462915"/>
                  </a:lnTo>
                  <a:lnTo>
                    <a:pt x="10724089" y="500916"/>
                  </a:lnTo>
                  <a:lnTo>
                    <a:pt x="10699351" y="531062"/>
                  </a:lnTo>
                  <a:lnTo>
                    <a:pt x="10694670" y="534187"/>
                  </a:lnTo>
                  <a:lnTo>
                    <a:pt x="10689990" y="537316"/>
                  </a:lnTo>
                  <a:lnTo>
                    <a:pt x="10685049" y="539958"/>
                  </a:lnTo>
                  <a:lnTo>
                    <a:pt x="10679850" y="542110"/>
                  </a:lnTo>
                  <a:lnTo>
                    <a:pt x="10674650" y="544264"/>
                  </a:lnTo>
                  <a:lnTo>
                    <a:pt x="10647045" y="548640"/>
                  </a:lnTo>
                  <a:lnTo>
                    <a:pt x="85725" y="548640"/>
                  </a:lnTo>
                  <a:lnTo>
                    <a:pt x="52919" y="542110"/>
                  </a:lnTo>
                  <a:lnTo>
                    <a:pt x="47719" y="539958"/>
                  </a:lnTo>
                  <a:lnTo>
                    <a:pt x="42778" y="537316"/>
                  </a:lnTo>
                  <a:lnTo>
                    <a:pt x="38098" y="534187"/>
                  </a:lnTo>
                  <a:lnTo>
                    <a:pt x="33418" y="531062"/>
                  </a:lnTo>
                  <a:lnTo>
                    <a:pt x="8679" y="500916"/>
                  </a:lnTo>
                  <a:lnTo>
                    <a:pt x="0" y="468543"/>
                  </a:lnTo>
                  <a:lnTo>
                    <a:pt x="0" y="462915"/>
                  </a:lnTo>
                  <a:close/>
                </a:path>
              </a:pathLst>
            </a:custGeom>
            <a:ln w="11430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Как</a:t>
            </a:r>
            <a:r>
              <a:rPr spc="-40" dirty="0"/>
              <a:t> </a:t>
            </a:r>
            <a:r>
              <a:rPr dirty="0"/>
              <a:t>устроен</a:t>
            </a:r>
            <a:r>
              <a:rPr spc="-35" dirty="0"/>
              <a:t> </a:t>
            </a:r>
            <a:r>
              <a:rPr spc="-10" dirty="0"/>
              <a:t>WebSocket?</a:t>
            </a:r>
            <a:r>
              <a:rPr spc="-35" dirty="0"/>
              <a:t> </a:t>
            </a:r>
            <a:endParaRPr spc="-10" dirty="0"/>
          </a:p>
        </p:txBody>
      </p:sp>
      <p:sp>
        <p:nvSpPr>
          <p:cNvPr id="8" name="object 8"/>
          <p:cNvSpPr/>
          <p:nvPr/>
        </p:nvSpPr>
        <p:spPr>
          <a:xfrm>
            <a:off x="4808219" y="2213611"/>
            <a:ext cx="1154430" cy="297180"/>
          </a:xfrm>
          <a:custGeom>
            <a:avLst/>
            <a:gdLst/>
            <a:ahLst/>
            <a:cxnLst/>
            <a:rect l="l" t="t" r="r" b="b"/>
            <a:pathLst>
              <a:path w="1154429" h="297180">
                <a:moveTo>
                  <a:pt x="1114772" y="297178"/>
                </a:moveTo>
                <a:lnTo>
                  <a:pt x="39657" y="297178"/>
                </a:lnTo>
                <a:lnTo>
                  <a:pt x="33825" y="296017"/>
                </a:lnTo>
                <a:lnTo>
                  <a:pt x="1160" y="263352"/>
                </a:lnTo>
                <a:lnTo>
                  <a:pt x="0" y="257521"/>
                </a:lnTo>
                <a:lnTo>
                  <a:pt x="0" y="251460"/>
                </a:lnTo>
                <a:lnTo>
                  <a:pt x="0" y="39655"/>
                </a:lnTo>
                <a:lnTo>
                  <a:pt x="22622" y="5798"/>
                </a:lnTo>
                <a:lnTo>
                  <a:pt x="39657" y="0"/>
                </a:lnTo>
                <a:lnTo>
                  <a:pt x="1114772" y="0"/>
                </a:lnTo>
                <a:lnTo>
                  <a:pt x="1148628" y="22619"/>
                </a:lnTo>
                <a:lnTo>
                  <a:pt x="1154430" y="39655"/>
                </a:lnTo>
                <a:lnTo>
                  <a:pt x="1154430" y="257521"/>
                </a:lnTo>
                <a:lnTo>
                  <a:pt x="1131806" y="291377"/>
                </a:lnTo>
                <a:lnTo>
                  <a:pt x="1120604" y="296017"/>
                </a:lnTo>
                <a:lnTo>
                  <a:pt x="1114772" y="2971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23619" y="1732281"/>
            <a:ext cx="103905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  <a:tabLst>
                <a:tab pos="3856354" algn="l"/>
              </a:tabLst>
            </a:pP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WebSocket</a:t>
            </a:r>
            <a:r>
              <a:rPr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—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это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как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труба</a:t>
            </a:r>
            <a:r>
              <a:rPr sz="1800" b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между</a:t>
            </a:r>
            <a:r>
              <a:rPr sz="1800" b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клиентом</a:t>
            </a:r>
            <a:r>
              <a:rPr sz="1800" b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и</a:t>
            </a:r>
            <a:r>
              <a:rPr sz="1800" b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сервером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.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Сначала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они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договариваются: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«Давай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перейдём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на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прямую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связь!»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→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25" dirty="0">
                <a:solidFill>
                  <a:srgbClr val="333333"/>
                </a:solidFill>
                <a:latin typeface="Segoe UI"/>
                <a:cs typeface="Segoe UI"/>
              </a:rPr>
              <a:t>это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600" dirty="0">
                <a:solidFill>
                  <a:srgbClr val="D35300"/>
                </a:solidFill>
                <a:latin typeface="Consolas"/>
                <a:cs typeface="Consolas"/>
              </a:rPr>
              <a:t>Handshake</a:t>
            </a:r>
            <a:r>
              <a:rPr sz="1600" spc="-265" dirty="0">
                <a:solidFill>
                  <a:srgbClr val="D35300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333333"/>
                </a:solidFill>
                <a:latin typeface="Segoe UI"/>
                <a:cs typeface="Segoe UI"/>
              </a:rPr>
              <a:t>.</a:t>
            </a:r>
            <a:endParaRPr sz="1800" dirty="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1320" y="5728490"/>
            <a:ext cx="10578231" cy="7098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Аналогия:</a:t>
            </a:r>
            <a:r>
              <a:rPr sz="1800" i="1" spc="-50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труба</a:t>
            </a:r>
            <a:r>
              <a:rPr sz="1800" i="1" spc="-50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между</a:t>
            </a:r>
            <a:r>
              <a:rPr sz="1800" i="1" spc="-50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двумя</a:t>
            </a:r>
            <a:r>
              <a:rPr sz="1800" i="1" spc="-50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банками</a:t>
            </a:r>
            <a:r>
              <a:rPr sz="1800" i="1" spc="-50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—</a:t>
            </a:r>
            <a:r>
              <a:rPr sz="1800" i="1" spc="-50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spc="-10" dirty="0">
                <a:solidFill>
                  <a:srgbClr val="333333"/>
                </a:solidFill>
                <a:latin typeface="Segoe UI Semilight"/>
                <a:cs typeface="Segoe UI Semilight"/>
              </a:rPr>
              <a:t>переливайте</a:t>
            </a:r>
            <a:r>
              <a:rPr sz="1800" i="1" spc="-50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воду</a:t>
            </a:r>
            <a:r>
              <a:rPr sz="1800" i="1" spc="-45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(данные)</a:t>
            </a:r>
            <a:r>
              <a:rPr sz="1800" i="1" spc="-50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в</a:t>
            </a:r>
            <a:r>
              <a:rPr sz="1800" i="1" spc="-50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любую</a:t>
            </a:r>
            <a:r>
              <a:rPr sz="1800" i="1" spc="-50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spc="-10" dirty="0">
                <a:solidFill>
                  <a:srgbClr val="333333"/>
                </a:solidFill>
                <a:latin typeface="Segoe UI Semilight"/>
                <a:cs typeface="Segoe UI Semilight"/>
              </a:rPr>
              <a:t>сторону,</a:t>
            </a:r>
            <a:r>
              <a:rPr sz="1800" i="1" spc="-50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сколько</a:t>
            </a:r>
            <a:r>
              <a:rPr sz="1800" i="1" spc="-50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spc="-10" dirty="0" err="1">
                <a:solidFill>
                  <a:srgbClr val="333333"/>
                </a:solidFill>
                <a:latin typeface="Segoe UI Semilight"/>
                <a:cs typeface="Segoe UI Semilight"/>
              </a:rPr>
              <a:t>угодно</a:t>
            </a:r>
            <a:r>
              <a:rPr sz="1800" i="1" spc="-10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spc="-20" dirty="0" err="1">
                <a:solidFill>
                  <a:srgbClr val="333333"/>
                </a:solidFill>
                <a:latin typeface="Segoe UI Semilight"/>
                <a:cs typeface="Segoe UI Semilight"/>
              </a:rPr>
              <a:t>ра</a:t>
            </a:r>
            <a:r>
              <a:rPr lang="ru-RU" sz="1800" i="1" spc="-20" dirty="0">
                <a:solidFill>
                  <a:srgbClr val="333333"/>
                </a:solidFill>
                <a:latin typeface="Segoe UI Semilight"/>
                <a:cs typeface="Segoe UI Semilight"/>
              </a:rPr>
              <a:t>з</a:t>
            </a:r>
            <a:r>
              <a:rPr sz="1800" i="1" spc="-20" dirty="0">
                <a:solidFill>
                  <a:srgbClr val="333333"/>
                </a:solidFill>
                <a:latin typeface="Segoe UI Semilight"/>
                <a:cs typeface="Segoe UI Semilight"/>
              </a:rPr>
              <a:t>!</a:t>
            </a:r>
            <a:endParaRPr sz="1800" dirty="0">
              <a:latin typeface="Segoe UI Semilight"/>
              <a:cs typeface="Segoe UI Semilight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C23957D-5C6D-9A1E-1BEB-B60A0D9EBF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277"/>
          <a:stretch>
            <a:fillRect/>
          </a:stretch>
        </p:blipFill>
        <p:spPr>
          <a:xfrm>
            <a:off x="3217099" y="2505974"/>
            <a:ext cx="6382641" cy="27699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7705" y="371868"/>
            <a:ext cx="11441430" cy="6638531"/>
            <a:chOff x="687705" y="367667"/>
            <a:chExt cx="11441430" cy="3600450"/>
          </a:xfrm>
        </p:grpSpPr>
        <p:sp>
          <p:nvSpPr>
            <p:cNvPr id="3" name="object 3"/>
            <p:cNvSpPr/>
            <p:nvPr/>
          </p:nvSpPr>
          <p:spPr>
            <a:xfrm>
              <a:off x="687705" y="367667"/>
              <a:ext cx="11441430" cy="3600450"/>
            </a:xfrm>
            <a:custGeom>
              <a:avLst/>
              <a:gdLst/>
              <a:ahLst/>
              <a:cxnLst/>
              <a:rect l="l" t="t" r="r" b="b"/>
              <a:pathLst>
                <a:path w="11441430" h="3600450">
                  <a:moveTo>
                    <a:pt x="0" y="3469005"/>
                  </a:moveTo>
                  <a:lnTo>
                    <a:pt x="0" y="131445"/>
                  </a:lnTo>
                  <a:lnTo>
                    <a:pt x="157" y="124986"/>
                  </a:lnTo>
                  <a:lnTo>
                    <a:pt x="7680" y="87167"/>
                  </a:lnTo>
                  <a:lnTo>
                    <a:pt x="25871" y="53132"/>
                  </a:lnTo>
                  <a:lnTo>
                    <a:pt x="53136" y="25866"/>
                  </a:lnTo>
                  <a:lnTo>
                    <a:pt x="87169" y="7677"/>
                  </a:lnTo>
                  <a:lnTo>
                    <a:pt x="124987" y="157"/>
                  </a:lnTo>
                  <a:lnTo>
                    <a:pt x="131445" y="0"/>
                  </a:lnTo>
                  <a:lnTo>
                    <a:pt x="11309985" y="0"/>
                  </a:lnTo>
                  <a:lnTo>
                    <a:pt x="11348141" y="5656"/>
                  </a:lnTo>
                  <a:lnTo>
                    <a:pt x="11383010" y="22147"/>
                  </a:lnTo>
                  <a:lnTo>
                    <a:pt x="11411594" y="48052"/>
                  </a:lnTo>
                  <a:lnTo>
                    <a:pt x="11431423" y="81140"/>
                  </a:lnTo>
                  <a:lnTo>
                    <a:pt x="11440798" y="118559"/>
                  </a:lnTo>
                  <a:lnTo>
                    <a:pt x="11441430" y="131445"/>
                  </a:lnTo>
                  <a:lnTo>
                    <a:pt x="11441430" y="3469005"/>
                  </a:lnTo>
                  <a:lnTo>
                    <a:pt x="11435770" y="3507159"/>
                  </a:lnTo>
                  <a:lnTo>
                    <a:pt x="11419277" y="3542030"/>
                  </a:lnTo>
                  <a:lnTo>
                    <a:pt x="11393372" y="3570611"/>
                  </a:lnTo>
                  <a:lnTo>
                    <a:pt x="11360286" y="3590440"/>
                  </a:lnTo>
                  <a:lnTo>
                    <a:pt x="11322868" y="3599816"/>
                  </a:lnTo>
                  <a:lnTo>
                    <a:pt x="11309985" y="3600450"/>
                  </a:lnTo>
                  <a:lnTo>
                    <a:pt x="131445" y="3600450"/>
                  </a:lnTo>
                  <a:lnTo>
                    <a:pt x="93288" y="3594786"/>
                  </a:lnTo>
                  <a:lnTo>
                    <a:pt x="58418" y="3578293"/>
                  </a:lnTo>
                  <a:lnTo>
                    <a:pt x="29835" y="3552391"/>
                  </a:lnTo>
                  <a:lnTo>
                    <a:pt x="10005" y="3519303"/>
                  </a:lnTo>
                  <a:lnTo>
                    <a:pt x="631" y="3481888"/>
                  </a:lnTo>
                  <a:lnTo>
                    <a:pt x="0" y="3469005"/>
                  </a:lnTo>
                  <a:close/>
                </a:path>
              </a:pathLst>
            </a:custGeom>
            <a:ln w="11430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36320" y="1607822"/>
              <a:ext cx="10744200" cy="11430"/>
            </a:xfrm>
            <a:custGeom>
              <a:avLst/>
              <a:gdLst/>
              <a:ahLst/>
              <a:cxnLst/>
              <a:rect l="l" t="t" r="r" b="b"/>
              <a:pathLst>
                <a:path w="10744200" h="11430">
                  <a:moveTo>
                    <a:pt x="10744200" y="11430"/>
                  </a:moveTo>
                  <a:lnTo>
                    <a:pt x="0" y="11430"/>
                  </a:lnTo>
                  <a:lnTo>
                    <a:pt x="0" y="0"/>
                  </a:lnTo>
                  <a:lnTo>
                    <a:pt x="10744200" y="0"/>
                  </a:lnTo>
                  <a:lnTo>
                    <a:pt x="10744200" y="1143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04569" y="3133465"/>
              <a:ext cx="10732770" cy="548640"/>
            </a:xfrm>
            <a:custGeom>
              <a:avLst/>
              <a:gdLst/>
              <a:ahLst/>
              <a:cxnLst/>
              <a:rect l="l" t="t" r="r" b="b"/>
              <a:pathLst>
                <a:path w="10732770" h="548639">
                  <a:moveTo>
                    <a:pt x="0" y="462915"/>
                  </a:moveTo>
                  <a:lnTo>
                    <a:pt x="0" y="85725"/>
                  </a:lnTo>
                  <a:lnTo>
                    <a:pt x="0" y="80096"/>
                  </a:lnTo>
                  <a:lnTo>
                    <a:pt x="549" y="74517"/>
                  </a:lnTo>
                  <a:lnTo>
                    <a:pt x="14447" y="38096"/>
                  </a:lnTo>
                  <a:lnTo>
                    <a:pt x="25108" y="25105"/>
                  </a:lnTo>
                  <a:lnTo>
                    <a:pt x="29088" y="21123"/>
                  </a:lnTo>
                  <a:lnTo>
                    <a:pt x="33418" y="17572"/>
                  </a:lnTo>
                  <a:lnTo>
                    <a:pt x="38098" y="14446"/>
                  </a:lnTo>
                  <a:lnTo>
                    <a:pt x="42778" y="11317"/>
                  </a:lnTo>
                  <a:lnTo>
                    <a:pt x="47719" y="8675"/>
                  </a:lnTo>
                  <a:lnTo>
                    <a:pt x="52919" y="6524"/>
                  </a:lnTo>
                  <a:lnTo>
                    <a:pt x="58119" y="4373"/>
                  </a:lnTo>
                  <a:lnTo>
                    <a:pt x="63480" y="2745"/>
                  </a:lnTo>
                  <a:lnTo>
                    <a:pt x="69000" y="1645"/>
                  </a:lnTo>
                  <a:lnTo>
                    <a:pt x="74521" y="549"/>
                  </a:lnTo>
                  <a:lnTo>
                    <a:pt x="80096" y="0"/>
                  </a:lnTo>
                  <a:lnTo>
                    <a:pt x="85725" y="0"/>
                  </a:lnTo>
                  <a:lnTo>
                    <a:pt x="10647045" y="0"/>
                  </a:lnTo>
                  <a:lnTo>
                    <a:pt x="10652673" y="0"/>
                  </a:lnTo>
                  <a:lnTo>
                    <a:pt x="10658248" y="549"/>
                  </a:lnTo>
                  <a:lnTo>
                    <a:pt x="10694670" y="14444"/>
                  </a:lnTo>
                  <a:lnTo>
                    <a:pt x="10707661" y="25105"/>
                  </a:lnTo>
                  <a:lnTo>
                    <a:pt x="10711642" y="29085"/>
                  </a:lnTo>
                  <a:lnTo>
                    <a:pt x="10715195" y="33413"/>
                  </a:lnTo>
                  <a:lnTo>
                    <a:pt x="10718322" y="38093"/>
                  </a:lnTo>
                  <a:lnTo>
                    <a:pt x="10721449" y="42773"/>
                  </a:lnTo>
                  <a:lnTo>
                    <a:pt x="10732769" y="80096"/>
                  </a:lnTo>
                  <a:lnTo>
                    <a:pt x="10732770" y="85725"/>
                  </a:lnTo>
                  <a:lnTo>
                    <a:pt x="10732770" y="462915"/>
                  </a:lnTo>
                  <a:lnTo>
                    <a:pt x="10724089" y="500919"/>
                  </a:lnTo>
                  <a:lnTo>
                    <a:pt x="10699351" y="531059"/>
                  </a:lnTo>
                  <a:lnTo>
                    <a:pt x="10663769" y="546990"/>
                  </a:lnTo>
                  <a:lnTo>
                    <a:pt x="10647045" y="548640"/>
                  </a:lnTo>
                  <a:lnTo>
                    <a:pt x="85725" y="548640"/>
                  </a:lnTo>
                  <a:lnTo>
                    <a:pt x="52919" y="542110"/>
                  </a:lnTo>
                  <a:lnTo>
                    <a:pt x="47719" y="539955"/>
                  </a:lnTo>
                  <a:lnTo>
                    <a:pt x="17574" y="515217"/>
                  </a:lnTo>
                  <a:lnTo>
                    <a:pt x="1647" y="479635"/>
                  </a:lnTo>
                  <a:lnTo>
                    <a:pt x="0" y="468540"/>
                  </a:lnTo>
                  <a:lnTo>
                    <a:pt x="0" y="462915"/>
                  </a:lnTo>
                  <a:close/>
                </a:path>
              </a:pathLst>
            </a:custGeom>
            <a:ln w="11430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Почему</a:t>
            </a:r>
            <a:r>
              <a:rPr spc="15" dirty="0"/>
              <a:t> </a:t>
            </a:r>
            <a:r>
              <a:rPr dirty="0"/>
              <a:t>HTTP</a:t>
            </a:r>
            <a:r>
              <a:rPr spc="20" dirty="0"/>
              <a:t> </a:t>
            </a:r>
            <a:r>
              <a:rPr dirty="0"/>
              <a:t>не</a:t>
            </a:r>
            <a:r>
              <a:rPr spc="20" dirty="0"/>
              <a:t> </a:t>
            </a:r>
            <a:r>
              <a:rPr dirty="0"/>
              <a:t>подходит</a:t>
            </a:r>
            <a:r>
              <a:rPr spc="20" dirty="0"/>
              <a:t> </a:t>
            </a:r>
            <a:r>
              <a:rPr dirty="0"/>
              <a:t>для</a:t>
            </a:r>
            <a:r>
              <a:rPr spc="15" dirty="0"/>
              <a:t> </a:t>
            </a:r>
            <a:r>
              <a:rPr spc="-10" dirty="0"/>
              <a:t>чата?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11934" y="5671951"/>
            <a:ext cx="9812655" cy="165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1000" dirty="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9421" y="5623538"/>
            <a:ext cx="93776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  <a:tabLst>
                <a:tab pos="1737995" algn="l"/>
                <a:tab pos="6471920" algn="l"/>
              </a:tabLst>
            </a:pP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Цифры:</a:t>
            </a:r>
            <a:r>
              <a:rPr sz="180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При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1000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пользователей</a:t>
            </a:r>
            <a:r>
              <a:rPr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и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опросе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раз</a:t>
            </a:r>
            <a:r>
              <a:rPr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в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секунду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50" dirty="0">
                <a:solidFill>
                  <a:srgbClr val="333333"/>
                </a:solidFill>
                <a:latin typeface="Segoe UI"/>
                <a:cs typeface="Segoe UI"/>
              </a:rPr>
              <a:t>→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3</a:t>
            </a:r>
            <a:r>
              <a:rPr sz="1800" b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600</a:t>
            </a:r>
            <a:r>
              <a:rPr sz="1800" b="1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000</a:t>
            </a:r>
            <a:r>
              <a:rPr sz="1800" b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запросов</a:t>
            </a:r>
            <a:r>
              <a:rPr sz="1800" b="1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в</a:t>
            </a:r>
            <a:r>
              <a:rPr sz="1800" b="1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час</a:t>
            </a:r>
            <a:r>
              <a:rPr sz="1800" b="1" spc="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50" dirty="0">
                <a:solidFill>
                  <a:srgbClr val="333333"/>
                </a:solidFill>
                <a:latin typeface="Segoe UI"/>
                <a:cs typeface="Segoe UI"/>
              </a:rPr>
              <a:t>.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С</a:t>
            </a:r>
            <a:r>
              <a:rPr sz="18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WebSocket</a:t>
            </a:r>
            <a:r>
              <a:rPr sz="18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50" dirty="0">
                <a:solidFill>
                  <a:srgbClr val="333333"/>
                </a:solidFill>
                <a:latin typeface="Segoe UI"/>
                <a:cs typeface="Segoe UI"/>
              </a:rPr>
              <a:t>→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1000</a:t>
            </a:r>
            <a:r>
              <a:rPr sz="1800" b="1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соединений</a:t>
            </a:r>
            <a:r>
              <a:rPr sz="1800" b="1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+</a:t>
            </a:r>
            <a:r>
              <a:rPr sz="1800" b="1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столько</a:t>
            </a:r>
            <a:r>
              <a:rPr sz="1800" b="1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сообщений,</a:t>
            </a:r>
            <a:r>
              <a:rPr sz="1800" b="1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сколько</a:t>
            </a:r>
            <a:r>
              <a:rPr sz="1800" b="1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нужно</a:t>
            </a:r>
            <a:r>
              <a:rPr sz="1800" b="1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50" dirty="0">
                <a:solidFill>
                  <a:srgbClr val="333333"/>
                </a:solidFill>
                <a:latin typeface="Segoe UI"/>
                <a:cs typeface="Segoe UI"/>
              </a:rPr>
              <a:t>.</a:t>
            </a:r>
            <a:endParaRPr sz="1800" dirty="0">
              <a:latin typeface="Segoe UI"/>
              <a:cs typeface="Segoe UI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F9E43DD-5266-8F6E-A796-9C299512D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319" y="2691900"/>
            <a:ext cx="8171270" cy="24219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1977" y="361962"/>
            <a:ext cx="11452860" cy="7170408"/>
            <a:chOff x="681977" y="361962"/>
            <a:chExt cx="11452860" cy="7170408"/>
          </a:xfrm>
        </p:grpSpPr>
        <p:sp>
          <p:nvSpPr>
            <p:cNvPr id="3" name="object 3"/>
            <p:cNvSpPr/>
            <p:nvPr/>
          </p:nvSpPr>
          <p:spPr>
            <a:xfrm>
              <a:off x="681977" y="361962"/>
              <a:ext cx="11452860" cy="7053580"/>
            </a:xfrm>
            <a:custGeom>
              <a:avLst/>
              <a:gdLst/>
              <a:ahLst/>
              <a:cxnLst/>
              <a:rect l="l" t="t" r="r" b="b"/>
              <a:pathLst>
                <a:path w="11452860" h="7053580">
                  <a:moveTo>
                    <a:pt x="11452860" y="137160"/>
                  </a:moveTo>
                  <a:lnTo>
                    <a:pt x="11446993" y="97396"/>
                  </a:lnTo>
                  <a:lnTo>
                    <a:pt x="11429771" y="60934"/>
                  </a:lnTo>
                  <a:lnTo>
                    <a:pt x="11412639" y="40220"/>
                  </a:lnTo>
                  <a:lnTo>
                    <a:pt x="11412106" y="39662"/>
                  </a:lnTo>
                  <a:lnTo>
                    <a:pt x="11402670" y="31076"/>
                  </a:lnTo>
                  <a:lnTo>
                    <a:pt x="11391925" y="23088"/>
                  </a:lnTo>
                  <a:lnTo>
                    <a:pt x="11380432" y="16205"/>
                  </a:lnTo>
                  <a:lnTo>
                    <a:pt x="11370285" y="11430"/>
                  </a:lnTo>
                  <a:lnTo>
                    <a:pt x="11368189" y="10439"/>
                  </a:lnTo>
                  <a:lnTo>
                    <a:pt x="11355464" y="5867"/>
                  </a:lnTo>
                  <a:lnTo>
                    <a:pt x="11342472" y="2603"/>
                  </a:lnTo>
                  <a:lnTo>
                    <a:pt x="11329213" y="647"/>
                  </a:lnTo>
                  <a:lnTo>
                    <a:pt x="11315700" y="0"/>
                  </a:lnTo>
                  <a:lnTo>
                    <a:pt x="137160" y="0"/>
                  </a:lnTo>
                  <a:lnTo>
                    <a:pt x="97409" y="5867"/>
                  </a:lnTo>
                  <a:lnTo>
                    <a:pt x="60947" y="23088"/>
                  </a:lnTo>
                  <a:lnTo>
                    <a:pt x="40754" y="39649"/>
                  </a:lnTo>
                  <a:lnTo>
                    <a:pt x="40182" y="40170"/>
                  </a:lnTo>
                  <a:lnTo>
                    <a:pt x="31089" y="50190"/>
                  </a:lnTo>
                  <a:lnTo>
                    <a:pt x="23101" y="60934"/>
                  </a:lnTo>
                  <a:lnTo>
                    <a:pt x="5880" y="97396"/>
                  </a:lnTo>
                  <a:lnTo>
                    <a:pt x="0" y="137160"/>
                  </a:lnTo>
                  <a:lnTo>
                    <a:pt x="0" y="7053250"/>
                  </a:lnTo>
                  <a:lnTo>
                    <a:pt x="11430" y="7053250"/>
                  </a:lnTo>
                  <a:lnTo>
                    <a:pt x="11430" y="137160"/>
                  </a:lnTo>
                  <a:lnTo>
                    <a:pt x="12039" y="124764"/>
                  </a:lnTo>
                  <a:lnTo>
                    <a:pt x="26301" y="77825"/>
                  </a:lnTo>
                  <a:lnTo>
                    <a:pt x="57442" y="39916"/>
                  </a:lnTo>
                  <a:lnTo>
                    <a:pt x="100723" y="16814"/>
                  </a:lnTo>
                  <a:lnTo>
                    <a:pt x="137160" y="11430"/>
                  </a:lnTo>
                  <a:lnTo>
                    <a:pt x="11315700" y="11430"/>
                  </a:lnTo>
                  <a:lnTo>
                    <a:pt x="11363820" y="20993"/>
                  </a:lnTo>
                  <a:lnTo>
                    <a:pt x="11404016" y="47713"/>
                  </a:lnTo>
                  <a:lnTo>
                    <a:pt x="11431867" y="89039"/>
                  </a:lnTo>
                  <a:lnTo>
                    <a:pt x="11441430" y="137160"/>
                  </a:lnTo>
                  <a:lnTo>
                    <a:pt x="11441430" y="7053250"/>
                  </a:lnTo>
                  <a:lnTo>
                    <a:pt x="11452860" y="7053250"/>
                  </a:lnTo>
                  <a:lnTo>
                    <a:pt x="11452860" y="13716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36320" y="1607823"/>
              <a:ext cx="10744200" cy="11430"/>
            </a:xfrm>
            <a:custGeom>
              <a:avLst/>
              <a:gdLst/>
              <a:ahLst/>
              <a:cxnLst/>
              <a:rect l="l" t="t" r="r" b="b"/>
              <a:pathLst>
                <a:path w="10744200" h="11430">
                  <a:moveTo>
                    <a:pt x="10744200" y="11430"/>
                  </a:moveTo>
                  <a:lnTo>
                    <a:pt x="0" y="11430"/>
                  </a:lnTo>
                  <a:lnTo>
                    <a:pt x="0" y="0"/>
                  </a:lnTo>
                  <a:lnTo>
                    <a:pt x="10744200" y="0"/>
                  </a:lnTo>
                  <a:lnTo>
                    <a:pt x="10744200" y="1143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42034" y="3007998"/>
              <a:ext cx="10732770" cy="1910712"/>
            </a:xfrm>
            <a:custGeom>
              <a:avLst/>
              <a:gdLst/>
              <a:ahLst/>
              <a:cxnLst/>
              <a:rect l="l" t="t" r="r" b="b"/>
              <a:pathLst>
                <a:path w="10732770" h="2400300">
                  <a:moveTo>
                    <a:pt x="0" y="2314575"/>
                  </a:moveTo>
                  <a:lnTo>
                    <a:pt x="0" y="85725"/>
                  </a:lnTo>
                  <a:lnTo>
                    <a:pt x="0" y="80096"/>
                  </a:lnTo>
                  <a:lnTo>
                    <a:pt x="549" y="74521"/>
                  </a:lnTo>
                  <a:lnTo>
                    <a:pt x="14447" y="38093"/>
                  </a:lnTo>
                  <a:lnTo>
                    <a:pt x="17574" y="33413"/>
                  </a:lnTo>
                  <a:lnTo>
                    <a:pt x="38098" y="14444"/>
                  </a:lnTo>
                  <a:lnTo>
                    <a:pt x="42778" y="11315"/>
                  </a:lnTo>
                  <a:lnTo>
                    <a:pt x="47719" y="8675"/>
                  </a:lnTo>
                  <a:lnTo>
                    <a:pt x="52919" y="6521"/>
                  </a:lnTo>
                  <a:lnTo>
                    <a:pt x="58119" y="4367"/>
                  </a:lnTo>
                  <a:lnTo>
                    <a:pt x="63480" y="2743"/>
                  </a:lnTo>
                  <a:lnTo>
                    <a:pt x="69000" y="1645"/>
                  </a:lnTo>
                  <a:lnTo>
                    <a:pt x="74521" y="549"/>
                  </a:lnTo>
                  <a:lnTo>
                    <a:pt x="80096" y="0"/>
                  </a:lnTo>
                  <a:lnTo>
                    <a:pt x="85725" y="0"/>
                  </a:lnTo>
                  <a:lnTo>
                    <a:pt x="10647045" y="0"/>
                  </a:lnTo>
                  <a:lnTo>
                    <a:pt x="10652673" y="0"/>
                  </a:lnTo>
                  <a:lnTo>
                    <a:pt x="10658248" y="549"/>
                  </a:lnTo>
                  <a:lnTo>
                    <a:pt x="10663769" y="1645"/>
                  </a:lnTo>
                  <a:lnTo>
                    <a:pt x="10669289" y="2743"/>
                  </a:lnTo>
                  <a:lnTo>
                    <a:pt x="10674650" y="4367"/>
                  </a:lnTo>
                  <a:lnTo>
                    <a:pt x="10679850" y="6521"/>
                  </a:lnTo>
                  <a:lnTo>
                    <a:pt x="10685049" y="8675"/>
                  </a:lnTo>
                  <a:lnTo>
                    <a:pt x="10715195" y="33416"/>
                  </a:lnTo>
                  <a:lnTo>
                    <a:pt x="10731122" y="68998"/>
                  </a:lnTo>
                  <a:lnTo>
                    <a:pt x="10732770" y="85725"/>
                  </a:lnTo>
                  <a:lnTo>
                    <a:pt x="10732770" y="2314575"/>
                  </a:lnTo>
                  <a:lnTo>
                    <a:pt x="10732769" y="2320206"/>
                  </a:lnTo>
                  <a:lnTo>
                    <a:pt x="10732220" y="2325776"/>
                  </a:lnTo>
                  <a:lnTo>
                    <a:pt x="10731121" y="2331296"/>
                  </a:lnTo>
                  <a:lnTo>
                    <a:pt x="10730023" y="2336815"/>
                  </a:lnTo>
                  <a:lnTo>
                    <a:pt x="10718322" y="2362192"/>
                  </a:lnTo>
                  <a:lnTo>
                    <a:pt x="10715195" y="2366875"/>
                  </a:lnTo>
                  <a:lnTo>
                    <a:pt x="10711642" y="2371211"/>
                  </a:lnTo>
                  <a:lnTo>
                    <a:pt x="10707661" y="2375190"/>
                  </a:lnTo>
                  <a:lnTo>
                    <a:pt x="10703682" y="2379170"/>
                  </a:lnTo>
                  <a:lnTo>
                    <a:pt x="10699351" y="2382719"/>
                  </a:lnTo>
                  <a:lnTo>
                    <a:pt x="10694670" y="2385845"/>
                  </a:lnTo>
                  <a:lnTo>
                    <a:pt x="10689990" y="2388976"/>
                  </a:lnTo>
                  <a:lnTo>
                    <a:pt x="10663769" y="2398648"/>
                  </a:lnTo>
                  <a:lnTo>
                    <a:pt x="10658248" y="2399748"/>
                  </a:lnTo>
                  <a:lnTo>
                    <a:pt x="10652673" y="2400294"/>
                  </a:lnTo>
                  <a:lnTo>
                    <a:pt x="10647045" y="2400300"/>
                  </a:lnTo>
                  <a:lnTo>
                    <a:pt x="85725" y="2400300"/>
                  </a:lnTo>
                  <a:lnTo>
                    <a:pt x="52919" y="2393770"/>
                  </a:lnTo>
                  <a:lnTo>
                    <a:pt x="47719" y="2391615"/>
                  </a:lnTo>
                  <a:lnTo>
                    <a:pt x="25108" y="2375190"/>
                  </a:lnTo>
                  <a:lnTo>
                    <a:pt x="21128" y="2371211"/>
                  </a:lnTo>
                  <a:lnTo>
                    <a:pt x="17574" y="2366875"/>
                  </a:lnTo>
                  <a:lnTo>
                    <a:pt x="14447" y="2362192"/>
                  </a:lnTo>
                  <a:lnTo>
                    <a:pt x="11320" y="2357515"/>
                  </a:lnTo>
                  <a:lnTo>
                    <a:pt x="8679" y="2352576"/>
                  </a:lnTo>
                  <a:lnTo>
                    <a:pt x="6525" y="2347374"/>
                  </a:lnTo>
                  <a:lnTo>
                    <a:pt x="4371" y="2342173"/>
                  </a:lnTo>
                  <a:lnTo>
                    <a:pt x="2745" y="2336815"/>
                  </a:lnTo>
                  <a:lnTo>
                    <a:pt x="1647" y="2331296"/>
                  </a:lnTo>
                  <a:lnTo>
                    <a:pt x="549" y="2325776"/>
                  </a:lnTo>
                  <a:lnTo>
                    <a:pt x="0" y="2320206"/>
                  </a:lnTo>
                  <a:lnTo>
                    <a:pt x="0" y="2314575"/>
                  </a:lnTo>
                  <a:close/>
                </a:path>
              </a:pathLst>
            </a:custGeom>
            <a:ln w="11430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1036307" y="5737860"/>
              <a:ext cx="10744200" cy="1794510"/>
            </a:xfrm>
            <a:custGeom>
              <a:avLst/>
              <a:gdLst/>
              <a:ahLst/>
              <a:cxnLst/>
              <a:rect l="l" t="t" r="r" b="b"/>
              <a:pathLst>
                <a:path w="10744200" h="1155700">
                  <a:moveTo>
                    <a:pt x="10744200" y="91440"/>
                  </a:moveTo>
                  <a:lnTo>
                    <a:pt x="10733392" y="48285"/>
                  </a:lnTo>
                  <a:lnTo>
                    <a:pt x="10717365" y="26835"/>
                  </a:lnTo>
                  <a:lnTo>
                    <a:pt x="10716819" y="26238"/>
                  </a:lnTo>
                  <a:lnTo>
                    <a:pt x="10710748" y="20713"/>
                  </a:lnTo>
                  <a:lnTo>
                    <a:pt x="10703573" y="15392"/>
                  </a:lnTo>
                  <a:lnTo>
                    <a:pt x="10661777" y="431"/>
                  </a:lnTo>
                  <a:lnTo>
                    <a:pt x="10652760" y="0"/>
                  </a:lnTo>
                  <a:lnTo>
                    <a:pt x="91440" y="0"/>
                  </a:lnTo>
                  <a:lnTo>
                    <a:pt x="48298" y="10807"/>
                  </a:lnTo>
                  <a:lnTo>
                    <a:pt x="27381" y="26238"/>
                  </a:lnTo>
                  <a:lnTo>
                    <a:pt x="26784" y="26771"/>
                  </a:lnTo>
                  <a:lnTo>
                    <a:pt x="20726" y="33451"/>
                  </a:lnTo>
                  <a:lnTo>
                    <a:pt x="15405" y="40627"/>
                  </a:lnTo>
                  <a:lnTo>
                    <a:pt x="444" y="82423"/>
                  </a:lnTo>
                  <a:lnTo>
                    <a:pt x="0" y="91440"/>
                  </a:lnTo>
                  <a:lnTo>
                    <a:pt x="0" y="1155369"/>
                  </a:lnTo>
                  <a:lnTo>
                    <a:pt x="11430" y="1155369"/>
                  </a:lnTo>
                  <a:lnTo>
                    <a:pt x="11430" y="91440"/>
                  </a:lnTo>
                  <a:lnTo>
                    <a:pt x="11811" y="83553"/>
                  </a:lnTo>
                  <a:lnTo>
                    <a:pt x="24904" y="46977"/>
                  </a:lnTo>
                  <a:lnTo>
                    <a:pt x="53695" y="20878"/>
                  </a:lnTo>
                  <a:lnTo>
                    <a:pt x="91440" y="11430"/>
                  </a:lnTo>
                  <a:lnTo>
                    <a:pt x="10652760" y="11430"/>
                  </a:lnTo>
                  <a:lnTo>
                    <a:pt x="10690517" y="20878"/>
                  </a:lnTo>
                  <a:lnTo>
                    <a:pt x="10719308" y="46977"/>
                  </a:lnTo>
                  <a:lnTo>
                    <a:pt x="10732389" y="83553"/>
                  </a:lnTo>
                  <a:lnTo>
                    <a:pt x="10732770" y="91440"/>
                  </a:lnTo>
                  <a:lnTo>
                    <a:pt x="10732770" y="1155369"/>
                  </a:lnTo>
                  <a:lnTo>
                    <a:pt x="10744200" y="1155369"/>
                  </a:lnTo>
                  <a:lnTo>
                    <a:pt x="10744200" y="9144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Java</a:t>
            </a:r>
            <a:r>
              <a:rPr spc="-55" dirty="0"/>
              <a:t> </a:t>
            </a:r>
            <a:r>
              <a:rPr dirty="0"/>
              <a:t>WebSocket</a:t>
            </a:r>
            <a:r>
              <a:rPr spc="-55" dirty="0"/>
              <a:t> </a:t>
            </a:r>
            <a:r>
              <a:rPr dirty="0"/>
              <a:t>API</a:t>
            </a:r>
            <a:r>
              <a:rPr spc="-50" dirty="0"/>
              <a:t> </a:t>
            </a:r>
            <a:r>
              <a:rPr dirty="0"/>
              <a:t>(JSR-</a:t>
            </a:r>
            <a:r>
              <a:rPr spc="-20" dirty="0"/>
              <a:t>356)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39771" y="1619253"/>
            <a:ext cx="9220199" cy="61648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В</a:t>
            </a:r>
            <a:r>
              <a:rPr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Java</a:t>
            </a:r>
            <a:r>
              <a:rPr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WebSocket</a:t>
            </a:r>
            <a:r>
              <a:rPr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стандартизирован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через</a:t>
            </a:r>
            <a:r>
              <a:rPr lang="ru-RU" sz="1800" dirty="0">
                <a:solidFill>
                  <a:srgbClr val="333333"/>
                </a:solidFill>
                <a:latin typeface="Segoe UI"/>
                <a:cs typeface="Segoe UI"/>
              </a:rPr>
              <a:t> стандарт</a:t>
            </a:r>
            <a:r>
              <a:rPr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333333"/>
                </a:solidFill>
                <a:latin typeface="Segoe UI"/>
                <a:cs typeface="Segoe UI"/>
              </a:rPr>
              <a:t>JSR-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356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.</a:t>
            </a:r>
            <a:r>
              <a:rPr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Есть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два</a:t>
            </a:r>
            <a:r>
              <a:rPr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способа:</a:t>
            </a:r>
            <a:endParaRPr sz="18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800" dirty="0">
              <a:latin typeface="Segoe UI"/>
              <a:cs typeface="Segoe UI"/>
            </a:endParaRPr>
          </a:p>
          <a:p>
            <a:pPr marL="319405" indent="-306705">
              <a:lnSpc>
                <a:spcPct val="100000"/>
              </a:lnSpc>
              <a:buAutoNum type="arabicPeriod"/>
              <a:tabLst>
                <a:tab pos="319405" algn="l"/>
              </a:tabLst>
            </a:pPr>
            <a:r>
              <a:rPr sz="2150" b="1" dirty="0">
                <a:solidFill>
                  <a:srgbClr val="2980B9"/>
                </a:solidFill>
                <a:latin typeface="Segoe UI"/>
                <a:cs typeface="Segoe UI"/>
              </a:rPr>
              <a:t>Аннотированный</a:t>
            </a:r>
            <a:r>
              <a:rPr sz="2150" b="1" spc="-30" dirty="0">
                <a:solidFill>
                  <a:srgbClr val="2980B9"/>
                </a:solidFill>
                <a:latin typeface="Segoe UI"/>
                <a:cs typeface="Segoe UI"/>
              </a:rPr>
              <a:t> </a:t>
            </a:r>
            <a:r>
              <a:rPr sz="2150" b="1" dirty="0">
                <a:solidFill>
                  <a:srgbClr val="2980B9"/>
                </a:solidFill>
                <a:latin typeface="Segoe UI"/>
                <a:cs typeface="Segoe UI"/>
              </a:rPr>
              <a:t>endpoint</a:t>
            </a:r>
            <a:r>
              <a:rPr sz="2150" b="1" spc="-15" dirty="0">
                <a:solidFill>
                  <a:srgbClr val="2980B9"/>
                </a:solidFill>
                <a:latin typeface="Segoe UI"/>
                <a:cs typeface="Segoe UI"/>
              </a:rPr>
              <a:t> </a:t>
            </a:r>
            <a:r>
              <a:rPr sz="2150" b="1" spc="-10" dirty="0">
                <a:solidFill>
                  <a:srgbClr val="2980B9"/>
                </a:solidFill>
                <a:latin typeface="Segoe UI"/>
                <a:cs typeface="Segoe UI"/>
              </a:rPr>
              <a:t>(простой)</a:t>
            </a:r>
            <a:endParaRPr sz="215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09"/>
              </a:spcBef>
              <a:buClr>
                <a:srgbClr val="2980B9"/>
              </a:buClr>
              <a:buFont typeface="Segoe UI"/>
              <a:buAutoNum type="arabicPeriod"/>
            </a:pPr>
            <a:endParaRPr sz="2150" dirty="0">
              <a:latin typeface="Segoe UI"/>
              <a:cs typeface="Segoe UI"/>
            </a:endParaRPr>
          </a:p>
          <a:p>
            <a:pPr marL="207010">
              <a:lnSpc>
                <a:spcPct val="100000"/>
              </a:lnSpc>
            </a:pPr>
            <a:r>
              <a:rPr sz="1600" spc="-10" dirty="0">
                <a:solidFill>
                  <a:srgbClr val="333333"/>
                </a:solidFill>
                <a:latin typeface="Consolas"/>
                <a:cs typeface="Consolas"/>
              </a:rPr>
              <a:t>@ServerEndpoint("/chat")</a:t>
            </a:r>
            <a:endParaRPr sz="1600" dirty="0">
              <a:latin typeface="Consolas"/>
              <a:cs typeface="Consolas"/>
            </a:endParaRPr>
          </a:p>
          <a:p>
            <a:pPr marL="659130" marR="4190365" indent="-452755">
              <a:lnSpc>
                <a:spcPts val="2340"/>
              </a:lnSpc>
              <a:spcBef>
                <a:spcPts val="60"/>
              </a:spcBef>
            </a:pP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public</a:t>
            </a:r>
            <a:r>
              <a:rPr sz="1600" spc="75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class</a:t>
            </a:r>
            <a:r>
              <a:rPr sz="1600" spc="75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ChatEndpoint</a:t>
            </a:r>
            <a:r>
              <a:rPr sz="1600" spc="8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spc="-50" dirty="0">
                <a:solidFill>
                  <a:srgbClr val="333333"/>
                </a:solidFill>
                <a:latin typeface="Consolas"/>
                <a:cs typeface="Consolas"/>
              </a:rPr>
              <a:t>{ </a:t>
            </a:r>
            <a:r>
              <a:rPr sz="1600" spc="-10" dirty="0">
                <a:solidFill>
                  <a:srgbClr val="333333"/>
                </a:solidFill>
                <a:latin typeface="Consolas"/>
                <a:cs typeface="Consolas"/>
              </a:rPr>
              <a:t>@OnMessage</a:t>
            </a:r>
            <a:endParaRPr sz="1600" dirty="0">
              <a:latin typeface="Consolas"/>
              <a:cs typeface="Consolas"/>
            </a:endParaRPr>
          </a:p>
          <a:p>
            <a:pPr marL="659130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public</a:t>
            </a:r>
            <a:r>
              <a:rPr sz="1600" spc="85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String</a:t>
            </a:r>
            <a:r>
              <a:rPr sz="1600" spc="9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onMessage(String</a:t>
            </a:r>
            <a:r>
              <a:rPr sz="1600" spc="9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message)</a:t>
            </a:r>
            <a:r>
              <a:rPr sz="1600" spc="9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spc="-50" dirty="0">
                <a:solidFill>
                  <a:srgbClr val="333333"/>
                </a:solidFill>
                <a:latin typeface="Consolas"/>
                <a:cs typeface="Consolas"/>
              </a:rPr>
              <a:t>{</a:t>
            </a:r>
            <a:endParaRPr sz="1600" dirty="0">
              <a:latin typeface="Consolas"/>
              <a:cs typeface="Consolas"/>
            </a:endParaRPr>
          </a:p>
          <a:p>
            <a:pPr marL="1111885">
              <a:lnSpc>
                <a:spcPct val="100000"/>
              </a:lnSpc>
              <a:spcBef>
                <a:spcPts val="330"/>
              </a:spcBef>
            </a:pP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return</a:t>
            </a:r>
            <a:r>
              <a:rPr sz="1600" spc="4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"Echo:</a:t>
            </a:r>
            <a:r>
              <a:rPr sz="1600" spc="4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"</a:t>
            </a:r>
            <a:r>
              <a:rPr sz="1600" spc="4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+</a:t>
            </a:r>
            <a:r>
              <a:rPr sz="1600" spc="4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Consolas"/>
                <a:cs typeface="Consolas"/>
              </a:rPr>
              <a:t>message;</a:t>
            </a:r>
            <a:endParaRPr sz="1600" dirty="0">
              <a:latin typeface="Consolas"/>
              <a:cs typeface="Consolas"/>
            </a:endParaRPr>
          </a:p>
          <a:p>
            <a:pPr marL="659130">
              <a:lnSpc>
                <a:spcPct val="100000"/>
              </a:lnSpc>
              <a:spcBef>
                <a:spcPts val="330"/>
              </a:spcBef>
            </a:pPr>
            <a:r>
              <a:rPr sz="1600" spc="-50" dirty="0">
                <a:solidFill>
                  <a:srgbClr val="333333"/>
                </a:solidFill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  <a:p>
            <a:pPr marL="207010">
              <a:lnSpc>
                <a:spcPct val="100000"/>
              </a:lnSpc>
              <a:spcBef>
                <a:spcPts val="330"/>
              </a:spcBef>
            </a:pPr>
            <a:r>
              <a:rPr sz="1600" spc="-50" dirty="0">
                <a:solidFill>
                  <a:srgbClr val="333333"/>
                </a:solidFill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600" dirty="0">
              <a:latin typeface="Consolas"/>
              <a:cs typeface="Consolas"/>
            </a:endParaRPr>
          </a:p>
          <a:p>
            <a:pPr marL="319405" indent="-306705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319405" algn="l"/>
              </a:tabLst>
            </a:pPr>
            <a:r>
              <a:rPr sz="2150" b="1" dirty="0">
                <a:solidFill>
                  <a:srgbClr val="2980B9"/>
                </a:solidFill>
                <a:latin typeface="Segoe UI"/>
                <a:cs typeface="Segoe UI"/>
              </a:rPr>
              <a:t>Программный</a:t>
            </a:r>
            <a:r>
              <a:rPr sz="2150" b="1" spc="-15" dirty="0">
                <a:solidFill>
                  <a:srgbClr val="2980B9"/>
                </a:solidFill>
                <a:latin typeface="Segoe UI"/>
                <a:cs typeface="Segoe UI"/>
              </a:rPr>
              <a:t> </a:t>
            </a:r>
            <a:r>
              <a:rPr sz="2150" b="1" dirty="0">
                <a:solidFill>
                  <a:srgbClr val="2980B9"/>
                </a:solidFill>
                <a:latin typeface="Segoe UI"/>
                <a:cs typeface="Segoe UI"/>
              </a:rPr>
              <a:t>endpoint</a:t>
            </a:r>
            <a:r>
              <a:rPr sz="2150" b="1" spc="-10" dirty="0">
                <a:solidFill>
                  <a:srgbClr val="2980B9"/>
                </a:solidFill>
                <a:latin typeface="Segoe UI"/>
                <a:cs typeface="Segoe UI"/>
              </a:rPr>
              <a:t> (гибкий)</a:t>
            </a:r>
            <a:endParaRPr sz="215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2150" dirty="0">
              <a:latin typeface="Segoe UI"/>
              <a:cs typeface="Segoe UI"/>
            </a:endParaRPr>
          </a:p>
          <a:p>
            <a:pPr marL="659130" marR="1362075" indent="-452755">
              <a:lnSpc>
                <a:spcPct val="117200"/>
              </a:lnSpc>
              <a:spcBef>
                <a:spcPts val="5"/>
              </a:spcBef>
            </a:pP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public</a:t>
            </a:r>
            <a:r>
              <a:rPr sz="1600" spc="9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class</a:t>
            </a:r>
            <a:r>
              <a:rPr sz="1600" spc="9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ProgrammaticEndpoint</a:t>
            </a:r>
            <a:r>
              <a:rPr sz="1600" spc="9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extends</a:t>
            </a:r>
            <a:r>
              <a:rPr sz="1600" spc="9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Endpoint</a:t>
            </a:r>
            <a:r>
              <a:rPr sz="1600" spc="9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spc="-50" dirty="0">
                <a:solidFill>
                  <a:srgbClr val="333333"/>
                </a:solidFill>
                <a:latin typeface="Consolas"/>
                <a:cs typeface="Consolas"/>
              </a:rPr>
              <a:t>{ </a:t>
            </a:r>
            <a:endParaRPr lang="ru-RU" sz="1600" spc="-50" dirty="0">
              <a:solidFill>
                <a:srgbClr val="333333"/>
              </a:solidFill>
              <a:latin typeface="Consolas"/>
              <a:cs typeface="Consolas"/>
            </a:endParaRPr>
          </a:p>
          <a:p>
            <a:pPr marL="659130" marR="1362075" indent="-452755">
              <a:lnSpc>
                <a:spcPct val="117200"/>
              </a:lnSpc>
              <a:spcBef>
                <a:spcPts val="5"/>
              </a:spcBef>
            </a:pPr>
            <a:r>
              <a:rPr lang="ru-RU" sz="1600" spc="-10" dirty="0">
                <a:solidFill>
                  <a:srgbClr val="333333"/>
                </a:solidFill>
                <a:latin typeface="Consolas"/>
                <a:cs typeface="Consolas"/>
              </a:rPr>
              <a:t>   </a:t>
            </a:r>
            <a:r>
              <a:rPr sz="1600" spc="-10" dirty="0">
                <a:solidFill>
                  <a:srgbClr val="333333"/>
                </a:solidFill>
                <a:latin typeface="Consolas"/>
                <a:cs typeface="Consolas"/>
              </a:rPr>
              <a:t>@Override</a:t>
            </a:r>
            <a:endParaRPr lang="en-US" sz="1600" dirty="0">
              <a:latin typeface="Consolas"/>
              <a:cs typeface="Consolas"/>
            </a:endParaRPr>
          </a:p>
          <a:p>
            <a:pPr marL="917575">
              <a:lnSpc>
                <a:spcPct val="100000"/>
              </a:lnSpc>
              <a:spcBef>
                <a:spcPts val="425"/>
              </a:spcBef>
            </a:pPr>
            <a:r>
              <a:rPr lang="en-US" sz="1600" dirty="0">
                <a:solidFill>
                  <a:srgbClr val="333333"/>
                </a:solidFill>
                <a:latin typeface="Consolas"/>
                <a:cs typeface="Consolas"/>
              </a:rPr>
              <a:t>public</a:t>
            </a:r>
            <a:r>
              <a:rPr lang="en-US" sz="1600" spc="85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lang="en-US" sz="1600" dirty="0">
                <a:solidFill>
                  <a:srgbClr val="333333"/>
                </a:solidFill>
                <a:latin typeface="Consolas"/>
                <a:cs typeface="Consolas"/>
              </a:rPr>
              <a:t>void</a:t>
            </a:r>
            <a:r>
              <a:rPr lang="en-US" sz="1600" spc="85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lang="en-US" sz="1600" dirty="0">
                <a:solidFill>
                  <a:srgbClr val="333333"/>
                </a:solidFill>
                <a:latin typeface="Consolas"/>
                <a:cs typeface="Consolas"/>
              </a:rPr>
              <a:t>onOpen(Session</a:t>
            </a:r>
            <a:r>
              <a:rPr lang="en-US" sz="1600" spc="9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lang="en-US" sz="1600" dirty="0">
                <a:solidFill>
                  <a:srgbClr val="333333"/>
                </a:solidFill>
                <a:latin typeface="Consolas"/>
                <a:cs typeface="Consolas"/>
              </a:rPr>
              <a:t>session,</a:t>
            </a:r>
            <a:r>
              <a:rPr lang="en-US" sz="1600" spc="85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lang="en-US" sz="1600" dirty="0">
                <a:solidFill>
                  <a:srgbClr val="333333"/>
                </a:solidFill>
                <a:latin typeface="Consolas"/>
                <a:cs typeface="Consolas"/>
              </a:rPr>
              <a:t>EndpointConfig</a:t>
            </a:r>
            <a:r>
              <a:rPr lang="en-US" sz="1600" spc="9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lang="en-US" sz="1600" dirty="0">
                <a:solidFill>
                  <a:srgbClr val="333333"/>
                </a:solidFill>
                <a:latin typeface="Consolas"/>
                <a:cs typeface="Consolas"/>
              </a:rPr>
              <a:t>config)</a:t>
            </a:r>
            <a:r>
              <a:rPr lang="en-US" sz="1600" spc="85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lang="en-US" sz="1600" spc="-50" dirty="0">
                <a:solidFill>
                  <a:srgbClr val="333333"/>
                </a:solidFill>
                <a:latin typeface="Consolas"/>
                <a:cs typeface="Consolas"/>
              </a:rPr>
              <a:t>{</a:t>
            </a:r>
            <a:br>
              <a:rPr lang="en-US" sz="1600" spc="-50" dirty="0">
                <a:solidFill>
                  <a:srgbClr val="333333"/>
                </a:solidFill>
                <a:latin typeface="Consolas"/>
                <a:cs typeface="Consolas"/>
              </a:rPr>
            </a:br>
            <a:r>
              <a:rPr lang="en-US" sz="1600" dirty="0">
                <a:solidFill>
                  <a:srgbClr val="333333"/>
                </a:solidFill>
                <a:latin typeface="Consolas"/>
                <a:cs typeface="Consolas"/>
              </a:rPr>
              <a:t>//</a:t>
            </a:r>
            <a:r>
              <a:rPr lang="en-US" sz="1600" spc="5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lang="ru-RU" sz="1600" dirty="0">
                <a:solidFill>
                  <a:srgbClr val="333333"/>
                </a:solidFill>
                <a:latin typeface="Consolas"/>
                <a:cs typeface="Consolas"/>
              </a:rPr>
              <a:t>Полный</a:t>
            </a:r>
            <a:r>
              <a:rPr lang="ru-RU" sz="1600" spc="5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lang="ru-RU" sz="1600" dirty="0">
                <a:solidFill>
                  <a:srgbClr val="333333"/>
                </a:solidFill>
                <a:latin typeface="Consolas"/>
                <a:cs typeface="Consolas"/>
              </a:rPr>
              <a:t>контроль</a:t>
            </a:r>
            <a:r>
              <a:rPr lang="ru-RU" sz="1600" spc="5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lang="ru-RU" sz="1600" dirty="0">
                <a:solidFill>
                  <a:srgbClr val="333333"/>
                </a:solidFill>
                <a:latin typeface="Consolas"/>
                <a:cs typeface="Consolas"/>
              </a:rPr>
              <a:t>над</a:t>
            </a:r>
            <a:r>
              <a:rPr lang="ru-RU" sz="1600" spc="55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lang="ru-RU" sz="1600" spc="-10" dirty="0">
                <a:solidFill>
                  <a:srgbClr val="333333"/>
                </a:solidFill>
                <a:latin typeface="Consolas"/>
                <a:cs typeface="Consolas"/>
              </a:rPr>
              <a:t>сессией</a:t>
            </a:r>
            <a:endParaRPr lang="ru-RU" sz="1600" dirty="0">
              <a:latin typeface="Consolas"/>
              <a:cs typeface="Consolas"/>
            </a:endParaRPr>
          </a:p>
          <a:p>
            <a:pPr marL="464820">
              <a:lnSpc>
                <a:spcPct val="100000"/>
              </a:lnSpc>
              <a:spcBef>
                <a:spcPts val="330"/>
              </a:spcBef>
            </a:pPr>
            <a:r>
              <a:rPr lang="ru-RU" sz="1600" spc="-50" dirty="0">
                <a:solidFill>
                  <a:srgbClr val="333333"/>
                </a:solidFill>
                <a:latin typeface="Consolas"/>
                <a:cs typeface="Consolas"/>
              </a:rPr>
              <a:t>}</a:t>
            </a:r>
            <a:endParaRPr lang="ru-RU"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lang="ru-RU" sz="1600" spc="-50" dirty="0">
                <a:solidFill>
                  <a:srgbClr val="333333"/>
                </a:solidFill>
                <a:latin typeface="Consolas"/>
                <a:cs typeface="Consolas"/>
              </a:rPr>
              <a:t>}</a:t>
            </a:r>
            <a:br>
              <a:rPr lang="ru-RU" sz="1600" spc="-50" dirty="0">
                <a:solidFill>
                  <a:srgbClr val="333333"/>
                </a:solidFill>
                <a:latin typeface="Consolas"/>
                <a:cs typeface="Consolas"/>
              </a:rPr>
            </a:br>
            <a:endParaRPr sz="16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1989" y="361955"/>
            <a:ext cx="11452860" cy="7053580"/>
            <a:chOff x="681989" y="361955"/>
            <a:chExt cx="11452860" cy="7053580"/>
          </a:xfrm>
        </p:grpSpPr>
        <p:sp>
          <p:nvSpPr>
            <p:cNvPr id="3" name="object 3"/>
            <p:cNvSpPr/>
            <p:nvPr/>
          </p:nvSpPr>
          <p:spPr>
            <a:xfrm>
              <a:off x="681977" y="361962"/>
              <a:ext cx="11452860" cy="7053580"/>
            </a:xfrm>
            <a:custGeom>
              <a:avLst/>
              <a:gdLst/>
              <a:ahLst/>
              <a:cxnLst/>
              <a:rect l="l" t="t" r="r" b="b"/>
              <a:pathLst>
                <a:path w="11452860" h="7053580">
                  <a:moveTo>
                    <a:pt x="11452860" y="137160"/>
                  </a:moveTo>
                  <a:lnTo>
                    <a:pt x="11446993" y="97396"/>
                  </a:lnTo>
                  <a:lnTo>
                    <a:pt x="11429771" y="60947"/>
                  </a:lnTo>
                  <a:lnTo>
                    <a:pt x="11412639" y="40220"/>
                  </a:lnTo>
                  <a:lnTo>
                    <a:pt x="11412106" y="39662"/>
                  </a:lnTo>
                  <a:lnTo>
                    <a:pt x="11402670" y="31076"/>
                  </a:lnTo>
                  <a:lnTo>
                    <a:pt x="11391925" y="23088"/>
                  </a:lnTo>
                  <a:lnTo>
                    <a:pt x="11380432" y="16205"/>
                  </a:lnTo>
                  <a:lnTo>
                    <a:pt x="11370285" y="11430"/>
                  </a:lnTo>
                  <a:lnTo>
                    <a:pt x="11368189" y="10439"/>
                  </a:lnTo>
                  <a:lnTo>
                    <a:pt x="11355464" y="5867"/>
                  </a:lnTo>
                  <a:lnTo>
                    <a:pt x="11342472" y="2603"/>
                  </a:lnTo>
                  <a:lnTo>
                    <a:pt x="11329213" y="647"/>
                  </a:lnTo>
                  <a:lnTo>
                    <a:pt x="11315700" y="0"/>
                  </a:lnTo>
                  <a:lnTo>
                    <a:pt x="137160" y="0"/>
                  </a:lnTo>
                  <a:lnTo>
                    <a:pt x="97409" y="5867"/>
                  </a:lnTo>
                  <a:lnTo>
                    <a:pt x="60947" y="23088"/>
                  </a:lnTo>
                  <a:lnTo>
                    <a:pt x="40754" y="39649"/>
                  </a:lnTo>
                  <a:lnTo>
                    <a:pt x="40182" y="40170"/>
                  </a:lnTo>
                  <a:lnTo>
                    <a:pt x="31089" y="50190"/>
                  </a:lnTo>
                  <a:lnTo>
                    <a:pt x="23101" y="60947"/>
                  </a:lnTo>
                  <a:lnTo>
                    <a:pt x="5880" y="97396"/>
                  </a:lnTo>
                  <a:lnTo>
                    <a:pt x="0" y="137160"/>
                  </a:lnTo>
                  <a:lnTo>
                    <a:pt x="0" y="7053250"/>
                  </a:lnTo>
                  <a:lnTo>
                    <a:pt x="11430" y="7053250"/>
                  </a:lnTo>
                  <a:lnTo>
                    <a:pt x="11430" y="137160"/>
                  </a:lnTo>
                  <a:lnTo>
                    <a:pt x="12039" y="124777"/>
                  </a:lnTo>
                  <a:lnTo>
                    <a:pt x="26301" y="77825"/>
                  </a:lnTo>
                  <a:lnTo>
                    <a:pt x="57442" y="39916"/>
                  </a:lnTo>
                  <a:lnTo>
                    <a:pt x="100723" y="16814"/>
                  </a:lnTo>
                  <a:lnTo>
                    <a:pt x="137160" y="11430"/>
                  </a:lnTo>
                  <a:lnTo>
                    <a:pt x="11315700" y="11430"/>
                  </a:lnTo>
                  <a:lnTo>
                    <a:pt x="11363820" y="20993"/>
                  </a:lnTo>
                  <a:lnTo>
                    <a:pt x="11404003" y="47701"/>
                  </a:lnTo>
                  <a:lnTo>
                    <a:pt x="11431867" y="89039"/>
                  </a:lnTo>
                  <a:lnTo>
                    <a:pt x="11441430" y="137160"/>
                  </a:lnTo>
                  <a:lnTo>
                    <a:pt x="11441430" y="7053250"/>
                  </a:lnTo>
                  <a:lnTo>
                    <a:pt x="11452860" y="7053250"/>
                  </a:lnTo>
                  <a:lnTo>
                    <a:pt x="11452860" y="13716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36320" y="1607824"/>
              <a:ext cx="10744200" cy="11430"/>
            </a:xfrm>
            <a:custGeom>
              <a:avLst/>
              <a:gdLst/>
              <a:ahLst/>
              <a:cxnLst/>
              <a:rect l="l" t="t" r="r" b="b"/>
              <a:pathLst>
                <a:path w="10744200" h="11430">
                  <a:moveTo>
                    <a:pt x="10744200" y="11430"/>
                  </a:moveTo>
                  <a:lnTo>
                    <a:pt x="0" y="11430"/>
                  </a:lnTo>
                  <a:lnTo>
                    <a:pt x="0" y="0"/>
                  </a:lnTo>
                  <a:lnTo>
                    <a:pt x="10744200" y="0"/>
                  </a:lnTo>
                  <a:lnTo>
                    <a:pt x="10744200" y="1143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36307" y="1802142"/>
              <a:ext cx="10744200" cy="5613400"/>
            </a:xfrm>
            <a:custGeom>
              <a:avLst/>
              <a:gdLst/>
              <a:ahLst/>
              <a:cxnLst/>
              <a:rect l="l" t="t" r="r" b="b"/>
              <a:pathLst>
                <a:path w="10744200" h="5613400">
                  <a:moveTo>
                    <a:pt x="10744200" y="91440"/>
                  </a:moveTo>
                  <a:lnTo>
                    <a:pt x="10733392" y="48285"/>
                  </a:lnTo>
                  <a:lnTo>
                    <a:pt x="10717365" y="26835"/>
                  </a:lnTo>
                  <a:lnTo>
                    <a:pt x="10716832" y="26263"/>
                  </a:lnTo>
                  <a:lnTo>
                    <a:pt x="10710748" y="20713"/>
                  </a:lnTo>
                  <a:lnTo>
                    <a:pt x="10703573" y="15392"/>
                  </a:lnTo>
                  <a:lnTo>
                    <a:pt x="10696943" y="11430"/>
                  </a:lnTo>
                  <a:lnTo>
                    <a:pt x="10695915" y="10807"/>
                  </a:lnTo>
                  <a:lnTo>
                    <a:pt x="10652760" y="0"/>
                  </a:lnTo>
                  <a:lnTo>
                    <a:pt x="91440" y="0"/>
                  </a:lnTo>
                  <a:lnTo>
                    <a:pt x="48298" y="10807"/>
                  </a:lnTo>
                  <a:lnTo>
                    <a:pt x="27393" y="26238"/>
                  </a:lnTo>
                  <a:lnTo>
                    <a:pt x="26784" y="26784"/>
                  </a:lnTo>
                  <a:lnTo>
                    <a:pt x="20726" y="33451"/>
                  </a:lnTo>
                  <a:lnTo>
                    <a:pt x="15405" y="40627"/>
                  </a:lnTo>
                  <a:lnTo>
                    <a:pt x="444" y="82435"/>
                  </a:lnTo>
                  <a:lnTo>
                    <a:pt x="0" y="91440"/>
                  </a:lnTo>
                  <a:lnTo>
                    <a:pt x="0" y="5613070"/>
                  </a:lnTo>
                  <a:lnTo>
                    <a:pt x="11430" y="5613070"/>
                  </a:lnTo>
                  <a:lnTo>
                    <a:pt x="11430" y="91440"/>
                  </a:lnTo>
                  <a:lnTo>
                    <a:pt x="11811" y="83553"/>
                  </a:lnTo>
                  <a:lnTo>
                    <a:pt x="24904" y="46977"/>
                  </a:lnTo>
                  <a:lnTo>
                    <a:pt x="53695" y="20878"/>
                  </a:lnTo>
                  <a:lnTo>
                    <a:pt x="91440" y="11430"/>
                  </a:lnTo>
                  <a:lnTo>
                    <a:pt x="10652760" y="11430"/>
                  </a:lnTo>
                  <a:lnTo>
                    <a:pt x="10690517" y="20878"/>
                  </a:lnTo>
                  <a:lnTo>
                    <a:pt x="10719308" y="46977"/>
                  </a:lnTo>
                  <a:lnTo>
                    <a:pt x="10732389" y="83553"/>
                  </a:lnTo>
                  <a:lnTo>
                    <a:pt x="10732770" y="91440"/>
                  </a:lnTo>
                  <a:lnTo>
                    <a:pt x="10732770" y="5613070"/>
                  </a:lnTo>
                  <a:lnTo>
                    <a:pt x="10744200" y="5613070"/>
                  </a:lnTo>
                  <a:lnTo>
                    <a:pt x="10744200" y="9144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Сервер:</a:t>
            </a:r>
            <a:r>
              <a:rPr spc="-10" dirty="0"/>
              <a:t> Эхо-</a:t>
            </a:r>
            <a:r>
              <a:rPr dirty="0"/>
              <a:t>сервер</a:t>
            </a:r>
            <a:r>
              <a:rPr spc="-10" dirty="0"/>
              <a:t> </a:t>
            </a:r>
            <a:r>
              <a:rPr dirty="0"/>
              <a:t>с</a:t>
            </a:r>
            <a:r>
              <a:rPr spc="-10" dirty="0"/>
              <a:t> </a:t>
            </a:r>
            <a:r>
              <a:rPr dirty="0"/>
              <a:t>обработкой</a:t>
            </a:r>
            <a:r>
              <a:rPr spc="-10" dirty="0"/>
              <a:t> состояния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F25E8BF-729E-CB93-1E4A-1F0738D1B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778" y="1540305"/>
            <a:ext cx="5096629" cy="5790992"/>
          </a:xfrm>
          <a:prstGeom prst="rect">
            <a:avLst/>
          </a:prstGeom>
        </p:spPr>
      </p:pic>
      <p:sp>
        <p:nvSpPr>
          <p:cNvPr id="10" name="object 4"/>
          <p:cNvSpPr txBox="1"/>
          <p:nvPr/>
        </p:nvSpPr>
        <p:spPr>
          <a:xfrm>
            <a:off x="7133841" y="3742499"/>
            <a:ext cx="4275561" cy="61170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12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Внимание:</a:t>
            </a:r>
            <a:r>
              <a:rPr sz="1800" i="1" spc="-35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хранение</a:t>
            </a:r>
            <a:r>
              <a:rPr sz="1800" i="1" spc="-40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сессий</a:t>
            </a:r>
            <a:r>
              <a:rPr sz="1800" i="1" spc="-35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в</a:t>
            </a:r>
            <a:r>
              <a:rPr sz="1800" i="1" spc="-40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памяти</a:t>
            </a:r>
            <a:r>
              <a:rPr sz="1800" i="1" spc="-35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—</a:t>
            </a:r>
            <a:r>
              <a:rPr sz="1800" i="1" spc="-35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spc="-10" dirty="0">
                <a:solidFill>
                  <a:srgbClr val="333333"/>
                </a:solidFill>
                <a:latin typeface="Segoe UI Semilight"/>
                <a:cs typeface="Segoe UI Semilight"/>
              </a:rPr>
              <a:t>антипаттерн</a:t>
            </a:r>
            <a:r>
              <a:rPr sz="1800" i="1" spc="-40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для</a:t>
            </a:r>
            <a:r>
              <a:rPr sz="1800" i="1" spc="-35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spc="-10" dirty="0">
                <a:solidFill>
                  <a:srgbClr val="333333"/>
                </a:solidFill>
                <a:latin typeface="Segoe UI Semilight"/>
                <a:cs typeface="Segoe UI Semilight"/>
              </a:rPr>
              <a:t>продакшена!</a:t>
            </a:r>
            <a:endParaRPr sz="1800" dirty="0">
              <a:latin typeface="Segoe UI Semilight"/>
              <a:cs typeface="Segoe UI Semi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1977" y="361949"/>
            <a:ext cx="11452860" cy="7053580"/>
            <a:chOff x="681977" y="361949"/>
            <a:chExt cx="11452860" cy="7053580"/>
          </a:xfrm>
        </p:grpSpPr>
        <p:sp>
          <p:nvSpPr>
            <p:cNvPr id="3" name="object 3"/>
            <p:cNvSpPr/>
            <p:nvPr/>
          </p:nvSpPr>
          <p:spPr>
            <a:xfrm>
              <a:off x="681977" y="361949"/>
              <a:ext cx="11452860" cy="7053580"/>
            </a:xfrm>
            <a:custGeom>
              <a:avLst/>
              <a:gdLst/>
              <a:ahLst/>
              <a:cxnLst/>
              <a:rect l="l" t="t" r="r" b="b"/>
              <a:pathLst>
                <a:path w="11452860" h="7053580">
                  <a:moveTo>
                    <a:pt x="11452860" y="137172"/>
                  </a:moveTo>
                  <a:lnTo>
                    <a:pt x="11446993" y="97409"/>
                  </a:lnTo>
                  <a:lnTo>
                    <a:pt x="11429771" y="60947"/>
                  </a:lnTo>
                  <a:lnTo>
                    <a:pt x="11412639" y="40233"/>
                  </a:lnTo>
                  <a:lnTo>
                    <a:pt x="11412106" y="39674"/>
                  </a:lnTo>
                  <a:lnTo>
                    <a:pt x="11380432" y="16217"/>
                  </a:lnTo>
                  <a:lnTo>
                    <a:pt x="11342472" y="2616"/>
                  </a:lnTo>
                  <a:lnTo>
                    <a:pt x="11315700" y="0"/>
                  </a:lnTo>
                  <a:lnTo>
                    <a:pt x="137160" y="0"/>
                  </a:lnTo>
                  <a:lnTo>
                    <a:pt x="97409" y="5880"/>
                  </a:lnTo>
                  <a:lnTo>
                    <a:pt x="60947" y="23101"/>
                  </a:lnTo>
                  <a:lnTo>
                    <a:pt x="40754" y="39662"/>
                  </a:lnTo>
                  <a:lnTo>
                    <a:pt x="40182" y="40182"/>
                  </a:lnTo>
                  <a:lnTo>
                    <a:pt x="31089" y="50190"/>
                  </a:lnTo>
                  <a:lnTo>
                    <a:pt x="23101" y="60947"/>
                  </a:lnTo>
                  <a:lnTo>
                    <a:pt x="5880" y="97409"/>
                  </a:lnTo>
                  <a:lnTo>
                    <a:pt x="0" y="137172"/>
                  </a:lnTo>
                  <a:lnTo>
                    <a:pt x="0" y="7053275"/>
                  </a:lnTo>
                  <a:lnTo>
                    <a:pt x="11430" y="7053275"/>
                  </a:lnTo>
                  <a:lnTo>
                    <a:pt x="11430" y="137172"/>
                  </a:lnTo>
                  <a:lnTo>
                    <a:pt x="12039" y="124777"/>
                  </a:lnTo>
                  <a:lnTo>
                    <a:pt x="26301" y="77838"/>
                  </a:lnTo>
                  <a:lnTo>
                    <a:pt x="48831" y="47752"/>
                  </a:lnTo>
                  <a:lnTo>
                    <a:pt x="89052" y="21005"/>
                  </a:lnTo>
                  <a:lnTo>
                    <a:pt x="137160" y="11430"/>
                  </a:lnTo>
                  <a:lnTo>
                    <a:pt x="11315700" y="11430"/>
                  </a:lnTo>
                  <a:lnTo>
                    <a:pt x="11363820" y="21005"/>
                  </a:lnTo>
                  <a:lnTo>
                    <a:pt x="11404029" y="47752"/>
                  </a:lnTo>
                  <a:lnTo>
                    <a:pt x="11431867" y="89052"/>
                  </a:lnTo>
                  <a:lnTo>
                    <a:pt x="11441430" y="137172"/>
                  </a:lnTo>
                  <a:lnTo>
                    <a:pt x="11441430" y="7053275"/>
                  </a:lnTo>
                  <a:lnTo>
                    <a:pt x="11452860" y="7053275"/>
                  </a:lnTo>
                  <a:lnTo>
                    <a:pt x="11452860" y="137172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36307" y="1447183"/>
              <a:ext cx="10744200" cy="11430"/>
            </a:xfrm>
            <a:custGeom>
              <a:avLst/>
              <a:gdLst/>
              <a:ahLst/>
              <a:cxnLst/>
              <a:rect l="l" t="t" r="r" b="b"/>
              <a:pathLst>
                <a:path w="10744200" h="11430">
                  <a:moveTo>
                    <a:pt x="10744200" y="11430"/>
                  </a:moveTo>
                  <a:lnTo>
                    <a:pt x="0" y="11430"/>
                  </a:lnTo>
                  <a:lnTo>
                    <a:pt x="0" y="0"/>
                  </a:lnTo>
                  <a:lnTo>
                    <a:pt x="10744200" y="0"/>
                  </a:lnTo>
                  <a:lnTo>
                    <a:pt x="10744200" y="1143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36307" y="1553236"/>
              <a:ext cx="10744200" cy="5862293"/>
            </a:xfrm>
            <a:custGeom>
              <a:avLst/>
              <a:gdLst/>
              <a:ahLst/>
              <a:cxnLst/>
              <a:rect l="l" t="t" r="r" b="b"/>
              <a:pathLst>
                <a:path w="10744200" h="5613400">
                  <a:moveTo>
                    <a:pt x="10744200" y="91452"/>
                  </a:moveTo>
                  <a:lnTo>
                    <a:pt x="10733392" y="48298"/>
                  </a:lnTo>
                  <a:lnTo>
                    <a:pt x="10717365" y="26847"/>
                  </a:lnTo>
                  <a:lnTo>
                    <a:pt x="10716819" y="26250"/>
                  </a:lnTo>
                  <a:lnTo>
                    <a:pt x="10710748" y="20726"/>
                  </a:lnTo>
                  <a:lnTo>
                    <a:pt x="10703573" y="15405"/>
                  </a:lnTo>
                  <a:lnTo>
                    <a:pt x="10661777" y="444"/>
                  </a:lnTo>
                  <a:lnTo>
                    <a:pt x="10652760" y="0"/>
                  </a:lnTo>
                  <a:lnTo>
                    <a:pt x="91440" y="0"/>
                  </a:lnTo>
                  <a:lnTo>
                    <a:pt x="48298" y="10820"/>
                  </a:lnTo>
                  <a:lnTo>
                    <a:pt x="27381" y="26250"/>
                  </a:lnTo>
                  <a:lnTo>
                    <a:pt x="26784" y="26784"/>
                  </a:lnTo>
                  <a:lnTo>
                    <a:pt x="20726" y="33464"/>
                  </a:lnTo>
                  <a:lnTo>
                    <a:pt x="15405" y="40640"/>
                  </a:lnTo>
                  <a:lnTo>
                    <a:pt x="444" y="82435"/>
                  </a:lnTo>
                  <a:lnTo>
                    <a:pt x="0" y="91452"/>
                  </a:lnTo>
                  <a:lnTo>
                    <a:pt x="0" y="5613095"/>
                  </a:lnTo>
                  <a:lnTo>
                    <a:pt x="11430" y="5613095"/>
                  </a:lnTo>
                  <a:lnTo>
                    <a:pt x="11430" y="91452"/>
                  </a:lnTo>
                  <a:lnTo>
                    <a:pt x="11811" y="83566"/>
                  </a:lnTo>
                  <a:lnTo>
                    <a:pt x="24904" y="46990"/>
                  </a:lnTo>
                  <a:lnTo>
                    <a:pt x="53695" y="20891"/>
                  </a:lnTo>
                  <a:lnTo>
                    <a:pt x="91440" y="11430"/>
                  </a:lnTo>
                  <a:lnTo>
                    <a:pt x="10652760" y="11430"/>
                  </a:lnTo>
                  <a:lnTo>
                    <a:pt x="10690517" y="20891"/>
                  </a:lnTo>
                  <a:lnTo>
                    <a:pt x="10719308" y="46990"/>
                  </a:lnTo>
                  <a:lnTo>
                    <a:pt x="10732389" y="83566"/>
                  </a:lnTo>
                  <a:lnTo>
                    <a:pt x="10732770" y="91452"/>
                  </a:lnTo>
                  <a:lnTo>
                    <a:pt x="10732770" y="5613095"/>
                  </a:lnTo>
                  <a:lnTo>
                    <a:pt x="10744200" y="5613095"/>
                  </a:lnTo>
                  <a:lnTo>
                    <a:pt x="10744200" y="91452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36307" y="942985"/>
            <a:ext cx="7055484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Сервер:</a:t>
            </a:r>
            <a:r>
              <a:rPr spc="-10" dirty="0"/>
              <a:t> </a:t>
            </a:r>
            <a:r>
              <a:rPr dirty="0"/>
              <a:t>Чат-комната</a:t>
            </a:r>
            <a:r>
              <a:rPr spc="-10" dirty="0"/>
              <a:t> </a:t>
            </a:r>
            <a:r>
              <a:rPr dirty="0"/>
              <a:t>с</a:t>
            </a:r>
            <a:r>
              <a:rPr spc="-10" dirty="0"/>
              <a:t> broadcast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E1E8019-9228-1B00-DC8D-A3167EDDE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638941"/>
            <a:ext cx="4495800" cy="57219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FF7382-65D7-8A83-7839-63CBEDBFEC39}"/>
              </a:ext>
            </a:extLst>
          </p:cNvPr>
          <p:cNvSpPr txBox="1"/>
          <p:nvPr/>
        </p:nvSpPr>
        <p:spPr>
          <a:xfrm>
            <a:off x="6297930" y="3412924"/>
            <a:ext cx="6400800" cy="1195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37500"/>
              </a:lnSpc>
              <a:spcBef>
                <a:spcPts val="5"/>
              </a:spcBef>
              <a:tabLst>
                <a:tab pos="1020444" algn="l"/>
                <a:tab pos="3842385" algn="l"/>
                <a:tab pos="7339330" algn="l"/>
              </a:tabLst>
            </a:pPr>
            <a:r>
              <a:rPr lang="ru-RU" sz="1800" b="1" spc="-10" dirty="0">
                <a:solidFill>
                  <a:srgbClr val="333333"/>
                </a:solidFill>
                <a:latin typeface="Segoe UI"/>
                <a:cs typeface="Segoe UI"/>
              </a:rPr>
              <a:t>Почему</a:t>
            </a:r>
            <a:r>
              <a:rPr lang="ru-RU" sz="1800" b="1" dirty="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lang="ru-RU" sz="1600" b="1" dirty="0" err="1">
                <a:solidFill>
                  <a:srgbClr val="D35300"/>
                </a:solidFill>
                <a:latin typeface="Consolas"/>
                <a:cs typeface="Consolas"/>
              </a:rPr>
              <a:t>AsyncRemote</a:t>
            </a:r>
            <a:r>
              <a:rPr lang="ru-RU" sz="1600" b="1" spc="-310" dirty="0">
                <a:solidFill>
                  <a:srgbClr val="D35300"/>
                </a:solidFill>
                <a:latin typeface="Consolas"/>
                <a:cs typeface="Consolas"/>
              </a:rPr>
              <a:t> </a:t>
            </a:r>
            <a:r>
              <a:rPr lang="ru-RU" sz="1800" b="1" dirty="0">
                <a:solidFill>
                  <a:srgbClr val="333333"/>
                </a:solidFill>
                <a:latin typeface="Segoe UI"/>
                <a:cs typeface="Segoe UI"/>
              </a:rPr>
              <a:t>?</a:t>
            </a:r>
            <a:r>
              <a:rPr lang="ru-RU" sz="1800" b="1" spc="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ru-RU" sz="1800" dirty="0">
                <a:solidFill>
                  <a:srgbClr val="333333"/>
                </a:solidFill>
                <a:latin typeface="Segoe UI"/>
                <a:cs typeface="Segoe UI"/>
              </a:rPr>
              <a:t>Потому</a:t>
            </a:r>
            <a:r>
              <a:rPr lang="ru-RU" sz="1800" spc="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ru-RU" sz="1800" spc="-25" dirty="0">
                <a:solidFill>
                  <a:srgbClr val="333333"/>
                </a:solidFill>
                <a:latin typeface="Segoe UI"/>
                <a:cs typeface="Segoe UI"/>
              </a:rPr>
              <a:t>что</a:t>
            </a:r>
            <a:r>
              <a:rPr lang="ru-RU" sz="1800" dirty="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lang="ru-RU" sz="1600" dirty="0" err="1">
                <a:solidFill>
                  <a:srgbClr val="D35300"/>
                </a:solidFill>
                <a:latin typeface="Consolas"/>
                <a:cs typeface="Consolas"/>
              </a:rPr>
              <a:t>BasicRemote</a:t>
            </a:r>
            <a:r>
              <a:rPr lang="ru-RU" sz="1600" spc="155" dirty="0">
                <a:solidFill>
                  <a:srgbClr val="D35300"/>
                </a:solidFill>
                <a:latin typeface="Consolas"/>
                <a:cs typeface="Consolas"/>
              </a:rPr>
              <a:t> </a:t>
            </a:r>
            <a:r>
              <a:rPr lang="ru-RU" sz="1800" dirty="0">
                <a:solidFill>
                  <a:srgbClr val="333333"/>
                </a:solidFill>
                <a:latin typeface="Segoe UI"/>
                <a:cs typeface="Segoe UI"/>
              </a:rPr>
              <a:t>блокирует поток,</a:t>
            </a:r>
            <a:r>
              <a:rPr lang="ru-RU" sz="1800" spc="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ru-RU" sz="1800" spc="-50" dirty="0">
                <a:solidFill>
                  <a:srgbClr val="333333"/>
                </a:solidFill>
                <a:latin typeface="Segoe UI"/>
                <a:cs typeface="Segoe UI"/>
              </a:rPr>
              <a:t>а</a:t>
            </a:r>
            <a:r>
              <a:rPr lang="ru-RU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ru-RU" sz="1600" dirty="0" err="1">
                <a:solidFill>
                  <a:srgbClr val="D35300"/>
                </a:solidFill>
                <a:latin typeface="Consolas"/>
                <a:cs typeface="Consolas"/>
              </a:rPr>
              <a:t>AsyncRemote</a:t>
            </a:r>
            <a:r>
              <a:rPr lang="ru-RU" sz="1600" spc="195" dirty="0">
                <a:solidFill>
                  <a:srgbClr val="D35300"/>
                </a:solidFill>
                <a:latin typeface="Consolas"/>
                <a:cs typeface="Consolas"/>
              </a:rPr>
              <a:t> </a:t>
            </a:r>
            <a:r>
              <a:rPr lang="ru-RU" sz="1800" dirty="0">
                <a:solidFill>
                  <a:srgbClr val="333333"/>
                </a:solidFill>
                <a:latin typeface="Segoe UI"/>
                <a:cs typeface="Segoe UI"/>
              </a:rPr>
              <a:t>—</a:t>
            </a:r>
            <a:r>
              <a:rPr lang="ru-RU" sz="1800" spc="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ru-RU" sz="1800" dirty="0">
                <a:solidFill>
                  <a:srgbClr val="333333"/>
                </a:solidFill>
                <a:latin typeface="Segoe UI"/>
                <a:cs typeface="Segoe UI"/>
              </a:rPr>
              <a:t>нет.</a:t>
            </a:r>
            <a:r>
              <a:rPr lang="ru-RU" sz="1800" spc="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ru-RU" sz="1800" spc="-25" dirty="0">
                <a:solidFill>
                  <a:srgbClr val="333333"/>
                </a:solidFill>
                <a:latin typeface="Segoe UI"/>
                <a:cs typeface="Segoe UI"/>
              </a:rPr>
              <a:t>Это </a:t>
            </a:r>
            <a:r>
              <a:rPr lang="ru-RU" sz="1800" dirty="0">
                <a:solidFill>
                  <a:srgbClr val="333333"/>
                </a:solidFill>
                <a:latin typeface="Segoe UI"/>
                <a:cs typeface="Segoe UI"/>
              </a:rPr>
              <a:t>критично</a:t>
            </a:r>
            <a:r>
              <a:rPr lang="ru-RU" sz="18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ru-RU" sz="1800" dirty="0">
                <a:solidFill>
                  <a:srgbClr val="333333"/>
                </a:solidFill>
                <a:latin typeface="Segoe UI"/>
                <a:cs typeface="Segoe UI"/>
              </a:rPr>
              <a:t>при</a:t>
            </a:r>
            <a:r>
              <a:rPr lang="ru-RU" sz="18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ru-RU" sz="1800" dirty="0">
                <a:solidFill>
                  <a:srgbClr val="333333"/>
                </a:solidFill>
                <a:latin typeface="Segoe UI"/>
                <a:cs typeface="Segoe UI"/>
              </a:rPr>
              <a:t>тысячах</a:t>
            </a:r>
            <a:r>
              <a:rPr lang="ru-RU" sz="18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ru-RU" sz="1800" spc="-10" dirty="0">
                <a:solidFill>
                  <a:srgbClr val="333333"/>
                </a:solidFill>
                <a:latin typeface="Segoe UI"/>
                <a:cs typeface="Segoe UI"/>
              </a:rPr>
              <a:t>подключений!</a:t>
            </a:r>
            <a:endParaRPr lang="ru-RU" sz="18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23618" y="1046486"/>
            <a:ext cx="10482581" cy="104951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Java</a:t>
            </a:r>
            <a:r>
              <a:rPr spc="-85" dirty="0"/>
              <a:t> </a:t>
            </a:r>
            <a:r>
              <a:rPr dirty="0"/>
              <a:t>WebSocket</a:t>
            </a:r>
            <a:r>
              <a:rPr spc="-80" dirty="0"/>
              <a:t> </a:t>
            </a:r>
            <a:r>
              <a:rPr spc="-10" dirty="0"/>
              <a:t>Client</a:t>
            </a:r>
            <a:br>
              <a:rPr lang="ru-RU" spc="-10" dirty="0"/>
            </a:br>
            <a:r>
              <a:rPr lang="ru-RU" spc="-10" dirty="0"/>
              <a:t>Клиент для подключения к эхо-серверу</a:t>
            </a:r>
            <a:endParaRPr spc="-1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5C3EB36-7753-4044-98CB-F5F974820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780" y="2362200"/>
            <a:ext cx="9457020" cy="50792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5C2262-BC94-458A-8998-0B431393D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549" y="2743200"/>
            <a:ext cx="6096000" cy="3906514"/>
          </a:xfrm>
        </p:spPr>
        <p:txBody>
          <a:bodyPr/>
          <a:lstStyle/>
          <a:p>
            <a:r>
              <a:rPr lang="ru-RU" dirty="0"/>
              <a:t>Продвинутый клиент с обработкой команд</a:t>
            </a:r>
            <a:br>
              <a:rPr lang="ru-RU" dirty="0"/>
            </a:br>
            <a:r>
              <a:rPr lang="ru-RU" dirty="0"/>
              <a:t>Интерактивный клиент чата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4E5516-6798-4E9A-935E-E5CB3BD77A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381000"/>
            <a:ext cx="5904051" cy="728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070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1990" y="361951"/>
            <a:ext cx="11452860" cy="6035040"/>
            <a:chOff x="681990" y="361951"/>
            <a:chExt cx="11452860" cy="6035040"/>
          </a:xfrm>
        </p:grpSpPr>
        <p:sp>
          <p:nvSpPr>
            <p:cNvPr id="3" name="object 3"/>
            <p:cNvSpPr/>
            <p:nvPr/>
          </p:nvSpPr>
          <p:spPr>
            <a:xfrm>
              <a:off x="687705" y="367666"/>
              <a:ext cx="11441430" cy="6023610"/>
            </a:xfrm>
            <a:custGeom>
              <a:avLst/>
              <a:gdLst/>
              <a:ahLst/>
              <a:cxnLst/>
              <a:rect l="l" t="t" r="r" b="b"/>
              <a:pathLst>
                <a:path w="11441430" h="6023610">
                  <a:moveTo>
                    <a:pt x="0" y="5892165"/>
                  </a:moveTo>
                  <a:lnTo>
                    <a:pt x="0" y="131445"/>
                  </a:lnTo>
                  <a:lnTo>
                    <a:pt x="157" y="124990"/>
                  </a:lnTo>
                  <a:lnTo>
                    <a:pt x="7680" y="87167"/>
                  </a:lnTo>
                  <a:lnTo>
                    <a:pt x="25871" y="53129"/>
                  </a:lnTo>
                  <a:lnTo>
                    <a:pt x="53136" y="25855"/>
                  </a:lnTo>
                  <a:lnTo>
                    <a:pt x="87169" y="7670"/>
                  </a:lnTo>
                  <a:lnTo>
                    <a:pt x="124987" y="163"/>
                  </a:lnTo>
                  <a:lnTo>
                    <a:pt x="131445" y="0"/>
                  </a:lnTo>
                  <a:lnTo>
                    <a:pt x="11309985" y="0"/>
                  </a:lnTo>
                  <a:lnTo>
                    <a:pt x="11348141" y="5653"/>
                  </a:lnTo>
                  <a:lnTo>
                    <a:pt x="11383010" y="22134"/>
                  </a:lnTo>
                  <a:lnTo>
                    <a:pt x="11411594" y="48047"/>
                  </a:lnTo>
                  <a:lnTo>
                    <a:pt x="11431423" y="81137"/>
                  </a:lnTo>
                  <a:lnTo>
                    <a:pt x="11440798" y="118566"/>
                  </a:lnTo>
                  <a:lnTo>
                    <a:pt x="11441430" y="131445"/>
                  </a:lnTo>
                  <a:lnTo>
                    <a:pt x="11441430" y="5892165"/>
                  </a:lnTo>
                  <a:lnTo>
                    <a:pt x="11435770" y="5930302"/>
                  </a:lnTo>
                  <a:lnTo>
                    <a:pt x="11419277" y="5965176"/>
                  </a:lnTo>
                  <a:lnTo>
                    <a:pt x="11393372" y="5993765"/>
                  </a:lnTo>
                  <a:lnTo>
                    <a:pt x="11360286" y="6013586"/>
                  </a:lnTo>
                  <a:lnTo>
                    <a:pt x="11322868" y="6022971"/>
                  </a:lnTo>
                  <a:lnTo>
                    <a:pt x="11309985" y="6023610"/>
                  </a:lnTo>
                  <a:lnTo>
                    <a:pt x="131445" y="6023610"/>
                  </a:lnTo>
                  <a:lnTo>
                    <a:pt x="93288" y="6017942"/>
                  </a:lnTo>
                  <a:lnTo>
                    <a:pt x="58418" y="6001441"/>
                  </a:lnTo>
                  <a:lnTo>
                    <a:pt x="29835" y="5975546"/>
                  </a:lnTo>
                  <a:lnTo>
                    <a:pt x="10005" y="5942450"/>
                  </a:lnTo>
                  <a:lnTo>
                    <a:pt x="631" y="5905042"/>
                  </a:lnTo>
                  <a:lnTo>
                    <a:pt x="0" y="5892165"/>
                  </a:lnTo>
                  <a:close/>
                </a:path>
              </a:pathLst>
            </a:custGeom>
            <a:ln w="11430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36320" y="1607822"/>
              <a:ext cx="10744200" cy="11430"/>
            </a:xfrm>
            <a:custGeom>
              <a:avLst/>
              <a:gdLst/>
              <a:ahLst/>
              <a:cxnLst/>
              <a:rect l="l" t="t" r="r" b="b"/>
              <a:pathLst>
                <a:path w="10744200" h="11430">
                  <a:moveTo>
                    <a:pt x="10744200" y="11430"/>
                  </a:moveTo>
                  <a:lnTo>
                    <a:pt x="0" y="11430"/>
                  </a:lnTo>
                  <a:lnTo>
                    <a:pt x="0" y="0"/>
                  </a:lnTo>
                  <a:lnTo>
                    <a:pt x="10744200" y="0"/>
                  </a:lnTo>
                  <a:lnTo>
                    <a:pt x="10744200" y="1143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42034" y="1807847"/>
              <a:ext cx="10732770" cy="1531620"/>
            </a:xfrm>
            <a:custGeom>
              <a:avLst/>
              <a:gdLst/>
              <a:ahLst/>
              <a:cxnLst/>
              <a:rect l="l" t="t" r="r" b="b"/>
              <a:pathLst>
                <a:path w="10732770" h="1531620">
                  <a:moveTo>
                    <a:pt x="10652673" y="1531608"/>
                  </a:moveTo>
                  <a:lnTo>
                    <a:pt x="80096" y="1531608"/>
                  </a:lnTo>
                  <a:lnTo>
                    <a:pt x="74521" y="1531062"/>
                  </a:lnTo>
                  <a:lnTo>
                    <a:pt x="33418" y="1514039"/>
                  </a:lnTo>
                  <a:lnTo>
                    <a:pt x="8679" y="1483890"/>
                  </a:lnTo>
                  <a:lnTo>
                    <a:pt x="0" y="1451520"/>
                  </a:lnTo>
                  <a:lnTo>
                    <a:pt x="0" y="1445895"/>
                  </a:lnTo>
                  <a:lnTo>
                    <a:pt x="0" y="80087"/>
                  </a:lnTo>
                  <a:lnTo>
                    <a:pt x="11320" y="42761"/>
                  </a:lnTo>
                  <a:lnTo>
                    <a:pt x="42778" y="11307"/>
                  </a:lnTo>
                  <a:lnTo>
                    <a:pt x="80096" y="0"/>
                  </a:lnTo>
                  <a:lnTo>
                    <a:pt x="10652673" y="0"/>
                  </a:lnTo>
                  <a:lnTo>
                    <a:pt x="10689990" y="11307"/>
                  </a:lnTo>
                  <a:lnTo>
                    <a:pt x="10721449" y="42761"/>
                  </a:lnTo>
                  <a:lnTo>
                    <a:pt x="10732769" y="80087"/>
                  </a:lnTo>
                  <a:lnTo>
                    <a:pt x="10732769" y="1451520"/>
                  </a:lnTo>
                  <a:lnTo>
                    <a:pt x="10721448" y="1488835"/>
                  </a:lnTo>
                  <a:lnTo>
                    <a:pt x="10689990" y="1520290"/>
                  </a:lnTo>
                  <a:lnTo>
                    <a:pt x="10658248" y="1531062"/>
                  </a:lnTo>
                  <a:lnTo>
                    <a:pt x="10652673" y="15316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42034" y="1807847"/>
              <a:ext cx="10732770" cy="1531620"/>
            </a:xfrm>
            <a:custGeom>
              <a:avLst/>
              <a:gdLst/>
              <a:ahLst/>
              <a:cxnLst/>
              <a:rect l="l" t="t" r="r" b="b"/>
              <a:pathLst>
                <a:path w="10732770" h="1531620">
                  <a:moveTo>
                    <a:pt x="0" y="1445895"/>
                  </a:moveTo>
                  <a:lnTo>
                    <a:pt x="0" y="85725"/>
                  </a:lnTo>
                  <a:lnTo>
                    <a:pt x="0" y="80087"/>
                  </a:lnTo>
                  <a:lnTo>
                    <a:pt x="549" y="74517"/>
                  </a:lnTo>
                  <a:lnTo>
                    <a:pt x="1647" y="69004"/>
                  </a:lnTo>
                  <a:lnTo>
                    <a:pt x="2745" y="63467"/>
                  </a:lnTo>
                  <a:lnTo>
                    <a:pt x="4371" y="58098"/>
                  </a:lnTo>
                  <a:lnTo>
                    <a:pt x="6525" y="52908"/>
                  </a:lnTo>
                  <a:lnTo>
                    <a:pt x="8679" y="47706"/>
                  </a:lnTo>
                  <a:lnTo>
                    <a:pt x="11320" y="42761"/>
                  </a:lnTo>
                  <a:lnTo>
                    <a:pt x="14447" y="38084"/>
                  </a:lnTo>
                  <a:lnTo>
                    <a:pt x="17574" y="33408"/>
                  </a:lnTo>
                  <a:lnTo>
                    <a:pt x="21128" y="29076"/>
                  </a:lnTo>
                  <a:lnTo>
                    <a:pt x="25108" y="25103"/>
                  </a:lnTo>
                  <a:lnTo>
                    <a:pt x="29088" y="21119"/>
                  </a:lnTo>
                  <a:lnTo>
                    <a:pt x="33418" y="17569"/>
                  </a:lnTo>
                  <a:lnTo>
                    <a:pt x="38098" y="14444"/>
                  </a:lnTo>
                  <a:lnTo>
                    <a:pt x="42778" y="11307"/>
                  </a:lnTo>
                  <a:lnTo>
                    <a:pt x="47719" y="8673"/>
                  </a:lnTo>
                  <a:lnTo>
                    <a:pt x="52919" y="6518"/>
                  </a:lnTo>
                  <a:lnTo>
                    <a:pt x="58119" y="4363"/>
                  </a:lnTo>
                  <a:lnTo>
                    <a:pt x="63480" y="2745"/>
                  </a:lnTo>
                  <a:lnTo>
                    <a:pt x="69000" y="1651"/>
                  </a:lnTo>
                  <a:lnTo>
                    <a:pt x="74521" y="547"/>
                  </a:lnTo>
                  <a:lnTo>
                    <a:pt x="80096" y="0"/>
                  </a:lnTo>
                  <a:lnTo>
                    <a:pt x="85725" y="0"/>
                  </a:lnTo>
                  <a:lnTo>
                    <a:pt x="10647045" y="0"/>
                  </a:lnTo>
                  <a:lnTo>
                    <a:pt x="10652673" y="0"/>
                  </a:lnTo>
                  <a:lnTo>
                    <a:pt x="10658248" y="547"/>
                  </a:lnTo>
                  <a:lnTo>
                    <a:pt x="10663769" y="1651"/>
                  </a:lnTo>
                  <a:lnTo>
                    <a:pt x="10669289" y="2745"/>
                  </a:lnTo>
                  <a:lnTo>
                    <a:pt x="10694670" y="14444"/>
                  </a:lnTo>
                  <a:lnTo>
                    <a:pt x="10699351" y="17569"/>
                  </a:lnTo>
                  <a:lnTo>
                    <a:pt x="10703682" y="21119"/>
                  </a:lnTo>
                  <a:lnTo>
                    <a:pt x="10707661" y="25103"/>
                  </a:lnTo>
                  <a:lnTo>
                    <a:pt x="10711642" y="29076"/>
                  </a:lnTo>
                  <a:lnTo>
                    <a:pt x="10726244" y="52908"/>
                  </a:lnTo>
                  <a:lnTo>
                    <a:pt x="10728397" y="58098"/>
                  </a:lnTo>
                  <a:lnTo>
                    <a:pt x="10730023" y="63467"/>
                  </a:lnTo>
                  <a:lnTo>
                    <a:pt x="10731122" y="69004"/>
                  </a:lnTo>
                  <a:lnTo>
                    <a:pt x="10732220" y="74517"/>
                  </a:lnTo>
                  <a:lnTo>
                    <a:pt x="10732769" y="80087"/>
                  </a:lnTo>
                  <a:lnTo>
                    <a:pt x="10732770" y="85725"/>
                  </a:lnTo>
                  <a:lnTo>
                    <a:pt x="10732770" y="1445895"/>
                  </a:lnTo>
                  <a:lnTo>
                    <a:pt x="10724089" y="1483890"/>
                  </a:lnTo>
                  <a:lnTo>
                    <a:pt x="10707661" y="1506504"/>
                  </a:lnTo>
                  <a:lnTo>
                    <a:pt x="10703682" y="1510490"/>
                  </a:lnTo>
                  <a:lnTo>
                    <a:pt x="10679850" y="1525078"/>
                  </a:lnTo>
                  <a:lnTo>
                    <a:pt x="10674650" y="1527233"/>
                  </a:lnTo>
                  <a:lnTo>
                    <a:pt x="10669289" y="1528863"/>
                  </a:lnTo>
                  <a:lnTo>
                    <a:pt x="10663769" y="1529956"/>
                  </a:lnTo>
                  <a:lnTo>
                    <a:pt x="10658248" y="1531062"/>
                  </a:lnTo>
                  <a:lnTo>
                    <a:pt x="10652673" y="1531608"/>
                  </a:lnTo>
                  <a:lnTo>
                    <a:pt x="10647045" y="1531620"/>
                  </a:lnTo>
                  <a:lnTo>
                    <a:pt x="85725" y="1531620"/>
                  </a:lnTo>
                  <a:lnTo>
                    <a:pt x="80096" y="1531608"/>
                  </a:lnTo>
                  <a:lnTo>
                    <a:pt x="74521" y="1531062"/>
                  </a:lnTo>
                  <a:lnTo>
                    <a:pt x="69000" y="1529956"/>
                  </a:lnTo>
                  <a:lnTo>
                    <a:pt x="63480" y="1528863"/>
                  </a:lnTo>
                  <a:lnTo>
                    <a:pt x="58119" y="1527233"/>
                  </a:lnTo>
                  <a:lnTo>
                    <a:pt x="52919" y="1525078"/>
                  </a:lnTo>
                  <a:lnTo>
                    <a:pt x="47719" y="1522925"/>
                  </a:lnTo>
                  <a:lnTo>
                    <a:pt x="25108" y="1506504"/>
                  </a:lnTo>
                  <a:lnTo>
                    <a:pt x="21128" y="1502520"/>
                  </a:lnTo>
                  <a:lnTo>
                    <a:pt x="2745" y="1468118"/>
                  </a:lnTo>
                  <a:lnTo>
                    <a:pt x="0" y="1451520"/>
                  </a:lnTo>
                  <a:lnTo>
                    <a:pt x="0" y="1445895"/>
                  </a:lnTo>
                  <a:close/>
                </a:path>
              </a:pathLst>
            </a:custGeom>
            <a:ln w="11430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Ограничения</a:t>
            </a:r>
            <a:r>
              <a:rPr spc="-25" dirty="0"/>
              <a:t> </a:t>
            </a:r>
            <a:r>
              <a:rPr dirty="0"/>
              <a:t>классического</a:t>
            </a:r>
            <a:r>
              <a:rPr spc="-20" dirty="0"/>
              <a:t> </a:t>
            </a:r>
            <a:r>
              <a:rPr spc="-10" dirty="0"/>
              <a:t>WebSocket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1139189" y="4191001"/>
            <a:ext cx="80010" cy="1085850"/>
            <a:chOff x="1139189" y="4191001"/>
            <a:chExt cx="80010" cy="108585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9189" y="4191001"/>
              <a:ext cx="80010" cy="7999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9189" y="4693921"/>
              <a:ext cx="80010" cy="7999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9189" y="5196841"/>
              <a:ext cx="80010" cy="7999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023618" y="1944877"/>
            <a:ext cx="7205981" cy="397352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07010">
              <a:lnSpc>
                <a:spcPct val="100000"/>
              </a:lnSpc>
              <a:spcBef>
                <a:spcPts val="425"/>
              </a:spcBef>
            </a:pP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//</a:t>
            </a:r>
            <a:r>
              <a:rPr sz="1600" spc="7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Антипаттерн:</a:t>
            </a:r>
            <a:r>
              <a:rPr sz="1600" spc="75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Stateful</a:t>
            </a:r>
            <a:r>
              <a:rPr sz="1600" spc="75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Consolas"/>
                <a:cs typeface="Consolas"/>
              </a:rPr>
              <a:t>сервис</a:t>
            </a:r>
            <a:endParaRPr sz="1600" dirty="0">
              <a:latin typeface="Consolas"/>
              <a:cs typeface="Consolas"/>
            </a:endParaRPr>
          </a:p>
          <a:p>
            <a:pPr marL="207010">
              <a:lnSpc>
                <a:spcPct val="100000"/>
              </a:lnSpc>
              <a:spcBef>
                <a:spcPts val="330"/>
              </a:spcBef>
            </a:pP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public</a:t>
            </a:r>
            <a:r>
              <a:rPr sz="1600" spc="10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class</a:t>
            </a:r>
            <a:r>
              <a:rPr sz="1600" spc="10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TraditionalWebSocket</a:t>
            </a:r>
            <a:r>
              <a:rPr sz="1600" spc="10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spc="-50" dirty="0">
                <a:solidFill>
                  <a:srgbClr val="333333"/>
                </a:solidFill>
                <a:latin typeface="Consolas"/>
                <a:cs typeface="Consolas"/>
              </a:rPr>
              <a:t>{</a:t>
            </a:r>
            <a:endParaRPr sz="1600" dirty="0">
              <a:latin typeface="Consolas"/>
              <a:cs typeface="Consolas"/>
            </a:endParaRPr>
          </a:p>
          <a:p>
            <a:pPr marL="659130">
              <a:lnSpc>
                <a:spcPct val="100000"/>
              </a:lnSpc>
              <a:spcBef>
                <a:spcPts val="130"/>
              </a:spcBef>
            </a:pP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private</a:t>
            </a:r>
            <a:r>
              <a:rPr sz="1600" spc="55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static</a:t>
            </a:r>
            <a:r>
              <a:rPr sz="1600" spc="55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Set</a:t>
            </a:r>
            <a:r>
              <a:rPr sz="1600" spc="55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lang="en-US" sz="1600" spc="55" dirty="0">
                <a:solidFill>
                  <a:srgbClr val="333333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sessions</a:t>
            </a:r>
            <a:r>
              <a:rPr lang="en-US" sz="1600" dirty="0">
                <a:solidFill>
                  <a:srgbClr val="333333"/>
                </a:solidFill>
                <a:latin typeface="Consolas"/>
                <a:cs typeface="Consolas"/>
              </a:rPr>
              <a:t>&gt;</a:t>
            </a:r>
            <a:r>
              <a:rPr sz="1600" spc="55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=</a:t>
            </a:r>
            <a:r>
              <a:rPr sz="1600" spc="55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new</a:t>
            </a:r>
            <a:r>
              <a:rPr sz="1600" spc="6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HashSet&lt;&gt;();</a:t>
            </a:r>
            <a:r>
              <a:rPr sz="1600" spc="55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//</a:t>
            </a:r>
            <a:r>
              <a:rPr sz="1600" spc="55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800" spc="360" dirty="0">
                <a:solidFill>
                  <a:srgbClr val="333333"/>
                </a:solidFill>
                <a:latin typeface="Segoe UI Symbol"/>
                <a:cs typeface="Segoe UI Symbol"/>
              </a:rPr>
              <a:t>❌</a:t>
            </a:r>
            <a:endParaRPr sz="1800" dirty="0">
              <a:latin typeface="Segoe UI Symbol"/>
              <a:cs typeface="Segoe UI Symbol"/>
            </a:endParaRPr>
          </a:p>
          <a:p>
            <a:pPr marL="207010">
              <a:lnSpc>
                <a:spcPct val="100000"/>
              </a:lnSpc>
              <a:spcBef>
                <a:spcPts val="290"/>
              </a:spcBef>
            </a:pPr>
            <a:r>
              <a:rPr sz="1600" spc="-50" dirty="0">
                <a:solidFill>
                  <a:srgbClr val="333333"/>
                </a:solidFill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855"/>
              </a:spcBef>
            </a:pP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333333"/>
                </a:solidFill>
                <a:latin typeface="Segoe UI"/>
                <a:cs typeface="Segoe UI"/>
              </a:rPr>
              <a:t>Проблемы:</a:t>
            </a:r>
            <a:endParaRPr sz="1800" dirty="0">
              <a:latin typeface="Segoe UI"/>
              <a:cs typeface="Segoe UI"/>
            </a:endParaRPr>
          </a:p>
          <a:p>
            <a:pPr marL="355600">
              <a:lnSpc>
                <a:spcPct val="100000"/>
              </a:lnSpc>
              <a:spcBef>
                <a:spcPts val="1600"/>
              </a:spcBef>
            </a:pPr>
            <a:r>
              <a:rPr sz="2000" spc="459" dirty="0">
                <a:solidFill>
                  <a:srgbClr val="333333"/>
                </a:solidFill>
                <a:latin typeface="Segoe UI Symbol"/>
                <a:cs typeface="Segoe UI Symbol"/>
              </a:rPr>
              <a:t>❌</a:t>
            </a:r>
            <a:r>
              <a:rPr sz="2000" spc="-5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Не масштабируется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горизонтально</a:t>
            </a:r>
            <a:endParaRPr sz="1800" dirty="0">
              <a:latin typeface="Segoe UI"/>
              <a:cs typeface="Segoe UI"/>
            </a:endParaRPr>
          </a:p>
          <a:p>
            <a:pPr marL="355600">
              <a:lnSpc>
                <a:spcPct val="100000"/>
              </a:lnSpc>
              <a:spcBef>
                <a:spcPts val="1560"/>
              </a:spcBef>
            </a:pPr>
            <a:r>
              <a:rPr sz="2000" spc="459" dirty="0">
                <a:solidFill>
                  <a:srgbClr val="333333"/>
                </a:solidFill>
                <a:latin typeface="Segoe UI Symbol"/>
                <a:cs typeface="Segoe UI Symbol"/>
              </a:rPr>
              <a:t>❌</a:t>
            </a:r>
            <a:r>
              <a:rPr sz="2000" spc="-6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Теряет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состояние</a:t>
            </a:r>
            <a:r>
              <a:rPr sz="18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при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 рестарте</a:t>
            </a:r>
            <a:endParaRPr sz="1800" dirty="0">
              <a:latin typeface="Segoe UI"/>
              <a:cs typeface="Segoe UI"/>
            </a:endParaRPr>
          </a:p>
          <a:p>
            <a:pPr marL="355600">
              <a:lnSpc>
                <a:spcPct val="100000"/>
              </a:lnSpc>
              <a:spcBef>
                <a:spcPts val="1560"/>
              </a:spcBef>
            </a:pPr>
            <a:r>
              <a:rPr sz="2000" spc="459" dirty="0">
                <a:solidFill>
                  <a:srgbClr val="333333"/>
                </a:solidFill>
                <a:latin typeface="Segoe UI Symbol"/>
                <a:cs typeface="Segoe UI Symbol"/>
              </a:rPr>
              <a:t>❌</a:t>
            </a:r>
            <a:r>
              <a:rPr sz="2000" spc="-6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Требует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sticky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sessions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в</a:t>
            </a:r>
            <a:r>
              <a:rPr sz="1800" spc="-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балансировщике</a:t>
            </a:r>
            <a:endParaRPr sz="18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В</a:t>
            </a:r>
            <a:r>
              <a:rPr sz="1800" i="1" spc="-40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spc="-10" dirty="0">
                <a:solidFill>
                  <a:srgbClr val="333333"/>
                </a:solidFill>
                <a:latin typeface="Segoe UI Semilight"/>
                <a:cs typeface="Segoe UI Semilight"/>
              </a:rPr>
              <a:t>cloud-</a:t>
            </a: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native</a:t>
            </a:r>
            <a:r>
              <a:rPr sz="1800" i="1" spc="-40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мире</a:t>
            </a:r>
            <a:r>
              <a:rPr sz="1800" i="1" spc="-40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это</a:t>
            </a:r>
            <a:r>
              <a:rPr sz="1800" i="1" spc="-40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spc="-10" dirty="0">
                <a:solidFill>
                  <a:srgbClr val="333333"/>
                </a:solidFill>
                <a:latin typeface="Segoe UI Semilight"/>
                <a:cs typeface="Segoe UI Semilight"/>
              </a:rPr>
              <a:t>неприемлемо.</a:t>
            </a:r>
            <a:endParaRPr sz="1800" dirty="0">
              <a:latin typeface="Segoe UI Semilight"/>
              <a:cs typeface="Segoe UI Semi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1977" y="361962"/>
            <a:ext cx="11452860" cy="7053580"/>
            <a:chOff x="681977" y="361962"/>
            <a:chExt cx="11452860" cy="7053580"/>
          </a:xfrm>
        </p:grpSpPr>
        <p:sp>
          <p:nvSpPr>
            <p:cNvPr id="3" name="object 3"/>
            <p:cNvSpPr/>
            <p:nvPr/>
          </p:nvSpPr>
          <p:spPr>
            <a:xfrm>
              <a:off x="681977" y="361962"/>
              <a:ext cx="11452860" cy="7053580"/>
            </a:xfrm>
            <a:custGeom>
              <a:avLst/>
              <a:gdLst/>
              <a:ahLst/>
              <a:cxnLst/>
              <a:rect l="l" t="t" r="r" b="b"/>
              <a:pathLst>
                <a:path w="11452860" h="7053580">
                  <a:moveTo>
                    <a:pt x="11452860" y="137160"/>
                  </a:moveTo>
                  <a:lnTo>
                    <a:pt x="11446993" y="97409"/>
                  </a:lnTo>
                  <a:lnTo>
                    <a:pt x="11429771" y="60947"/>
                  </a:lnTo>
                  <a:lnTo>
                    <a:pt x="11412626" y="40233"/>
                  </a:lnTo>
                  <a:lnTo>
                    <a:pt x="11412093" y="39636"/>
                  </a:lnTo>
                  <a:lnTo>
                    <a:pt x="11402670" y="31076"/>
                  </a:lnTo>
                  <a:lnTo>
                    <a:pt x="11391925" y="23101"/>
                  </a:lnTo>
                  <a:lnTo>
                    <a:pt x="11380432" y="16217"/>
                  </a:lnTo>
                  <a:lnTo>
                    <a:pt x="11370285" y="11430"/>
                  </a:lnTo>
                  <a:lnTo>
                    <a:pt x="11368189" y="10439"/>
                  </a:lnTo>
                  <a:lnTo>
                    <a:pt x="11355464" y="5880"/>
                  </a:lnTo>
                  <a:lnTo>
                    <a:pt x="11342472" y="2616"/>
                  </a:lnTo>
                  <a:lnTo>
                    <a:pt x="11329213" y="647"/>
                  </a:lnTo>
                  <a:lnTo>
                    <a:pt x="11315700" y="0"/>
                  </a:lnTo>
                  <a:lnTo>
                    <a:pt x="137160" y="0"/>
                  </a:lnTo>
                  <a:lnTo>
                    <a:pt x="97409" y="5880"/>
                  </a:lnTo>
                  <a:lnTo>
                    <a:pt x="60947" y="23101"/>
                  </a:lnTo>
                  <a:lnTo>
                    <a:pt x="40779" y="39636"/>
                  </a:lnTo>
                  <a:lnTo>
                    <a:pt x="40182" y="40170"/>
                  </a:lnTo>
                  <a:lnTo>
                    <a:pt x="31089" y="50190"/>
                  </a:lnTo>
                  <a:lnTo>
                    <a:pt x="23101" y="60947"/>
                  </a:lnTo>
                  <a:lnTo>
                    <a:pt x="5880" y="97409"/>
                  </a:lnTo>
                  <a:lnTo>
                    <a:pt x="0" y="137160"/>
                  </a:lnTo>
                  <a:lnTo>
                    <a:pt x="0" y="7053250"/>
                  </a:lnTo>
                  <a:lnTo>
                    <a:pt x="11430" y="7053250"/>
                  </a:lnTo>
                  <a:lnTo>
                    <a:pt x="11430" y="137160"/>
                  </a:lnTo>
                  <a:lnTo>
                    <a:pt x="12039" y="124777"/>
                  </a:lnTo>
                  <a:lnTo>
                    <a:pt x="26301" y="77838"/>
                  </a:lnTo>
                  <a:lnTo>
                    <a:pt x="57442" y="39916"/>
                  </a:lnTo>
                  <a:lnTo>
                    <a:pt x="100723" y="16814"/>
                  </a:lnTo>
                  <a:lnTo>
                    <a:pt x="137160" y="11430"/>
                  </a:lnTo>
                  <a:lnTo>
                    <a:pt x="11315700" y="11430"/>
                  </a:lnTo>
                  <a:lnTo>
                    <a:pt x="11363820" y="21005"/>
                  </a:lnTo>
                  <a:lnTo>
                    <a:pt x="11404029" y="47739"/>
                  </a:lnTo>
                  <a:lnTo>
                    <a:pt x="11431867" y="89052"/>
                  </a:lnTo>
                  <a:lnTo>
                    <a:pt x="11441430" y="137160"/>
                  </a:lnTo>
                  <a:lnTo>
                    <a:pt x="11441430" y="7053250"/>
                  </a:lnTo>
                  <a:lnTo>
                    <a:pt x="11452860" y="7053250"/>
                  </a:lnTo>
                  <a:lnTo>
                    <a:pt x="11452860" y="13716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36320" y="1607828"/>
              <a:ext cx="10744200" cy="11430"/>
            </a:xfrm>
            <a:custGeom>
              <a:avLst/>
              <a:gdLst/>
              <a:ahLst/>
              <a:cxnLst/>
              <a:rect l="l" t="t" r="r" b="b"/>
              <a:pathLst>
                <a:path w="10744200" h="11430">
                  <a:moveTo>
                    <a:pt x="10744200" y="11430"/>
                  </a:moveTo>
                  <a:lnTo>
                    <a:pt x="0" y="11430"/>
                  </a:lnTo>
                  <a:lnTo>
                    <a:pt x="0" y="0"/>
                  </a:lnTo>
                  <a:lnTo>
                    <a:pt x="10744200" y="0"/>
                  </a:lnTo>
                  <a:lnTo>
                    <a:pt x="10744200" y="1143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42034" y="1807853"/>
              <a:ext cx="4090579" cy="4697730"/>
            </a:xfrm>
            <a:custGeom>
              <a:avLst/>
              <a:gdLst/>
              <a:ahLst/>
              <a:cxnLst/>
              <a:rect l="l" t="t" r="r" b="b"/>
              <a:pathLst>
                <a:path w="10732770" h="4697730">
                  <a:moveTo>
                    <a:pt x="0" y="4612005"/>
                  </a:moveTo>
                  <a:lnTo>
                    <a:pt x="0" y="85725"/>
                  </a:lnTo>
                  <a:lnTo>
                    <a:pt x="0" y="80087"/>
                  </a:lnTo>
                  <a:lnTo>
                    <a:pt x="549" y="74517"/>
                  </a:lnTo>
                  <a:lnTo>
                    <a:pt x="1647" y="68992"/>
                  </a:lnTo>
                  <a:lnTo>
                    <a:pt x="2745" y="63467"/>
                  </a:lnTo>
                  <a:lnTo>
                    <a:pt x="4371" y="58110"/>
                  </a:lnTo>
                  <a:lnTo>
                    <a:pt x="25108" y="25092"/>
                  </a:lnTo>
                  <a:lnTo>
                    <a:pt x="29088" y="21107"/>
                  </a:lnTo>
                  <a:lnTo>
                    <a:pt x="33418" y="17557"/>
                  </a:lnTo>
                  <a:lnTo>
                    <a:pt x="38098" y="14432"/>
                  </a:lnTo>
                  <a:lnTo>
                    <a:pt x="42778" y="11307"/>
                  </a:lnTo>
                  <a:lnTo>
                    <a:pt x="47719" y="8673"/>
                  </a:lnTo>
                  <a:lnTo>
                    <a:pt x="52919" y="6518"/>
                  </a:lnTo>
                  <a:lnTo>
                    <a:pt x="58119" y="4363"/>
                  </a:lnTo>
                  <a:lnTo>
                    <a:pt x="63480" y="2745"/>
                  </a:lnTo>
                  <a:lnTo>
                    <a:pt x="69000" y="1641"/>
                  </a:lnTo>
                  <a:lnTo>
                    <a:pt x="74521" y="547"/>
                  </a:lnTo>
                  <a:lnTo>
                    <a:pt x="80096" y="0"/>
                  </a:lnTo>
                  <a:lnTo>
                    <a:pt x="85725" y="0"/>
                  </a:lnTo>
                  <a:lnTo>
                    <a:pt x="10647045" y="0"/>
                  </a:lnTo>
                  <a:lnTo>
                    <a:pt x="10652673" y="0"/>
                  </a:lnTo>
                  <a:lnTo>
                    <a:pt x="10658248" y="547"/>
                  </a:lnTo>
                  <a:lnTo>
                    <a:pt x="10694670" y="14432"/>
                  </a:lnTo>
                  <a:lnTo>
                    <a:pt x="10707661" y="25092"/>
                  </a:lnTo>
                  <a:lnTo>
                    <a:pt x="10711642" y="29076"/>
                  </a:lnTo>
                  <a:lnTo>
                    <a:pt x="10730023" y="63467"/>
                  </a:lnTo>
                  <a:lnTo>
                    <a:pt x="10732770" y="85725"/>
                  </a:lnTo>
                  <a:lnTo>
                    <a:pt x="10732770" y="4612005"/>
                  </a:lnTo>
                  <a:lnTo>
                    <a:pt x="10726243" y="4644788"/>
                  </a:lnTo>
                  <a:lnTo>
                    <a:pt x="10724089" y="4650000"/>
                  </a:lnTo>
                  <a:lnTo>
                    <a:pt x="10721448" y="4654935"/>
                  </a:lnTo>
                  <a:lnTo>
                    <a:pt x="10718322" y="4659611"/>
                  </a:lnTo>
                  <a:lnTo>
                    <a:pt x="10715195" y="4664299"/>
                  </a:lnTo>
                  <a:lnTo>
                    <a:pt x="10711642" y="4668630"/>
                  </a:lnTo>
                  <a:lnTo>
                    <a:pt x="10707661" y="4672615"/>
                  </a:lnTo>
                  <a:lnTo>
                    <a:pt x="10703682" y="4676600"/>
                  </a:lnTo>
                  <a:lnTo>
                    <a:pt x="10679850" y="4691188"/>
                  </a:lnTo>
                  <a:lnTo>
                    <a:pt x="10674650" y="4693354"/>
                  </a:lnTo>
                  <a:lnTo>
                    <a:pt x="10669289" y="4694984"/>
                  </a:lnTo>
                  <a:lnTo>
                    <a:pt x="10663769" y="4696078"/>
                  </a:lnTo>
                  <a:lnTo>
                    <a:pt x="10658248" y="4697172"/>
                  </a:lnTo>
                  <a:lnTo>
                    <a:pt x="10652673" y="4697718"/>
                  </a:lnTo>
                  <a:lnTo>
                    <a:pt x="10647045" y="4697730"/>
                  </a:lnTo>
                  <a:lnTo>
                    <a:pt x="85725" y="4697730"/>
                  </a:lnTo>
                  <a:lnTo>
                    <a:pt x="52919" y="4691188"/>
                  </a:lnTo>
                  <a:lnTo>
                    <a:pt x="47719" y="4689035"/>
                  </a:lnTo>
                  <a:lnTo>
                    <a:pt x="25108" y="4672615"/>
                  </a:lnTo>
                  <a:lnTo>
                    <a:pt x="21128" y="4668630"/>
                  </a:lnTo>
                  <a:lnTo>
                    <a:pt x="6525" y="4644788"/>
                  </a:lnTo>
                  <a:lnTo>
                    <a:pt x="4371" y="4639586"/>
                  </a:lnTo>
                  <a:lnTo>
                    <a:pt x="2745" y="4634228"/>
                  </a:lnTo>
                  <a:lnTo>
                    <a:pt x="1647" y="4628714"/>
                  </a:lnTo>
                  <a:lnTo>
                    <a:pt x="549" y="4623189"/>
                  </a:lnTo>
                  <a:lnTo>
                    <a:pt x="0" y="4617619"/>
                  </a:lnTo>
                  <a:lnTo>
                    <a:pt x="0" y="4612005"/>
                  </a:lnTo>
                  <a:close/>
                </a:path>
              </a:pathLst>
            </a:custGeom>
            <a:ln w="11430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Современные</a:t>
            </a:r>
            <a:r>
              <a:rPr spc="10" dirty="0"/>
              <a:t> </a:t>
            </a:r>
            <a:r>
              <a:rPr dirty="0"/>
              <a:t>архитектурные</a:t>
            </a:r>
            <a:r>
              <a:rPr spc="15" dirty="0"/>
              <a:t> </a:t>
            </a:r>
            <a:r>
              <a:rPr spc="-10" dirty="0"/>
              <a:t>паттерны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E2A3CE9-2370-48D0-A55E-9D3B05BE6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0593" y="1637498"/>
            <a:ext cx="5979024" cy="56722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FD5282B-29A5-4797-BCF8-04709E4B4D6F}"/>
              </a:ext>
            </a:extLst>
          </p:cNvPr>
          <p:cNvSpPr txBox="1"/>
          <p:nvPr/>
        </p:nvSpPr>
        <p:spPr>
          <a:xfrm>
            <a:off x="1447800" y="2732038"/>
            <a:ext cx="34289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Идея: Сессии хранятся в </a:t>
            </a:r>
            <a:r>
              <a:rPr lang="en-US" b="1" dirty="0"/>
              <a:t>Redis</a:t>
            </a:r>
            <a:r>
              <a:rPr lang="ru-RU" dirty="0"/>
              <a:t>, сообщения маршрутизируются через </a:t>
            </a:r>
            <a:r>
              <a:rPr lang="en-US" b="1" dirty="0"/>
              <a:t>Kafka</a:t>
            </a:r>
            <a:r>
              <a:rPr lang="en-US" dirty="0"/>
              <a:t>.</a:t>
            </a:r>
          </a:p>
          <a:p>
            <a:r>
              <a:rPr lang="ru-RU" dirty="0"/>
              <a:t>Сервер становится </a:t>
            </a:r>
            <a:r>
              <a:rPr lang="en-US" b="1" dirty="0"/>
              <a:t>stateless</a:t>
            </a:r>
            <a:r>
              <a:rPr lang="en-US" dirty="0"/>
              <a:t> – </a:t>
            </a:r>
            <a:r>
              <a:rPr lang="ru-RU" dirty="0"/>
              <a:t>его можно масштабировать горизонтально!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7704" y="367674"/>
            <a:ext cx="11580495" cy="6923312"/>
            <a:chOff x="687705" y="367674"/>
            <a:chExt cx="11441430" cy="6697980"/>
          </a:xfrm>
        </p:grpSpPr>
        <p:sp>
          <p:nvSpPr>
            <p:cNvPr id="3" name="object 3"/>
            <p:cNvSpPr/>
            <p:nvPr/>
          </p:nvSpPr>
          <p:spPr>
            <a:xfrm>
              <a:off x="687705" y="367674"/>
              <a:ext cx="11441430" cy="6697980"/>
            </a:xfrm>
            <a:custGeom>
              <a:avLst/>
              <a:gdLst/>
              <a:ahLst/>
              <a:cxnLst/>
              <a:rect l="l" t="t" r="r" b="b"/>
              <a:pathLst>
                <a:path w="11441430" h="6697980">
                  <a:moveTo>
                    <a:pt x="0" y="6566535"/>
                  </a:moveTo>
                  <a:lnTo>
                    <a:pt x="0" y="131445"/>
                  </a:lnTo>
                  <a:lnTo>
                    <a:pt x="157" y="124986"/>
                  </a:lnTo>
                  <a:lnTo>
                    <a:pt x="7680" y="87156"/>
                  </a:lnTo>
                  <a:lnTo>
                    <a:pt x="25871" y="53117"/>
                  </a:lnTo>
                  <a:lnTo>
                    <a:pt x="53136" y="25851"/>
                  </a:lnTo>
                  <a:lnTo>
                    <a:pt x="87169" y="7670"/>
                  </a:lnTo>
                  <a:lnTo>
                    <a:pt x="124987" y="157"/>
                  </a:lnTo>
                  <a:lnTo>
                    <a:pt x="131445" y="0"/>
                  </a:lnTo>
                  <a:lnTo>
                    <a:pt x="11309985" y="0"/>
                  </a:lnTo>
                  <a:lnTo>
                    <a:pt x="11348141" y="5653"/>
                  </a:lnTo>
                  <a:lnTo>
                    <a:pt x="11383010" y="22134"/>
                  </a:lnTo>
                  <a:lnTo>
                    <a:pt x="11411594" y="48037"/>
                  </a:lnTo>
                  <a:lnTo>
                    <a:pt x="11431423" y="81126"/>
                  </a:lnTo>
                  <a:lnTo>
                    <a:pt x="11440798" y="118555"/>
                  </a:lnTo>
                  <a:lnTo>
                    <a:pt x="11441430" y="131445"/>
                  </a:lnTo>
                  <a:lnTo>
                    <a:pt x="11441430" y="6566535"/>
                  </a:lnTo>
                  <a:lnTo>
                    <a:pt x="11435770" y="6604680"/>
                  </a:lnTo>
                  <a:lnTo>
                    <a:pt x="11419277" y="6639546"/>
                  </a:lnTo>
                  <a:lnTo>
                    <a:pt x="11393372" y="6668135"/>
                  </a:lnTo>
                  <a:lnTo>
                    <a:pt x="11360286" y="6687956"/>
                  </a:lnTo>
                  <a:lnTo>
                    <a:pt x="11322868" y="6697341"/>
                  </a:lnTo>
                  <a:lnTo>
                    <a:pt x="11309985" y="6697980"/>
                  </a:lnTo>
                  <a:lnTo>
                    <a:pt x="131445" y="6697980"/>
                  </a:lnTo>
                  <a:lnTo>
                    <a:pt x="93288" y="6692312"/>
                  </a:lnTo>
                  <a:lnTo>
                    <a:pt x="58418" y="6675811"/>
                  </a:lnTo>
                  <a:lnTo>
                    <a:pt x="29835" y="6649910"/>
                  </a:lnTo>
                  <a:lnTo>
                    <a:pt x="10005" y="6616820"/>
                  </a:lnTo>
                  <a:lnTo>
                    <a:pt x="631" y="6579413"/>
                  </a:lnTo>
                  <a:lnTo>
                    <a:pt x="0" y="6566535"/>
                  </a:lnTo>
                  <a:close/>
                </a:path>
              </a:pathLst>
            </a:custGeom>
            <a:ln w="11430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36320" y="1607829"/>
              <a:ext cx="10744200" cy="11430"/>
            </a:xfrm>
            <a:custGeom>
              <a:avLst/>
              <a:gdLst/>
              <a:ahLst/>
              <a:cxnLst/>
              <a:rect l="l" t="t" r="r" b="b"/>
              <a:pathLst>
                <a:path w="10744200" h="11430">
                  <a:moveTo>
                    <a:pt x="10744200" y="11430"/>
                  </a:moveTo>
                  <a:lnTo>
                    <a:pt x="0" y="11430"/>
                  </a:lnTo>
                  <a:lnTo>
                    <a:pt x="0" y="0"/>
                  </a:lnTo>
                  <a:lnTo>
                    <a:pt x="10744200" y="0"/>
                  </a:lnTo>
                  <a:lnTo>
                    <a:pt x="10744200" y="1143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RSocket</a:t>
            </a:r>
            <a:r>
              <a:rPr spc="-45" dirty="0"/>
              <a:t> </a:t>
            </a:r>
            <a:r>
              <a:rPr dirty="0"/>
              <a:t>—</a:t>
            </a:r>
            <a:r>
              <a:rPr spc="-40" dirty="0"/>
              <a:t> </a:t>
            </a:r>
            <a:r>
              <a:rPr dirty="0"/>
              <a:t>протокол</a:t>
            </a:r>
            <a:r>
              <a:rPr spc="-45" dirty="0"/>
              <a:t> </a:t>
            </a:r>
            <a:r>
              <a:rPr dirty="0"/>
              <a:t>следующего</a:t>
            </a:r>
            <a:r>
              <a:rPr spc="-40" dirty="0"/>
              <a:t> </a:t>
            </a:r>
            <a:r>
              <a:rPr spc="-10" dirty="0"/>
              <a:t>поколения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1139189" y="2453649"/>
            <a:ext cx="80010" cy="1085850"/>
            <a:chOff x="1139189" y="2453649"/>
            <a:chExt cx="80010" cy="108585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9189" y="2453649"/>
              <a:ext cx="80010" cy="8001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9189" y="2956569"/>
              <a:ext cx="80010" cy="7999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9189" y="3459489"/>
              <a:ext cx="80010" cy="7999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023619" y="1823724"/>
            <a:ext cx="10863581" cy="18107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Преимущества</a:t>
            </a:r>
            <a:r>
              <a:rPr sz="1800" b="1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перед </a:t>
            </a:r>
            <a:r>
              <a:rPr sz="1800" b="1" spc="-10" dirty="0">
                <a:solidFill>
                  <a:srgbClr val="333333"/>
                </a:solidFill>
                <a:latin typeface="Segoe UI"/>
                <a:cs typeface="Segoe UI"/>
              </a:rPr>
              <a:t>WebSocket:</a:t>
            </a:r>
            <a:endParaRPr lang="ru-RU" sz="1800" dirty="0">
              <a:latin typeface="Segoe UI"/>
              <a:cs typeface="Segoe UI"/>
            </a:endParaRPr>
          </a:p>
          <a:p>
            <a:pPr marL="355600">
              <a:lnSpc>
                <a:spcPct val="100000"/>
              </a:lnSpc>
              <a:spcBef>
                <a:spcPts val="1500"/>
              </a:spcBef>
            </a:pPr>
            <a:r>
              <a:rPr lang="ru-RU" sz="2100" spc="355" dirty="0">
                <a:solidFill>
                  <a:srgbClr val="333333"/>
                </a:solidFill>
                <a:latin typeface="Segoe UI Symbol"/>
                <a:cs typeface="Segoe UI Symbol"/>
              </a:rPr>
              <a:t>✅</a:t>
            </a:r>
            <a:r>
              <a:rPr lang="ru-RU" sz="2100" spc="-10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lang="ru-RU" sz="1800" b="1" spc="-20" dirty="0">
                <a:solidFill>
                  <a:srgbClr val="333333"/>
                </a:solidFill>
                <a:latin typeface="Segoe UI"/>
                <a:cs typeface="Segoe UI"/>
              </a:rPr>
              <a:t>Back-</a:t>
            </a:r>
            <a:r>
              <a:rPr lang="ru-RU" sz="1800" b="1" dirty="0" err="1">
                <a:solidFill>
                  <a:srgbClr val="333333"/>
                </a:solidFill>
                <a:latin typeface="Segoe UI"/>
                <a:cs typeface="Segoe UI"/>
              </a:rPr>
              <a:t>pressure</a:t>
            </a:r>
            <a:r>
              <a:rPr lang="ru-RU" sz="180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ru-RU" sz="1800" dirty="0">
                <a:solidFill>
                  <a:srgbClr val="333333"/>
                </a:solidFill>
                <a:latin typeface="Segoe UI"/>
                <a:cs typeface="Segoe UI"/>
              </a:rPr>
              <a:t>—</a:t>
            </a:r>
            <a:r>
              <a:rPr lang="ru-RU"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ru-RU" sz="1800" dirty="0">
                <a:solidFill>
                  <a:srgbClr val="333333"/>
                </a:solidFill>
                <a:latin typeface="Segoe UI"/>
                <a:cs typeface="Segoe UI"/>
              </a:rPr>
              <a:t>клиент</a:t>
            </a:r>
            <a:r>
              <a:rPr lang="ru-RU"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ru-RU" sz="1800" dirty="0">
                <a:solidFill>
                  <a:srgbClr val="333333"/>
                </a:solidFill>
                <a:latin typeface="Segoe UI"/>
                <a:cs typeface="Segoe UI"/>
              </a:rPr>
              <a:t>говорит,</a:t>
            </a:r>
            <a:r>
              <a:rPr lang="ru-RU"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ru-RU" sz="1800" dirty="0">
                <a:solidFill>
                  <a:srgbClr val="333333"/>
                </a:solidFill>
                <a:latin typeface="Segoe UI"/>
                <a:cs typeface="Segoe UI"/>
              </a:rPr>
              <a:t>сколько</a:t>
            </a:r>
            <a:r>
              <a:rPr lang="ru-RU"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ru-RU" sz="1800" dirty="0">
                <a:solidFill>
                  <a:srgbClr val="333333"/>
                </a:solidFill>
                <a:latin typeface="Segoe UI"/>
                <a:cs typeface="Segoe UI"/>
              </a:rPr>
              <a:t>он</a:t>
            </a:r>
            <a:r>
              <a:rPr lang="ru-RU"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ru-RU" sz="1800" dirty="0">
                <a:solidFill>
                  <a:srgbClr val="333333"/>
                </a:solidFill>
                <a:latin typeface="Segoe UI"/>
                <a:cs typeface="Segoe UI"/>
              </a:rPr>
              <a:t>может</a:t>
            </a:r>
            <a:r>
              <a:rPr lang="ru-RU"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ru-RU" sz="1800" spc="-10" dirty="0">
                <a:solidFill>
                  <a:srgbClr val="333333"/>
                </a:solidFill>
                <a:latin typeface="Segoe UI"/>
                <a:cs typeface="Segoe UI"/>
              </a:rPr>
              <a:t>принять</a:t>
            </a:r>
            <a:endParaRPr lang="ru-RU" sz="1800" dirty="0">
              <a:latin typeface="Segoe UI"/>
              <a:cs typeface="Segoe UI"/>
            </a:endParaRPr>
          </a:p>
          <a:p>
            <a:pPr marL="355600">
              <a:lnSpc>
                <a:spcPct val="100000"/>
              </a:lnSpc>
              <a:spcBef>
                <a:spcPts val="1440"/>
              </a:spcBef>
            </a:pPr>
            <a:r>
              <a:rPr sz="2100" spc="355" dirty="0">
                <a:solidFill>
                  <a:srgbClr val="333333"/>
                </a:solidFill>
                <a:latin typeface="Segoe UI Symbol"/>
                <a:cs typeface="Segoe UI Symbol"/>
              </a:rPr>
              <a:t>✅</a:t>
            </a:r>
            <a:r>
              <a:rPr sz="2100" spc="-110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Resumable</a:t>
            </a:r>
            <a:r>
              <a:rPr sz="1800" b="1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sessions</a:t>
            </a:r>
            <a:r>
              <a:rPr sz="180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—</a:t>
            </a:r>
            <a:r>
              <a:rPr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можно</a:t>
            </a:r>
            <a:r>
              <a:rPr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продолжить</a:t>
            </a:r>
            <a:r>
              <a:rPr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после</a:t>
            </a:r>
            <a:r>
              <a:rPr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разрыва</a:t>
            </a:r>
            <a:endParaRPr sz="1800" dirty="0">
              <a:latin typeface="Segoe UI"/>
              <a:cs typeface="Segoe UI"/>
            </a:endParaRPr>
          </a:p>
          <a:p>
            <a:pPr marL="355600">
              <a:lnSpc>
                <a:spcPct val="100000"/>
              </a:lnSpc>
              <a:spcBef>
                <a:spcPts val="1440"/>
              </a:spcBef>
            </a:pPr>
            <a:r>
              <a:rPr sz="2100" spc="355" dirty="0">
                <a:solidFill>
                  <a:srgbClr val="333333"/>
                </a:solidFill>
                <a:latin typeface="Segoe UI Symbol"/>
                <a:cs typeface="Segoe UI Symbol"/>
              </a:rPr>
              <a:t>✅</a:t>
            </a:r>
            <a:r>
              <a:rPr sz="2100" spc="-12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Multiplexing</a:t>
            </a:r>
            <a:r>
              <a:rPr sz="1800" b="1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—</a:t>
            </a:r>
            <a:r>
              <a:rPr sz="18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несколько</a:t>
            </a:r>
            <a:r>
              <a:rPr sz="18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логических</a:t>
            </a:r>
            <a:r>
              <a:rPr sz="18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потоков</a:t>
            </a:r>
            <a:r>
              <a:rPr sz="18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поверх</a:t>
            </a:r>
            <a:r>
              <a:rPr sz="18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 err="1">
                <a:solidFill>
                  <a:srgbClr val="333333"/>
                </a:solidFill>
                <a:latin typeface="Segoe UI"/>
                <a:cs typeface="Segoe UI"/>
              </a:rPr>
              <a:t>одного</a:t>
            </a:r>
            <a:r>
              <a:rPr sz="18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 err="1">
                <a:solidFill>
                  <a:srgbClr val="333333"/>
                </a:solidFill>
                <a:latin typeface="Segoe UI"/>
                <a:cs typeface="Segoe UI"/>
              </a:rPr>
              <a:t>соединения</a:t>
            </a:r>
            <a:endParaRPr sz="1800" dirty="0">
              <a:latin typeface="Segoe UI"/>
              <a:cs typeface="Segoe UI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C1E4744-746D-4F14-8EBB-F5108C7997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7671" y="3853575"/>
            <a:ext cx="8229600" cy="325838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50DC0D-5EC8-41C7-89BB-E5813FE5C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619" y="1046486"/>
            <a:ext cx="7055484" cy="384721"/>
          </a:xfrm>
        </p:spPr>
        <p:txBody>
          <a:bodyPr>
            <a:normAutofit fontScale="90000"/>
          </a:bodyPr>
          <a:lstStyle/>
          <a:p>
            <a:r>
              <a:rPr lang="ru-RU" dirty="0"/>
              <a:t>Клиент </a:t>
            </a:r>
            <a:r>
              <a:rPr lang="en-US" dirty="0" err="1"/>
              <a:t>Rsocket</a:t>
            </a:r>
            <a:r>
              <a:rPr lang="en-US" dirty="0"/>
              <a:t>: </a:t>
            </a:r>
            <a:r>
              <a:rPr lang="ru-RU" dirty="0"/>
              <a:t>Пример подписки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D3BD59D-F28E-441C-8B03-84D367BC1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04480"/>
            <a:ext cx="11620502" cy="395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356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7705" y="367663"/>
            <a:ext cx="11441430" cy="6709409"/>
            <a:chOff x="687705" y="367663"/>
            <a:chExt cx="11441430" cy="6709409"/>
          </a:xfrm>
        </p:grpSpPr>
        <p:sp>
          <p:nvSpPr>
            <p:cNvPr id="3" name="object 3"/>
            <p:cNvSpPr/>
            <p:nvPr/>
          </p:nvSpPr>
          <p:spPr>
            <a:xfrm>
              <a:off x="687705" y="367663"/>
              <a:ext cx="11441430" cy="6709409"/>
            </a:xfrm>
            <a:custGeom>
              <a:avLst/>
              <a:gdLst/>
              <a:ahLst/>
              <a:cxnLst/>
              <a:rect l="l" t="t" r="r" b="b"/>
              <a:pathLst>
                <a:path w="11441430" h="6709409">
                  <a:moveTo>
                    <a:pt x="0" y="6577965"/>
                  </a:moveTo>
                  <a:lnTo>
                    <a:pt x="0" y="131445"/>
                  </a:lnTo>
                  <a:lnTo>
                    <a:pt x="157" y="124988"/>
                  </a:lnTo>
                  <a:lnTo>
                    <a:pt x="7680" y="87156"/>
                  </a:lnTo>
                  <a:lnTo>
                    <a:pt x="25871" y="53119"/>
                  </a:lnTo>
                  <a:lnTo>
                    <a:pt x="53136" y="25860"/>
                  </a:lnTo>
                  <a:lnTo>
                    <a:pt x="87169" y="7675"/>
                  </a:lnTo>
                  <a:lnTo>
                    <a:pt x="124987" y="157"/>
                  </a:lnTo>
                  <a:lnTo>
                    <a:pt x="131445" y="0"/>
                  </a:lnTo>
                  <a:lnTo>
                    <a:pt x="11309985" y="0"/>
                  </a:lnTo>
                  <a:lnTo>
                    <a:pt x="11348141" y="5654"/>
                  </a:lnTo>
                  <a:lnTo>
                    <a:pt x="11383010" y="22145"/>
                  </a:lnTo>
                  <a:lnTo>
                    <a:pt x="11411594" y="48041"/>
                  </a:lnTo>
                  <a:lnTo>
                    <a:pt x="11431423" y="81126"/>
                  </a:lnTo>
                  <a:lnTo>
                    <a:pt x="11440798" y="118561"/>
                  </a:lnTo>
                  <a:lnTo>
                    <a:pt x="11441430" y="131445"/>
                  </a:lnTo>
                  <a:lnTo>
                    <a:pt x="11441430" y="6577965"/>
                  </a:lnTo>
                  <a:lnTo>
                    <a:pt x="11435770" y="6616100"/>
                  </a:lnTo>
                  <a:lnTo>
                    <a:pt x="11419277" y="6650965"/>
                  </a:lnTo>
                  <a:lnTo>
                    <a:pt x="11393372" y="6679557"/>
                  </a:lnTo>
                  <a:lnTo>
                    <a:pt x="11360286" y="6699386"/>
                  </a:lnTo>
                  <a:lnTo>
                    <a:pt x="11322868" y="6708771"/>
                  </a:lnTo>
                  <a:lnTo>
                    <a:pt x="11309985" y="6709410"/>
                  </a:lnTo>
                  <a:lnTo>
                    <a:pt x="131445" y="6709410"/>
                  </a:lnTo>
                  <a:lnTo>
                    <a:pt x="93288" y="6703739"/>
                  </a:lnTo>
                  <a:lnTo>
                    <a:pt x="58418" y="6687241"/>
                  </a:lnTo>
                  <a:lnTo>
                    <a:pt x="29835" y="6661339"/>
                  </a:lnTo>
                  <a:lnTo>
                    <a:pt x="10005" y="6628238"/>
                  </a:lnTo>
                  <a:lnTo>
                    <a:pt x="631" y="6590842"/>
                  </a:lnTo>
                  <a:lnTo>
                    <a:pt x="0" y="6577965"/>
                  </a:lnTo>
                  <a:close/>
                </a:path>
              </a:pathLst>
            </a:custGeom>
            <a:ln w="11430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36320" y="1607818"/>
              <a:ext cx="10744200" cy="11430"/>
            </a:xfrm>
            <a:custGeom>
              <a:avLst/>
              <a:gdLst/>
              <a:ahLst/>
              <a:cxnLst/>
              <a:rect l="l" t="t" r="r" b="b"/>
              <a:pathLst>
                <a:path w="10744200" h="11430">
                  <a:moveTo>
                    <a:pt x="10744200" y="11430"/>
                  </a:moveTo>
                  <a:lnTo>
                    <a:pt x="0" y="11430"/>
                  </a:lnTo>
                  <a:lnTo>
                    <a:pt x="0" y="0"/>
                  </a:lnTo>
                  <a:lnTo>
                    <a:pt x="10744200" y="0"/>
                  </a:lnTo>
                  <a:lnTo>
                    <a:pt x="10744200" y="1143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gRPC</a:t>
            </a:r>
            <a:r>
              <a:rPr spc="-5" dirty="0"/>
              <a:t> </a:t>
            </a:r>
            <a:r>
              <a:rPr dirty="0"/>
              <a:t>Web</a:t>
            </a:r>
            <a:r>
              <a:rPr spc="-5" dirty="0"/>
              <a:t> </a:t>
            </a:r>
            <a:r>
              <a:rPr dirty="0"/>
              <a:t>—</a:t>
            </a:r>
            <a:r>
              <a:rPr spc="-5" dirty="0"/>
              <a:t> </a:t>
            </a:r>
            <a:r>
              <a:rPr spc="-30" dirty="0"/>
              <a:t>Type-</a:t>
            </a:r>
            <a:r>
              <a:rPr dirty="0"/>
              <a:t>safe </a:t>
            </a:r>
            <a:r>
              <a:rPr spc="-10" dirty="0"/>
              <a:t>альтернатива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1139189" y="2350768"/>
            <a:ext cx="4137660" cy="1200150"/>
            <a:chOff x="1139189" y="2350768"/>
            <a:chExt cx="4137660" cy="120015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9189" y="2453638"/>
              <a:ext cx="80010" cy="7999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465319" y="2350768"/>
              <a:ext cx="811530" cy="297180"/>
            </a:xfrm>
            <a:custGeom>
              <a:avLst/>
              <a:gdLst/>
              <a:ahLst/>
              <a:cxnLst/>
              <a:rect l="l" t="t" r="r" b="b"/>
              <a:pathLst>
                <a:path w="811529" h="297180">
                  <a:moveTo>
                    <a:pt x="771872" y="297168"/>
                  </a:moveTo>
                  <a:lnTo>
                    <a:pt x="39657" y="297168"/>
                  </a:lnTo>
                  <a:lnTo>
                    <a:pt x="33825" y="296008"/>
                  </a:lnTo>
                  <a:lnTo>
                    <a:pt x="1159" y="263347"/>
                  </a:lnTo>
                  <a:lnTo>
                    <a:pt x="0" y="257521"/>
                  </a:lnTo>
                  <a:lnTo>
                    <a:pt x="0" y="251460"/>
                  </a:lnTo>
                  <a:lnTo>
                    <a:pt x="0" y="39658"/>
                  </a:lnTo>
                  <a:lnTo>
                    <a:pt x="22621" y="5782"/>
                  </a:lnTo>
                  <a:lnTo>
                    <a:pt x="39657" y="0"/>
                  </a:lnTo>
                  <a:lnTo>
                    <a:pt x="771872" y="0"/>
                  </a:lnTo>
                  <a:lnTo>
                    <a:pt x="805729" y="22602"/>
                  </a:lnTo>
                  <a:lnTo>
                    <a:pt x="811530" y="39658"/>
                  </a:lnTo>
                  <a:lnTo>
                    <a:pt x="811530" y="257521"/>
                  </a:lnTo>
                  <a:lnTo>
                    <a:pt x="788907" y="291364"/>
                  </a:lnTo>
                  <a:lnTo>
                    <a:pt x="777704" y="296008"/>
                  </a:lnTo>
                  <a:lnTo>
                    <a:pt x="771872" y="2971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9189" y="2967988"/>
              <a:ext cx="80010" cy="7999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9189" y="3470908"/>
              <a:ext cx="80010" cy="7999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023619" y="1823714"/>
            <a:ext cx="7686040" cy="18235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333333"/>
                </a:solidFill>
                <a:latin typeface="Segoe UI"/>
                <a:cs typeface="Segoe UI"/>
              </a:rPr>
              <a:t>Преимущества:</a:t>
            </a:r>
            <a:endParaRPr sz="1800" dirty="0">
              <a:latin typeface="Segoe UI"/>
              <a:cs typeface="Segoe UI"/>
            </a:endParaRPr>
          </a:p>
          <a:p>
            <a:pPr marL="355600">
              <a:lnSpc>
                <a:spcPct val="100000"/>
              </a:lnSpc>
              <a:spcBef>
                <a:spcPts val="1500"/>
              </a:spcBef>
              <a:tabLst>
                <a:tab pos="3509645" algn="l"/>
              </a:tabLst>
            </a:pPr>
            <a:r>
              <a:rPr sz="2100" spc="355" dirty="0">
                <a:solidFill>
                  <a:srgbClr val="333333"/>
                </a:solidFill>
                <a:latin typeface="Segoe UI Symbol"/>
                <a:cs typeface="Segoe UI Symbol"/>
              </a:rPr>
              <a:t>✅</a:t>
            </a:r>
            <a:r>
              <a:rPr sz="2100" spc="-8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Строгая типизация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через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600" dirty="0">
                <a:solidFill>
                  <a:srgbClr val="D35300"/>
                </a:solidFill>
                <a:latin typeface="Consolas"/>
                <a:cs typeface="Consolas"/>
              </a:rPr>
              <a:t>.proto</a:t>
            </a:r>
            <a:r>
              <a:rPr sz="1600" spc="200" dirty="0">
                <a:solidFill>
                  <a:srgbClr val="D3530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файлы</a:t>
            </a:r>
            <a:endParaRPr sz="1800" dirty="0">
              <a:latin typeface="Segoe UI"/>
              <a:cs typeface="Segoe UI"/>
            </a:endParaRPr>
          </a:p>
          <a:p>
            <a:pPr marL="355600">
              <a:lnSpc>
                <a:spcPct val="100000"/>
              </a:lnSpc>
              <a:spcBef>
                <a:spcPts val="1530"/>
              </a:spcBef>
            </a:pPr>
            <a:r>
              <a:rPr sz="2100" spc="355" dirty="0">
                <a:solidFill>
                  <a:srgbClr val="333333"/>
                </a:solidFill>
                <a:latin typeface="Segoe UI Symbol"/>
                <a:cs typeface="Segoe UI Symbol"/>
              </a:rPr>
              <a:t>✅</a:t>
            </a:r>
            <a:r>
              <a:rPr sz="2100" spc="-8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Автогенерация клиентов на любом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языке</a:t>
            </a:r>
            <a:endParaRPr sz="1800" dirty="0">
              <a:latin typeface="Segoe UI"/>
              <a:cs typeface="Segoe UI"/>
            </a:endParaRPr>
          </a:p>
          <a:p>
            <a:pPr marL="355600">
              <a:lnSpc>
                <a:spcPct val="100000"/>
              </a:lnSpc>
              <a:spcBef>
                <a:spcPts val="1440"/>
              </a:spcBef>
            </a:pPr>
            <a:r>
              <a:rPr sz="2100" spc="355" dirty="0">
                <a:solidFill>
                  <a:srgbClr val="333333"/>
                </a:solidFill>
                <a:latin typeface="Segoe UI Symbol"/>
                <a:cs typeface="Segoe UI Symbol"/>
              </a:rPr>
              <a:t>✅</a:t>
            </a:r>
            <a:r>
              <a:rPr sz="2100" spc="-145" dirty="0">
                <a:solidFill>
                  <a:srgbClr val="333333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Поддержка</a:t>
            </a:r>
            <a:r>
              <a:rPr sz="1800" spc="-7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bidirectional</a:t>
            </a:r>
            <a:r>
              <a:rPr sz="1800" spc="-6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streaming</a:t>
            </a:r>
            <a:endParaRPr sz="1800" dirty="0">
              <a:latin typeface="Segoe UI"/>
              <a:cs typeface="Segoe UI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FDBBC45-C5F4-4ECF-A131-067259FD6C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026" y="3802888"/>
            <a:ext cx="8297646" cy="313573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5455F7-890E-4BEB-AB4C-EAA9A443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619" y="1046486"/>
            <a:ext cx="7055484" cy="38472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gRPC</a:t>
            </a:r>
            <a:r>
              <a:rPr lang="en-US" spc="-5" dirty="0"/>
              <a:t> </a:t>
            </a:r>
            <a:r>
              <a:rPr lang="en-US" dirty="0"/>
              <a:t>Web</a:t>
            </a:r>
            <a:r>
              <a:rPr lang="en-US" spc="-5" dirty="0"/>
              <a:t> </a:t>
            </a:r>
            <a:r>
              <a:rPr lang="en-US" dirty="0"/>
              <a:t>—</a:t>
            </a:r>
            <a:r>
              <a:rPr lang="en-US" spc="-5" dirty="0"/>
              <a:t> </a:t>
            </a:r>
            <a:r>
              <a:rPr lang="en-US" spc="-30" dirty="0"/>
              <a:t>Type-</a:t>
            </a:r>
            <a:r>
              <a:rPr lang="en-US" dirty="0"/>
              <a:t>safe </a:t>
            </a:r>
            <a:r>
              <a:rPr lang="ru-RU" spc="-10" dirty="0"/>
              <a:t>альтернатива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081EB60-151A-4F5B-83B7-E1848D0E9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752600"/>
            <a:ext cx="6270942" cy="535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3614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1989" y="361958"/>
            <a:ext cx="11452860" cy="7053580"/>
            <a:chOff x="681989" y="361958"/>
            <a:chExt cx="11452860" cy="7053580"/>
          </a:xfrm>
        </p:grpSpPr>
        <p:sp>
          <p:nvSpPr>
            <p:cNvPr id="3" name="object 3"/>
            <p:cNvSpPr/>
            <p:nvPr/>
          </p:nvSpPr>
          <p:spPr>
            <a:xfrm>
              <a:off x="681977" y="361962"/>
              <a:ext cx="11452860" cy="7053580"/>
            </a:xfrm>
            <a:custGeom>
              <a:avLst/>
              <a:gdLst/>
              <a:ahLst/>
              <a:cxnLst/>
              <a:rect l="l" t="t" r="r" b="b"/>
              <a:pathLst>
                <a:path w="11452860" h="7053580">
                  <a:moveTo>
                    <a:pt x="11452860" y="137160"/>
                  </a:moveTo>
                  <a:lnTo>
                    <a:pt x="11446993" y="97409"/>
                  </a:lnTo>
                  <a:lnTo>
                    <a:pt x="11429771" y="60947"/>
                  </a:lnTo>
                  <a:lnTo>
                    <a:pt x="11412639" y="40220"/>
                  </a:lnTo>
                  <a:lnTo>
                    <a:pt x="11412106" y="39662"/>
                  </a:lnTo>
                  <a:lnTo>
                    <a:pt x="11402670" y="31076"/>
                  </a:lnTo>
                  <a:lnTo>
                    <a:pt x="11391925" y="23088"/>
                  </a:lnTo>
                  <a:lnTo>
                    <a:pt x="11380432" y="16205"/>
                  </a:lnTo>
                  <a:lnTo>
                    <a:pt x="11370285" y="11430"/>
                  </a:lnTo>
                  <a:lnTo>
                    <a:pt x="11368189" y="10439"/>
                  </a:lnTo>
                  <a:lnTo>
                    <a:pt x="11355464" y="5867"/>
                  </a:lnTo>
                  <a:lnTo>
                    <a:pt x="11342472" y="2603"/>
                  </a:lnTo>
                  <a:lnTo>
                    <a:pt x="11329213" y="647"/>
                  </a:lnTo>
                  <a:lnTo>
                    <a:pt x="11315700" y="0"/>
                  </a:lnTo>
                  <a:lnTo>
                    <a:pt x="137160" y="0"/>
                  </a:lnTo>
                  <a:lnTo>
                    <a:pt x="97409" y="5867"/>
                  </a:lnTo>
                  <a:lnTo>
                    <a:pt x="60947" y="23088"/>
                  </a:lnTo>
                  <a:lnTo>
                    <a:pt x="40754" y="39649"/>
                  </a:lnTo>
                  <a:lnTo>
                    <a:pt x="40182" y="40170"/>
                  </a:lnTo>
                  <a:lnTo>
                    <a:pt x="31089" y="50190"/>
                  </a:lnTo>
                  <a:lnTo>
                    <a:pt x="23101" y="60947"/>
                  </a:lnTo>
                  <a:lnTo>
                    <a:pt x="5880" y="97409"/>
                  </a:lnTo>
                  <a:lnTo>
                    <a:pt x="0" y="137160"/>
                  </a:lnTo>
                  <a:lnTo>
                    <a:pt x="0" y="7053250"/>
                  </a:lnTo>
                  <a:lnTo>
                    <a:pt x="11430" y="7053250"/>
                  </a:lnTo>
                  <a:lnTo>
                    <a:pt x="11430" y="137160"/>
                  </a:lnTo>
                  <a:lnTo>
                    <a:pt x="12039" y="124777"/>
                  </a:lnTo>
                  <a:lnTo>
                    <a:pt x="26301" y="77825"/>
                  </a:lnTo>
                  <a:lnTo>
                    <a:pt x="57442" y="39916"/>
                  </a:lnTo>
                  <a:lnTo>
                    <a:pt x="100723" y="16814"/>
                  </a:lnTo>
                  <a:lnTo>
                    <a:pt x="137160" y="11430"/>
                  </a:lnTo>
                  <a:lnTo>
                    <a:pt x="11315700" y="11430"/>
                  </a:lnTo>
                  <a:lnTo>
                    <a:pt x="11363820" y="20993"/>
                  </a:lnTo>
                  <a:lnTo>
                    <a:pt x="11404016" y="47713"/>
                  </a:lnTo>
                  <a:lnTo>
                    <a:pt x="11431867" y="89039"/>
                  </a:lnTo>
                  <a:lnTo>
                    <a:pt x="11441430" y="137160"/>
                  </a:lnTo>
                  <a:lnTo>
                    <a:pt x="11441430" y="7053250"/>
                  </a:lnTo>
                  <a:lnTo>
                    <a:pt x="11452860" y="7053250"/>
                  </a:lnTo>
                  <a:lnTo>
                    <a:pt x="11452860" y="13716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36320" y="1607830"/>
              <a:ext cx="10744200" cy="11430"/>
            </a:xfrm>
            <a:custGeom>
              <a:avLst/>
              <a:gdLst/>
              <a:ahLst/>
              <a:cxnLst/>
              <a:rect l="l" t="t" r="r" b="b"/>
              <a:pathLst>
                <a:path w="10744200" h="11430">
                  <a:moveTo>
                    <a:pt x="10744200" y="11430"/>
                  </a:moveTo>
                  <a:lnTo>
                    <a:pt x="0" y="11430"/>
                  </a:lnTo>
                  <a:lnTo>
                    <a:pt x="0" y="0"/>
                  </a:lnTo>
                  <a:lnTo>
                    <a:pt x="10744200" y="0"/>
                  </a:lnTo>
                  <a:lnTo>
                    <a:pt x="10744200" y="1143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36307" y="1802142"/>
              <a:ext cx="10744200" cy="5613400"/>
            </a:xfrm>
            <a:custGeom>
              <a:avLst/>
              <a:gdLst/>
              <a:ahLst/>
              <a:cxnLst/>
              <a:rect l="l" t="t" r="r" b="b"/>
              <a:pathLst>
                <a:path w="10744200" h="5613400">
                  <a:moveTo>
                    <a:pt x="10744200" y="91440"/>
                  </a:moveTo>
                  <a:lnTo>
                    <a:pt x="10733392" y="48285"/>
                  </a:lnTo>
                  <a:lnTo>
                    <a:pt x="10717365" y="26847"/>
                  </a:lnTo>
                  <a:lnTo>
                    <a:pt x="10716819" y="26238"/>
                  </a:lnTo>
                  <a:lnTo>
                    <a:pt x="10710748" y="20713"/>
                  </a:lnTo>
                  <a:lnTo>
                    <a:pt x="10703573" y="15392"/>
                  </a:lnTo>
                  <a:lnTo>
                    <a:pt x="10696943" y="11430"/>
                  </a:lnTo>
                  <a:lnTo>
                    <a:pt x="10695915" y="10807"/>
                  </a:lnTo>
                  <a:lnTo>
                    <a:pt x="10687761" y="6959"/>
                  </a:lnTo>
                  <a:lnTo>
                    <a:pt x="10679265" y="3911"/>
                  </a:lnTo>
                  <a:lnTo>
                    <a:pt x="10670604" y="1739"/>
                  </a:lnTo>
                  <a:lnTo>
                    <a:pt x="10661777" y="431"/>
                  </a:lnTo>
                  <a:lnTo>
                    <a:pt x="10652760" y="0"/>
                  </a:lnTo>
                  <a:lnTo>
                    <a:pt x="91440" y="0"/>
                  </a:lnTo>
                  <a:lnTo>
                    <a:pt x="48298" y="10807"/>
                  </a:lnTo>
                  <a:lnTo>
                    <a:pt x="27355" y="26263"/>
                  </a:lnTo>
                  <a:lnTo>
                    <a:pt x="26784" y="26784"/>
                  </a:lnTo>
                  <a:lnTo>
                    <a:pt x="20726" y="33464"/>
                  </a:lnTo>
                  <a:lnTo>
                    <a:pt x="15405" y="40627"/>
                  </a:lnTo>
                  <a:lnTo>
                    <a:pt x="444" y="82435"/>
                  </a:lnTo>
                  <a:lnTo>
                    <a:pt x="0" y="91440"/>
                  </a:lnTo>
                  <a:lnTo>
                    <a:pt x="0" y="5613070"/>
                  </a:lnTo>
                  <a:lnTo>
                    <a:pt x="11430" y="5613070"/>
                  </a:lnTo>
                  <a:lnTo>
                    <a:pt x="11430" y="91440"/>
                  </a:lnTo>
                  <a:lnTo>
                    <a:pt x="11811" y="83553"/>
                  </a:lnTo>
                  <a:lnTo>
                    <a:pt x="24904" y="46977"/>
                  </a:lnTo>
                  <a:lnTo>
                    <a:pt x="53695" y="20878"/>
                  </a:lnTo>
                  <a:lnTo>
                    <a:pt x="91440" y="11430"/>
                  </a:lnTo>
                  <a:lnTo>
                    <a:pt x="10652760" y="11430"/>
                  </a:lnTo>
                  <a:lnTo>
                    <a:pt x="10690517" y="20878"/>
                  </a:lnTo>
                  <a:lnTo>
                    <a:pt x="10719308" y="46977"/>
                  </a:lnTo>
                  <a:lnTo>
                    <a:pt x="10732389" y="83553"/>
                  </a:lnTo>
                  <a:lnTo>
                    <a:pt x="10732770" y="91440"/>
                  </a:lnTo>
                  <a:lnTo>
                    <a:pt x="10732770" y="5613070"/>
                  </a:lnTo>
                  <a:lnTo>
                    <a:pt x="10744200" y="5613070"/>
                  </a:lnTo>
                  <a:lnTo>
                    <a:pt x="10744200" y="9144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Reactive</a:t>
            </a:r>
            <a:r>
              <a:rPr spc="-45" dirty="0"/>
              <a:t> </a:t>
            </a:r>
            <a:r>
              <a:rPr dirty="0"/>
              <a:t>WebSocket</a:t>
            </a:r>
            <a:r>
              <a:rPr spc="-45" dirty="0"/>
              <a:t> </a:t>
            </a:r>
            <a:r>
              <a:rPr dirty="0"/>
              <a:t>с</a:t>
            </a:r>
            <a:r>
              <a:rPr spc="-4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spc="-10" dirty="0"/>
              <a:t>Reactor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6E87E4E-823D-41DC-AE3F-42D719CB1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242" y="1802142"/>
            <a:ext cx="8751714" cy="551485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309FAC3-542A-41C0-BE2F-364DCB71D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7324083"/>
            <a:ext cx="8285182" cy="49991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1989" y="361952"/>
            <a:ext cx="11452860" cy="7053580"/>
            <a:chOff x="681989" y="361952"/>
            <a:chExt cx="11452860" cy="7053580"/>
          </a:xfrm>
        </p:grpSpPr>
        <p:sp>
          <p:nvSpPr>
            <p:cNvPr id="3" name="object 3"/>
            <p:cNvSpPr/>
            <p:nvPr/>
          </p:nvSpPr>
          <p:spPr>
            <a:xfrm>
              <a:off x="681977" y="361949"/>
              <a:ext cx="11452860" cy="7053580"/>
            </a:xfrm>
            <a:custGeom>
              <a:avLst/>
              <a:gdLst/>
              <a:ahLst/>
              <a:cxnLst/>
              <a:rect l="l" t="t" r="r" b="b"/>
              <a:pathLst>
                <a:path w="11452860" h="7053580">
                  <a:moveTo>
                    <a:pt x="11452860" y="137160"/>
                  </a:moveTo>
                  <a:lnTo>
                    <a:pt x="11446993" y="97409"/>
                  </a:lnTo>
                  <a:lnTo>
                    <a:pt x="11429771" y="60947"/>
                  </a:lnTo>
                  <a:lnTo>
                    <a:pt x="11412626" y="40233"/>
                  </a:lnTo>
                  <a:lnTo>
                    <a:pt x="11412093" y="39636"/>
                  </a:lnTo>
                  <a:lnTo>
                    <a:pt x="11402670" y="31076"/>
                  </a:lnTo>
                  <a:lnTo>
                    <a:pt x="11391925" y="23101"/>
                  </a:lnTo>
                  <a:lnTo>
                    <a:pt x="11380432" y="16217"/>
                  </a:lnTo>
                  <a:lnTo>
                    <a:pt x="11370285" y="11430"/>
                  </a:lnTo>
                  <a:lnTo>
                    <a:pt x="11368189" y="10439"/>
                  </a:lnTo>
                  <a:lnTo>
                    <a:pt x="11355464" y="5880"/>
                  </a:lnTo>
                  <a:lnTo>
                    <a:pt x="11342472" y="2616"/>
                  </a:lnTo>
                  <a:lnTo>
                    <a:pt x="11329213" y="660"/>
                  </a:lnTo>
                  <a:lnTo>
                    <a:pt x="11315700" y="0"/>
                  </a:lnTo>
                  <a:lnTo>
                    <a:pt x="137160" y="0"/>
                  </a:lnTo>
                  <a:lnTo>
                    <a:pt x="97409" y="5880"/>
                  </a:lnTo>
                  <a:lnTo>
                    <a:pt x="60947" y="23101"/>
                  </a:lnTo>
                  <a:lnTo>
                    <a:pt x="40779" y="39636"/>
                  </a:lnTo>
                  <a:lnTo>
                    <a:pt x="40182" y="40170"/>
                  </a:lnTo>
                  <a:lnTo>
                    <a:pt x="31089" y="50190"/>
                  </a:lnTo>
                  <a:lnTo>
                    <a:pt x="23101" y="60947"/>
                  </a:lnTo>
                  <a:lnTo>
                    <a:pt x="5880" y="97409"/>
                  </a:lnTo>
                  <a:lnTo>
                    <a:pt x="0" y="137160"/>
                  </a:lnTo>
                  <a:lnTo>
                    <a:pt x="0" y="7053262"/>
                  </a:lnTo>
                  <a:lnTo>
                    <a:pt x="11430" y="7053262"/>
                  </a:lnTo>
                  <a:lnTo>
                    <a:pt x="11430" y="137160"/>
                  </a:lnTo>
                  <a:lnTo>
                    <a:pt x="12039" y="124777"/>
                  </a:lnTo>
                  <a:lnTo>
                    <a:pt x="26301" y="77838"/>
                  </a:lnTo>
                  <a:lnTo>
                    <a:pt x="48831" y="47752"/>
                  </a:lnTo>
                  <a:lnTo>
                    <a:pt x="89052" y="21005"/>
                  </a:lnTo>
                  <a:lnTo>
                    <a:pt x="137160" y="11430"/>
                  </a:lnTo>
                  <a:lnTo>
                    <a:pt x="11315700" y="11430"/>
                  </a:lnTo>
                  <a:lnTo>
                    <a:pt x="11363820" y="21005"/>
                  </a:lnTo>
                  <a:lnTo>
                    <a:pt x="11404029" y="47752"/>
                  </a:lnTo>
                  <a:lnTo>
                    <a:pt x="11431867" y="89052"/>
                  </a:lnTo>
                  <a:lnTo>
                    <a:pt x="11441430" y="137160"/>
                  </a:lnTo>
                  <a:lnTo>
                    <a:pt x="11441430" y="7053262"/>
                  </a:lnTo>
                  <a:lnTo>
                    <a:pt x="11452860" y="7053262"/>
                  </a:lnTo>
                  <a:lnTo>
                    <a:pt x="11452860" y="13716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36320" y="1607821"/>
              <a:ext cx="10744200" cy="11430"/>
            </a:xfrm>
            <a:custGeom>
              <a:avLst/>
              <a:gdLst/>
              <a:ahLst/>
              <a:cxnLst/>
              <a:rect l="l" t="t" r="r" b="b"/>
              <a:pathLst>
                <a:path w="10744200" h="11430">
                  <a:moveTo>
                    <a:pt x="10744200" y="11430"/>
                  </a:moveTo>
                  <a:lnTo>
                    <a:pt x="0" y="11430"/>
                  </a:lnTo>
                  <a:lnTo>
                    <a:pt x="0" y="0"/>
                  </a:lnTo>
                  <a:lnTo>
                    <a:pt x="10744200" y="0"/>
                  </a:lnTo>
                  <a:lnTo>
                    <a:pt x="10744200" y="1143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42034" y="2470786"/>
              <a:ext cx="10732770" cy="3634740"/>
            </a:xfrm>
            <a:custGeom>
              <a:avLst/>
              <a:gdLst/>
              <a:ahLst/>
              <a:cxnLst/>
              <a:rect l="l" t="t" r="r" b="b"/>
              <a:pathLst>
                <a:path w="10732770" h="3634740">
                  <a:moveTo>
                    <a:pt x="0" y="1445895"/>
                  </a:moveTo>
                  <a:lnTo>
                    <a:pt x="0" y="85725"/>
                  </a:lnTo>
                  <a:lnTo>
                    <a:pt x="0" y="80087"/>
                  </a:lnTo>
                  <a:lnTo>
                    <a:pt x="549" y="74517"/>
                  </a:lnTo>
                  <a:lnTo>
                    <a:pt x="1647" y="68992"/>
                  </a:lnTo>
                  <a:lnTo>
                    <a:pt x="2745" y="63467"/>
                  </a:lnTo>
                  <a:lnTo>
                    <a:pt x="4371" y="58098"/>
                  </a:lnTo>
                  <a:lnTo>
                    <a:pt x="6525" y="52908"/>
                  </a:lnTo>
                  <a:lnTo>
                    <a:pt x="8679" y="47696"/>
                  </a:lnTo>
                  <a:lnTo>
                    <a:pt x="11320" y="42761"/>
                  </a:lnTo>
                  <a:lnTo>
                    <a:pt x="14447" y="38084"/>
                  </a:lnTo>
                  <a:lnTo>
                    <a:pt x="17574" y="33408"/>
                  </a:lnTo>
                  <a:lnTo>
                    <a:pt x="21128" y="29076"/>
                  </a:lnTo>
                  <a:lnTo>
                    <a:pt x="25108" y="25103"/>
                  </a:lnTo>
                  <a:lnTo>
                    <a:pt x="29088" y="21119"/>
                  </a:lnTo>
                  <a:lnTo>
                    <a:pt x="33418" y="17569"/>
                  </a:lnTo>
                  <a:lnTo>
                    <a:pt x="38098" y="14444"/>
                  </a:lnTo>
                  <a:lnTo>
                    <a:pt x="42778" y="11317"/>
                  </a:lnTo>
                  <a:lnTo>
                    <a:pt x="47719" y="8673"/>
                  </a:lnTo>
                  <a:lnTo>
                    <a:pt x="52919" y="6518"/>
                  </a:lnTo>
                  <a:lnTo>
                    <a:pt x="58119" y="4363"/>
                  </a:lnTo>
                  <a:lnTo>
                    <a:pt x="63480" y="2735"/>
                  </a:lnTo>
                  <a:lnTo>
                    <a:pt x="69000" y="1641"/>
                  </a:lnTo>
                  <a:lnTo>
                    <a:pt x="74521" y="547"/>
                  </a:lnTo>
                  <a:lnTo>
                    <a:pt x="80096" y="0"/>
                  </a:lnTo>
                  <a:lnTo>
                    <a:pt x="85725" y="0"/>
                  </a:lnTo>
                  <a:lnTo>
                    <a:pt x="10647045" y="0"/>
                  </a:lnTo>
                  <a:lnTo>
                    <a:pt x="10652673" y="0"/>
                  </a:lnTo>
                  <a:lnTo>
                    <a:pt x="10658248" y="547"/>
                  </a:lnTo>
                  <a:lnTo>
                    <a:pt x="10663769" y="1641"/>
                  </a:lnTo>
                  <a:lnTo>
                    <a:pt x="10669289" y="2735"/>
                  </a:lnTo>
                  <a:lnTo>
                    <a:pt x="10694670" y="14444"/>
                  </a:lnTo>
                  <a:lnTo>
                    <a:pt x="10699351" y="17569"/>
                  </a:lnTo>
                  <a:lnTo>
                    <a:pt x="10703682" y="21119"/>
                  </a:lnTo>
                  <a:lnTo>
                    <a:pt x="10707661" y="25103"/>
                  </a:lnTo>
                  <a:lnTo>
                    <a:pt x="10711642" y="29076"/>
                  </a:lnTo>
                  <a:lnTo>
                    <a:pt x="10726244" y="52908"/>
                  </a:lnTo>
                  <a:lnTo>
                    <a:pt x="10728397" y="58098"/>
                  </a:lnTo>
                  <a:lnTo>
                    <a:pt x="10732770" y="85725"/>
                  </a:lnTo>
                  <a:lnTo>
                    <a:pt x="10732770" y="1445895"/>
                  </a:lnTo>
                  <a:lnTo>
                    <a:pt x="10732769" y="1451509"/>
                  </a:lnTo>
                  <a:lnTo>
                    <a:pt x="10732220" y="1457079"/>
                  </a:lnTo>
                  <a:lnTo>
                    <a:pt x="10731121" y="1462593"/>
                  </a:lnTo>
                  <a:lnTo>
                    <a:pt x="10730023" y="1468118"/>
                  </a:lnTo>
                  <a:lnTo>
                    <a:pt x="10728397" y="1473476"/>
                  </a:lnTo>
                  <a:lnTo>
                    <a:pt x="10726243" y="1478678"/>
                  </a:lnTo>
                  <a:lnTo>
                    <a:pt x="10724089" y="1483890"/>
                  </a:lnTo>
                  <a:lnTo>
                    <a:pt x="10721448" y="1488824"/>
                  </a:lnTo>
                  <a:lnTo>
                    <a:pt x="10718322" y="1493501"/>
                  </a:lnTo>
                  <a:lnTo>
                    <a:pt x="10715195" y="1498189"/>
                  </a:lnTo>
                  <a:lnTo>
                    <a:pt x="10685049" y="1522913"/>
                  </a:lnTo>
                  <a:lnTo>
                    <a:pt x="10663769" y="1529956"/>
                  </a:lnTo>
                  <a:lnTo>
                    <a:pt x="10658248" y="1531062"/>
                  </a:lnTo>
                  <a:lnTo>
                    <a:pt x="10652673" y="1531620"/>
                  </a:lnTo>
                  <a:lnTo>
                    <a:pt x="10647045" y="1531620"/>
                  </a:lnTo>
                  <a:lnTo>
                    <a:pt x="85725" y="1531620"/>
                  </a:lnTo>
                  <a:lnTo>
                    <a:pt x="80096" y="1531620"/>
                  </a:lnTo>
                  <a:lnTo>
                    <a:pt x="74521" y="1531062"/>
                  </a:lnTo>
                  <a:lnTo>
                    <a:pt x="69000" y="1529956"/>
                  </a:lnTo>
                  <a:lnTo>
                    <a:pt x="63480" y="1528851"/>
                  </a:lnTo>
                  <a:lnTo>
                    <a:pt x="38098" y="1517142"/>
                  </a:lnTo>
                  <a:lnTo>
                    <a:pt x="33418" y="1514028"/>
                  </a:lnTo>
                  <a:lnTo>
                    <a:pt x="14447" y="1493501"/>
                  </a:lnTo>
                  <a:lnTo>
                    <a:pt x="11320" y="1488824"/>
                  </a:lnTo>
                  <a:lnTo>
                    <a:pt x="8679" y="1483890"/>
                  </a:lnTo>
                  <a:lnTo>
                    <a:pt x="6525" y="1478678"/>
                  </a:lnTo>
                  <a:lnTo>
                    <a:pt x="4371" y="1473476"/>
                  </a:lnTo>
                  <a:lnTo>
                    <a:pt x="2745" y="1468118"/>
                  </a:lnTo>
                  <a:lnTo>
                    <a:pt x="1647" y="1462604"/>
                  </a:lnTo>
                  <a:lnTo>
                    <a:pt x="549" y="1457079"/>
                  </a:lnTo>
                  <a:lnTo>
                    <a:pt x="0" y="1451509"/>
                  </a:lnTo>
                  <a:lnTo>
                    <a:pt x="0" y="1445895"/>
                  </a:lnTo>
                  <a:close/>
                </a:path>
                <a:path w="10732770" h="3634740">
                  <a:moveTo>
                    <a:pt x="0" y="3549015"/>
                  </a:moveTo>
                  <a:lnTo>
                    <a:pt x="0" y="2474595"/>
                  </a:lnTo>
                  <a:lnTo>
                    <a:pt x="0" y="2468957"/>
                  </a:lnTo>
                  <a:lnTo>
                    <a:pt x="549" y="2463387"/>
                  </a:lnTo>
                  <a:lnTo>
                    <a:pt x="1647" y="2457862"/>
                  </a:lnTo>
                  <a:lnTo>
                    <a:pt x="2745" y="2452337"/>
                  </a:lnTo>
                  <a:lnTo>
                    <a:pt x="4371" y="2446968"/>
                  </a:lnTo>
                  <a:lnTo>
                    <a:pt x="6525" y="2441766"/>
                  </a:lnTo>
                  <a:lnTo>
                    <a:pt x="8679" y="2436566"/>
                  </a:lnTo>
                  <a:lnTo>
                    <a:pt x="11320" y="2431620"/>
                  </a:lnTo>
                  <a:lnTo>
                    <a:pt x="14447" y="2426944"/>
                  </a:lnTo>
                  <a:lnTo>
                    <a:pt x="17574" y="2422267"/>
                  </a:lnTo>
                  <a:lnTo>
                    <a:pt x="21128" y="2417936"/>
                  </a:lnTo>
                  <a:lnTo>
                    <a:pt x="25108" y="2413973"/>
                  </a:lnTo>
                  <a:lnTo>
                    <a:pt x="29088" y="2409989"/>
                  </a:lnTo>
                  <a:lnTo>
                    <a:pt x="33418" y="2406439"/>
                  </a:lnTo>
                  <a:lnTo>
                    <a:pt x="38098" y="2403302"/>
                  </a:lnTo>
                  <a:lnTo>
                    <a:pt x="42778" y="2400166"/>
                  </a:lnTo>
                  <a:lnTo>
                    <a:pt x="80096" y="2388870"/>
                  </a:lnTo>
                  <a:lnTo>
                    <a:pt x="85725" y="2388870"/>
                  </a:lnTo>
                  <a:lnTo>
                    <a:pt x="10647045" y="2388870"/>
                  </a:lnTo>
                  <a:lnTo>
                    <a:pt x="10652673" y="2388870"/>
                  </a:lnTo>
                  <a:lnTo>
                    <a:pt x="10658248" y="2389417"/>
                  </a:lnTo>
                  <a:lnTo>
                    <a:pt x="10663769" y="2390511"/>
                  </a:lnTo>
                  <a:lnTo>
                    <a:pt x="10669289" y="2391605"/>
                  </a:lnTo>
                  <a:lnTo>
                    <a:pt x="10703682" y="2409989"/>
                  </a:lnTo>
                  <a:lnTo>
                    <a:pt x="10707661" y="2413973"/>
                  </a:lnTo>
                  <a:lnTo>
                    <a:pt x="10711642" y="2417936"/>
                  </a:lnTo>
                  <a:lnTo>
                    <a:pt x="10715195" y="2422267"/>
                  </a:lnTo>
                  <a:lnTo>
                    <a:pt x="10718322" y="2426944"/>
                  </a:lnTo>
                  <a:lnTo>
                    <a:pt x="10721449" y="2431620"/>
                  </a:lnTo>
                  <a:lnTo>
                    <a:pt x="10732769" y="2468957"/>
                  </a:lnTo>
                  <a:lnTo>
                    <a:pt x="10732770" y="2474595"/>
                  </a:lnTo>
                  <a:lnTo>
                    <a:pt x="10732770" y="3549015"/>
                  </a:lnTo>
                  <a:lnTo>
                    <a:pt x="10724089" y="3586999"/>
                  </a:lnTo>
                  <a:lnTo>
                    <a:pt x="10699351" y="3617137"/>
                  </a:lnTo>
                  <a:lnTo>
                    <a:pt x="10663769" y="3633077"/>
                  </a:lnTo>
                  <a:lnTo>
                    <a:pt x="10658248" y="3634182"/>
                  </a:lnTo>
                  <a:lnTo>
                    <a:pt x="10652673" y="3634740"/>
                  </a:lnTo>
                  <a:lnTo>
                    <a:pt x="10647045" y="3634740"/>
                  </a:lnTo>
                  <a:lnTo>
                    <a:pt x="85725" y="3634740"/>
                  </a:lnTo>
                  <a:lnTo>
                    <a:pt x="80096" y="3634740"/>
                  </a:lnTo>
                  <a:lnTo>
                    <a:pt x="74521" y="3634192"/>
                  </a:lnTo>
                  <a:lnTo>
                    <a:pt x="38098" y="3620262"/>
                  </a:lnTo>
                  <a:lnTo>
                    <a:pt x="33418" y="3617137"/>
                  </a:lnTo>
                  <a:lnTo>
                    <a:pt x="8679" y="3586989"/>
                  </a:lnTo>
                  <a:lnTo>
                    <a:pt x="1647" y="3565724"/>
                  </a:lnTo>
                  <a:lnTo>
                    <a:pt x="549" y="3560210"/>
                  </a:lnTo>
                  <a:lnTo>
                    <a:pt x="0" y="3554640"/>
                  </a:lnTo>
                  <a:lnTo>
                    <a:pt x="0" y="3549015"/>
                  </a:lnTo>
                  <a:close/>
                </a:path>
              </a:pathLst>
            </a:custGeom>
            <a:ln w="11430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Modern</a:t>
            </a:r>
            <a:r>
              <a:rPr spc="5" dirty="0"/>
              <a:t> </a:t>
            </a:r>
            <a:r>
              <a:rPr dirty="0"/>
              <a:t>Best</a:t>
            </a:r>
            <a:r>
              <a:rPr spc="10" dirty="0"/>
              <a:t> </a:t>
            </a:r>
            <a:r>
              <a:rPr spc="-10" dirty="0"/>
              <a:t>Practices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23619" y="1782442"/>
            <a:ext cx="10732770" cy="583108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19405" indent="-306705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319405" algn="l"/>
              </a:tabLst>
            </a:pPr>
            <a:r>
              <a:rPr sz="2150" b="1" dirty="0">
                <a:solidFill>
                  <a:srgbClr val="2980B9"/>
                </a:solidFill>
                <a:latin typeface="Segoe UI"/>
                <a:cs typeface="Segoe UI"/>
              </a:rPr>
              <a:t>Stateless</a:t>
            </a:r>
            <a:r>
              <a:rPr sz="2150" b="1" spc="-65" dirty="0">
                <a:solidFill>
                  <a:srgbClr val="2980B9"/>
                </a:solidFill>
                <a:latin typeface="Segoe UI"/>
                <a:cs typeface="Segoe UI"/>
              </a:rPr>
              <a:t> </a:t>
            </a:r>
            <a:r>
              <a:rPr sz="2150" b="1" spc="-10" dirty="0">
                <a:solidFill>
                  <a:srgbClr val="2980B9"/>
                </a:solidFill>
                <a:latin typeface="Segoe UI"/>
                <a:cs typeface="Segoe UI"/>
              </a:rPr>
              <a:t>дизайн</a:t>
            </a:r>
            <a:endParaRPr sz="215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09"/>
              </a:spcBef>
              <a:buClr>
                <a:srgbClr val="2980B9"/>
              </a:buClr>
              <a:buFont typeface="Segoe UI"/>
              <a:buAutoNum type="arabicPeriod"/>
            </a:pPr>
            <a:endParaRPr sz="2150" dirty="0">
              <a:latin typeface="Segoe UI"/>
              <a:cs typeface="Segoe UI"/>
            </a:endParaRPr>
          </a:p>
          <a:p>
            <a:pPr marL="207010">
              <a:lnSpc>
                <a:spcPct val="100000"/>
              </a:lnSpc>
            </a:pPr>
            <a:r>
              <a:rPr sz="1600" spc="-10" dirty="0">
                <a:solidFill>
                  <a:srgbClr val="333333"/>
                </a:solidFill>
                <a:latin typeface="Consolas"/>
                <a:cs typeface="Consolas"/>
              </a:rPr>
              <a:t>@Bean</a:t>
            </a:r>
            <a:endParaRPr sz="1600" dirty="0">
              <a:latin typeface="Consolas"/>
              <a:cs typeface="Consolas"/>
            </a:endParaRPr>
          </a:p>
          <a:p>
            <a:pPr marL="207010">
              <a:lnSpc>
                <a:spcPct val="100000"/>
              </a:lnSpc>
              <a:spcBef>
                <a:spcPts val="330"/>
              </a:spcBef>
            </a:pP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public</a:t>
            </a:r>
            <a:r>
              <a:rPr sz="1600" spc="125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WebSocketSessionStore</a:t>
            </a:r>
            <a:r>
              <a:rPr sz="1600" spc="13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sessionStore()</a:t>
            </a:r>
            <a:r>
              <a:rPr sz="1600" spc="13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spc="-50" dirty="0">
                <a:solidFill>
                  <a:srgbClr val="333333"/>
                </a:solidFill>
                <a:latin typeface="Consolas"/>
                <a:cs typeface="Consolas"/>
              </a:rPr>
              <a:t>{</a:t>
            </a:r>
            <a:endParaRPr sz="1600" dirty="0">
              <a:latin typeface="Consolas"/>
              <a:cs typeface="Consolas"/>
            </a:endParaRPr>
          </a:p>
          <a:p>
            <a:pPr marL="659130">
              <a:lnSpc>
                <a:spcPct val="100000"/>
              </a:lnSpc>
              <a:spcBef>
                <a:spcPts val="420"/>
              </a:spcBef>
            </a:pP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return</a:t>
            </a:r>
            <a:r>
              <a:rPr sz="1600" spc="18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new</a:t>
            </a:r>
            <a:r>
              <a:rPr sz="1600" spc="185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Consolas"/>
                <a:cs typeface="Consolas"/>
              </a:rPr>
              <a:t>RedisSessionRepository(redisConnectionFactory);</a:t>
            </a:r>
            <a:endParaRPr sz="1600" dirty="0">
              <a:latin typeface="Consolas"/>
              <a:cs typeface="Consolas"/>
            </a:endParaRPr>
          </a:p>
          <a:p>
            <a:pPr marL="207010">
              <a:lnSpc>
                <a:spcPct val="100000"/>
              </a:lnSpc>
              <a:spcBef>
                <a:spcPts val="330"/>
              </a:spcBef>
            </a:pPr>
            <a:r>
              <a:rPr sz="1600" spc="-50" dirty="0">
                <a:solidFill>
                  <a:srgbClr val="333333"/>
                </a:solidFill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600" dirty="0">
              <a:latin typeface="Consolas"/>
              <a:cs typeface="Consolas"/>
            </a:endParaRPr>
          </a:p>
          <a:p>
            <a:pPr marL="319405" indent="-306705">
              <a:lnSpc>
                <a:spcPct val="100000"/>
              </a:lnSpc>
              <a:buAutoNum type="arabicPeriod" startAt="2"/>
              <a:tabLst>
                <a:tab pos="319405" algn="l"/>
              </a:tabLst>
            </a:pPr>
            <a:r>
              <a:rPr sz="2150" b="1" dirty="0">
                <a:solidFill>
                  <a:srgbClr val="2980B9"/>
                </a:solidFill>
                <a:latin typeface="Segoe UI"/>
                <a:cs typeface="Segoe UI"/>
              </a:rPr>
              <a:t>Resilience</a:t>
            </a:r>
            <a:r>
              <a:rPr sz="2150" b="1" spc="-55" dirty="0">
                <a:solidFill>
                  <a:srgbClr val="2980B9"/>
                </a:solidFill>
                <a:latin typeface="Segoe UI"/>
                <a:cs typeface="Segoe UI"/>
              </a:rPr>
              <a:t> </a:t>
            </a:r>
            <a:r>
              <a:rPr sz="2150" b="1" spc="-10" dirty="0">
                <a:solidFill>
                  <a:srgbClr val="2980B9"/>
                </a:solidFill>
                <a:latin typeface="Segoe UI"/>
                <a:cs typeface="Segoe UI"/>
              </a:rPr>
              <a:t>patterns</a:t>
            </a:r>
            <a:endParaRPr sz="215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09"/>
              </a:spcBef>
              <a:buClr>
                <a:srgbClr val="2980B9"/>
              </a:buClr>
              <a:buFont typeface="Segoe UI"/>
              <a:buAutoNum type="arabicPeriod" startAt="2"/>
            </a:pPr>
            <a:endParaRPr sz="2150" dirty="0">
              <a:latin typeface="Segoe UI"/>
              <a:cs typeface="Segoe UI"/>
            </a:endParaRPr>
          </a:p>
          <a:p>
            <a:pPr marL="207010">
              <a:lnSpc>
                <a:spcPct val="100000"/>
              </a:lnSpc>
            </a:pPr>
            <a:r>
              <a:rPr sz="1600" spc="-10" dirty="0">
                <a:solidFill>
                  <a:srgbClr val="333333"/>
                </a:solidFill>
                <a:latin typeface="Consolas"/>
                <a:cs typeface="Consolas"/>
              </a:rPr>
              <a:t>RSocketConnector.create()</a:t>
            </a:r>
            <a:endParaRPr sz="1600" dirty="0">
              <a:latin typeface="Consolas"/>
              <a:cs typeface="Consolas"/>
            </a:endParaRPr>
          </a:p>
          <a:p>
            <a:pPr marL="659130">
              <a:lnSpc>
                <a:spcPct val="100000"/>
              </a:lnSpc>
              <a:spcBef>
                <a:spcPts val="420"/>
              </a:spcBef>
            </a:pP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.reconnect(Retry.backoff(5,</a:t>
            </a:r>
            <a:r>
              <a:rPr sz="1600" spc="245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Consolas"/>
                <a:cs typeface="Consolas"/>
              </a:rPr>
              <a:t>Duration.ofSeconds(1)))</a:t>
            </a:r>
            <a:endParaRPr sz="1600" dirty="0">
              <a:latin typeface="Consolas"/>
              <a:cs typeface="Consolas"/>
            </a:endParaRPr>
          </a:p>
          <a:p>
            <a:pPr marL="659130">
              <a:lnSpc>
                <a:spcPct val="100000"/>
              </a:lnSpc>
              <a:spcBef>
                <a:spcPts val="330"/>
              </a:spcBef>
            </a:pPr>
            <a:r>
              <a:rPr sz="1600" dirty="0">
                <a:solidFill>
                  <a:srgbClr val="333333"/>
                </a:solidFill>
                <a:latin typeface="Consolas"/>
                <a:cs typeface="Consolas"/>
              </a:rPr>
              <a:t>.keepAlive(Duration.ofSeconds(10),</a:t>
            </a:r>
            <a:r>
              <a:rPr sz="1600" spc="305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333333"/>
                </a:solidFill>
                <a:latin typeface="Consolas"/>
                <a:cs typeface="Consolas"/>
              </a:rPr>
              <a:t>Duration.ofSeconds(20));</a:t>
            </a:r>
            <a:endParaRPr sz="1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600" dirty="0">
              <a:latin typeface="Consolas"/>
              <a:cs typeface="Consolas"/>
            </a:endParaRPr>
          </a:p>
          <a:p>
            <a:pPr marL="319405" indent="-306705">
              <a:lnSpc>
                <a:spcPct val="100000"/>
              </a:lnSpc>
              <a:buAutoNum type="arabicPeriod" startAt="3"/>
              <a:tabLst>
                <a:tab pos="319405" algn="l"/>
              </a:tabLst>
            </a:pPr>
            <a:r>
              <a:rPr sz="2150" b="1" dirty="0">
                <a:solidFill>
                  <a:srgbClr val="2980B9"/>
                </a:solidFill>
                <a:latin typeface="Segoe UI"/>
                <a:cs typeface="Segoe UI"/>
              </a:rPr>
              <a:t>Monitoring</a:t>
            </a:r>
            <a:r>
              <a:rPr sz="2150" b="1" spc="-5" dirty="0">
                <a:solidFill>
                  <a:srgbClr val="2980B9"/>
                </a:solidFill>
                <a:latin typeface="Segoe UI"/>
                <a:cs typeface="Segoe UI"/>
              </a:rPr>
              <a:t> </a:t>
            </a:r>
            <a:r>
              <a:rPr sz="2150" b="1" dirty="0">
                <a:solidFill>
                  <a:srgbClr val="2980B9"/>
                </a:solidFill>
                <a:latin typeface="Segoe UI"/>
                <a:cs typeface="Segoe UI"/>
              </a:rPr>
              <a:t>&amp; </a:t>
            </a:r>
            <a:r>
              <a:rPr sz="2150" b="1" spc="-10" dirty="0">
                <a:solidFill>
                  <a:srgbClr val="2980B9"/>
                </a:solidFill>
                <a:latin typeface="Segoe UI"/>
                <a:cs typeface="Segoe UI"/>
              </a:rPr>
              <a:t>Observability</a:t>
            </a:r>
            <a:endParaRPr lang="ru-RU" sz="2150" b="1" spc="-10" dirty="0">
              <a:solidFill>
                <a:srgbClr val="2980B9"/>
              </a:solidFill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tabLst>
                <a:tab pos="319405" algn="l"/>
              </a:tabLst>
            </a:pPr>
            <a:endParaRPr lang="ru-RU" sz="2150" b="1" spc="-10" dirty="0">
              <a:solidFill>
                <a:srgbClr val="2980B9"/>
              </a:solidFill>
              <a:latin typeface="Segoe UI"/>
              <a:cs typeface="Segoe UI"/>
            </a:endParaRPr>
          </a:p>
          <a:p>
            <a:pPr marL="12700">
              <a:tabLst>
                <a:tab pos="319405" algn="l"/>
              </a:tabLst>
            </a:pPr>
            <a:r>
              <a:rPr lang="ru-RU" sz="1600" b="1" spc="-10" dirty="0">
                <a:solidFill>
                  <a:srgbClr val="2980B9"/>
                </a:solidFill>
                <a:latin typeface="Consolas" panose="020B0609020204030204" pitchFamily="49" charset="0"/>
                <a:cs typeface="Segoe UI"/>
              </a:rPr>
              <a:t>      </a:t>
            </a:r>
            <a:r>
              <a:rPr lang="en-US" sz="1600" spc="-10" dirty="0">
                <a:solidFill>
                  <a:srgbClr val="333333"/>
                </a:solidFill>
                <a:latin typeface="Consolas" panose="020B0609020204030204" pitchFamily="49" charset="0"/>
                <a:cs typeface="Consolas"/>
              </a:rPr>
              <a:t>registry.counter("websocket.messages.received").increment();</a:t>
            </a:r>
            <a:endParaRPr lang="en-US" sz="1600" dirty="0">
              <a:latin typeface="Consolas" panose="020B0609020204030204" pitchFamily="49" charset="0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319405" algn="l"/>
              </a:tabLst>
            </a:pPr>
            <a:endParaRPr sz="2150" dirty="0">
              <a:latin typeface="Segoe UI"/>
              <a:cs typeface="Segoe UI"/>
            </a:endParaRPr>
          </a:p>
        </p:txBody>
      </p:sp>
      <p:grpSp>
        <p:nvGrpSpPr>
          <p:cNvPr id="8" name="object 2"/>
          <p:cNvGrpSpPr/>
          <p:nvPr/>
        </p:nvGrpSpPr>
        <p:grpSpPr>
          <a:xfrm>
            <a:off x="702930" y="6777351"/>
            <a:ext cx="11452860" cy="1211580"/>
            <a:chOff x="681989" y="361963"/>
            <a:chExt cx="11452860" cy="1211580"/>
          </a:xfrm>
        </p:grpSpPr>
        <p:sp>
          <p:nvSpPr>
            <p:cNvPr id="9" name="object 3"/>
            <p:cNvSpPr/>
            <p:nvPr/>
          </p:nvSpPr>
          <p:spPr>
            <a:xfrm>
              <a:off x="681977" y="361962"/>
              <a:ext cx="11452860" cy="1211580"/>
            </a:xfrm>
            <a:custGeom>
              <a:avLst/>
              <a:gdLst/>
              <a:ahLst/>
              <a:cxnLst/>
              <a:rect l="l" t="t" r="r" b="b"/>
              <a:pathLst>
                <a:path w="11452860" h="1211580">
                  <a:moveTo>
                    <a:pt x="11452860" y="0"/>
                  </a:moveTo>
                  <a:lnTo>
                    <a:pt x="11441430" y="0"/>
                  </a:lnTo>
                  <a:lnTo>
                    <a:pt x="11441430" y="1074420"/>
                  </a:lnTo>
                  <a:lnTo>
                    <a:pt x="11440833" y="1086815"/>
                  </a:lnTo>
                  <a:lnTo>
                    <a:pt x="11426571" y="1133754"/>
                  </a:lnTo>
                  <a:lnTo>
                    <a:pt x="11395431" y="1171663"/>
                  </a:lnTo>
                  <a:lnTo>
                    <a:pt x="11352149" y="1194765"/>
                  </a:lnTo>
                  <a:lnTo>
                    <a:pt x="11315700" y="1200150"/>
                  </a:lnTo>
                  <a:lnTo>
                    <a:pt x="137160" y="1200150"/>
                  </a:lnTo>
                  <a:lnTo>
                    <a:pt x="89052" y="1190574"/>
                  </a:lnTo>
                  <a:lnTo>
                    <a:pt x="48856" y="1163866"/>
                  </a:lnTo>
                  <a:lnTo>
                    <a:pt x="21005" y="1122540"/>
                  </a:lnTo>
                  <a:lnTo>
                    <a:pt x="11430" y="1074420"/>
                  </a:lnTo>
                  <a:lnTo>
                    <a:pt x="11430" y="0"/>
                  </a:lnTo>
                  <a:lnTo>
                    <a:pt x="0" y="0"/>
                  </a:lnTo>
                  <a:lnTo>
                    <a:pt x="0" y="1074420"/>
                  </a:lnTo>
                  <a:lnTo>
                    <a:pt x="660" y="1087932"/>
                  </a:lnTo>
                  <a:lnTo>
                    <a:pt x="10452" y="1126909"/>
                  </a:lnTo>
                  <a:lnTo>
                    <a:pt x="31089" y="1161389"/>
                  </a:lnTo>
                  <a:lnTo>
                    <a:pt x="40220" y="1171371"/>
                  </a:lnTo>
                  <a:lnTo>
                    <a:pt x="40754" y="1171943"/>
                  </a:lnTo>
                  <a:lnTo>
                    <a:pt x="50190" y="1180503"/>
                  </a:lnTo>
                  <a:lnTo>
                    <a:pt x="84683" y="1201140"/>
                  </a:lnTo>
                  <a:lnTo>
                    <a:pt x="123659" y="1210932"/>
                  </a:lnTo>
                  <a:lnTo>
                    <a:pt x="137160" y="1211580"/>
                  </a:lnTo>
                  <a:lnTo>
                    <a:pt x="11315700" y="1211580"/>
                  </a:lnTo>
                  <a:lnTo>
                    <a:pt x="11355464" y="1205712"/>
                  </a:lnTo>
                  <a:lnTo>
                    <a:pt x="11370285" y="1200150"/>
                  </a:lnTo>
                  <a:lnTo>
                    <a:pt x="11380432" y="1195362"/>
                  </a:lnTo>
                  <a:lnTo>
                    <a:pt x="11391925" y="1188491"/>
                  </a:lnTo>
                  <a:lnTo>
                    <a:pt x="11402670" y="1180503"/>
                  </a:lnTo>
                  <a:lnTo>
                    <a:pt x="11412080" y="1171956"/>
                  </a:lnTo>
                  <a:lnTo>
                    <a:pt x="11412690" y="1171409"/>
                  </a:lnTo>
                  <a:lnTo>
                    <a:pt x="11436655" y="1139151"/>
                  </a:lnTo>
                  <a:lnTo>
                    <a:pt x="11450257" y="1101191"/>
                  </a:lnTo>
                  <a:lnTo>
                    <a:pt x="11452860" y="1074420"/>
                  </a:lnTo>
                  <a:lnTo>
                    <a:pt x="11452860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4"/>
            <p:cNvSpPr/>
            <p:nvPr/>
          </p:nvSpPr>
          <p:spPr>
            <a:xfrm>
              <a:off x="1042034" y="367678"/>
              <a:ext cx="10732770" cy="662940"/>
            </a:xfrm>
            <a:custGeom>
              <a:avLst/>
              <a:gdLst/>
              <a:ahLst/>
              <a:cxnLst/>
              <a:rect l="l" t="t" r="r" b="b"/>
              <a:pathLst>
                <a:path w="10732770" h="662940">
                  <a:moveTo>
                    <a:pt x="0" y="577215"/>
                  </a:moveTo>
                  <a:lnTo>
                    <a:pt x="0" y="85725"/>
                  </a:lnTo>
                  <a:lnTo>
                    <a:pt x="0" y="80087"/>
                  </a:lnTo>
                  <a:lnTo>
                    <a:pt x="549" y="74507"/>
                  </a:lnTo>
                  <a:lnTo>
                    <a:pt x="1647" y="68982"/>
                  </a:lnTo>
                  <a:lnTo>
                    <a:pt x="2745" y="63457"/>
                  </a:lnTo>
                  <a:lnTo>
                    <a:pt x="4371" y="58087"/>
                  </a:lnTo>
                  <a:lnTo>
                    <a:pt x="6525" y="52886"/>
                  </a:lnTo>
                  <a:lnTo>
                    <a:pt x="8679" y="47684"/>
                  </a:lnTo>
                  <a:lnTo>
                    <a:pt x="11320" y="42740"/>
                  </a:lnTo>
                  <a:lnTo>
                    <a:pt x="14447" y="38063"/>
                  </a:lnTo>
                  <a:lnTo>
                    <a:pt x="17574" y="33385"/>
                  </a:lnTo>
                  <a:lnTo>
                    <a:pt x="21128" y="29066"/>
                  </a:lnTo>
                  <a:lnTo>
                    <a:pt x="25108" y="25092"/>
                  </a:lnTo>
                  <a:lnTo>
                    <a:pt x="29088" y="21107"/>
                  </a:lnTo>
                  <a:lnTo>
                    <a:pt x="33418" y="17557"/>
                  </a:lnTo>
                  <a:lnTo>
                    <a:pt x="38098" y="14432"/>
                  </a:lnTo>
                  <a:lnTo>
                    <a:pt x="42778" y="11296"/>
                  </a:lnTo>
                  <a:lnTo>
                    <a:pt x="80096" y="0"/>
                  </a:lnTo>
                  <a:lnTo>
                    <a:pt x="85725" y="0"/>
                  </a:lnTo>
                  <a:lnTo>
                    <a:pt x="10647045" y="0"/>
                  </a:lnTo>
                  <a:lnTo>
                    <a:pt x="10652673" y="0"/>
                  </a:lnTo>
                  <a:lnTo>
                    <a:pt x="10658248" y="547"/>
                  </a:lnTo>
                  <a:lnTo>
                    <a:pt x="10663769" y="1641"/>
                  </a:lnTo>
                  <a:lnTo>
                    <a:pt x="10669289" y="2735"/>
                  </a:lnTo>
                  <a:lnTo>
                    <a:pt x="10703682" y="21107"/>
                  </a:lnTo>
                  <a:lnTo>
                    <a:pt x="10707661" y="25092"/>
                  </a:lnTo>
                  <a:lnTo>
                    <a:pt x="10711642" y="29066"/>
                  </a:lnTo>
                  <a:lnTo>
                    <a:pt x="10730023" y="63457"/>
                  </a:lnTo>
                  <a:lnTo>
                    <a:pt x="10732770" y="85725"/>
                  </a:lnTo>
                  <a:lnTo>
                    <a:pt x="10732770" y="577215"/>
                  </a:lnTo>
                  <a:lnTo>
                    <a:pt x="10732769" y="582829"/>
                  </a:lnTo>
                  <a:lnTo>
                    <a:pt x="10732220" y="588399"/>
                  </a:lnTo>
                  <a:lnTo>
                    <a:pt x="10731121" y="593913"/>
                  </a:lnTo>
                  <a:lnTo>
                    <a:pt x="10730023" y="599438"/>
                  </a:lnTo>
                  <a:lnTo>
                    <a:pt x="10711642" y="633840"/>
                  </a:lnTo>
                  <a:lnTo>
                    <a:pt x="10679850" y="656398"/>
                  </a:lnTo>
                  <a:lnTo>
                    <a:pt x="10674650" y="658553"/>
                  </a:lnTo>
                  <a:lnTo>
                    <a:pt x="10669289" y="660171"/>
                  </a:lnTo>
                  <a:lnTo>
                    <a:pt x="10663769" y="661276"/>
                  </a:lnTo>
                  <a:lnTo>
                    <a:pt x="10658248" y="662382"/>
                  </a:lnTo>
                  <a:lnTo>
                    <a:pt x="10652673" y="662928"/>
                  </a:lnTo>
                  <a:lnTo>
                    <a:pt x="10647045" y="662940"/>
                  </a:lnTo>
                  <a:lnTo>
                    <a:pt x="85725" y="662940"/>
                  </a:lnTo>
                  <a:lnTo>
                    <a:pt x="52919" y="656398"/>
                  </a:lnTo>
                  <a:lnTo>
                    <a:pt x="47719" y="654245"/>
                  </a:lnTo>
                  <a:lnTo>
                    <a:pt x="17574" y="629509"/>
                  </a:lnTo>
                  <a:lnTo>
                    <a:pt x="14447" y="624820"/>
                  </a:lnTo>
                  <a:lnTo>
                    <a:pt x="11320" y="620144"/>
                  </a:lnTo>
                  <a:lnTo>
                    <a:pt x="8679" y="615210"/>
                  </a:lnTo>
                  <a:lnTo>
                    <a:pt x="6525" y="610008"/>
                  </a:lnTo>
                  <a:lnTo>
                    <a:pt x="4371" y="604808"/>
                  </a:lnTo>
                  <a:lnTo>
                    <a:pt x="2745" y="599449"/>
                  </a:lnTo>
                  <a:lnTo>
                    <a:pt x="1647" y="593924"/>
                  </a:lnTo>
                  <a:lnTo>
                    <a:pt x="549" y="588399"/>
                  </a:lnTo>
                  <a:lnTo>
                    <a:pt x="0" y="582829"/>
                  </a:lnTo>
                  <a:lnTo>
                    <a:pt x="0" y="577215"/>
                  </a:lnTo>
                  <a:close/>
                </a:path>
              </a:pathLst>
            </a:custGeom>
            <a:ln w="11430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1990" y="361962"/>
            <a:ext cx="11452860" cy="5989320"/>
            <a:chOff x="681990" y="361962"/>
            <a:chExt cx="11452860" cy="5989320"/>
          </a:xfrm>
        </p:grpSpPr>
        <p:sp>
          <p:nvSpPr>
            <p:cNvPr id="3" name="object 3"/>
            <p:cNvSpPr/>
            <p:nvPr/>
          </p:nvSpPr>
          <p:spPr>
            <a:xfrm>
              <a:off x="687705" y="367677"/>
              <a:ext cx="11441430" cy="5977890"/>
            </a:xfrm>
            <a:custGeom>
              <a:avLst/>
              <a:gdLst/>
              <a:ahLst/>
              <a:cxnLst/>
              <a:rect l="l" t="t" r="r" b="b"/>
              <a:pathLst>
                <a:path w="11441430" h="5977890">
                  <a:moveTo>
                    <a:pt x="0" y="5846445"/>
                  </a:moveTo>
                  <a:lnTo>
                    <a:pt x="0" y="131445"/>
                  </a:lnTo>
                  <a:lnTo>
                    <a:pt x="157" y="124981"/>
                  </a:lnTo>
                  <a:lnTo>
                    <a:pt x="7680" y="87156"/>
                  </a:lnTo>
                  <a:lnTo>
                    <a:pt x="25871" y="53119"/>
                  </a:lnTo>
                  <a:lnTo>
                    <a:pt x="53136" y="25855"/>
                  </a:lnTo>
                  <a:lnTo>
                    <a:pt x="87169" y="7670"/>
                  </a:lnTo>
                  <a:lnTo>
                    <a:pt x="124987" y="157"/>
                  </a:lnTo>
                  <a:lnTo>
                    <a:pt x="131445" y="0"/>
                  </a:lnTo>
                  <a:lnTo>
                    <a:pt x="11309985" y="0"/>
                  </a:lnTo>
                  <a:lnTo>
                    <a:pt x="11348141" y="5653"/>
                  </a:lnTo>
                  <a:lnTo>
                    <a:pt x="11383010" y="22134"/>
                  </a:lnTo>
                  <a:lnTo>
                    <a:pt x="11411594" y="48047"/>
                  </a:lnTo>
                  <a:lnTo>
                    <a:pt x="11431423" y="81126"/>
                  </a:lnTo>
                  <a:lnTo>
                    <a:pt x="11440798" y="118552"/>
                  </a:lnTo>
                  <a:lnTo>
                    <a:pt x="11441430" y="131445"/>
                  </a:lnTo>
                  <a:lnTo>
                    <a:pt x="11441430" y="5846445"/>
                  </a:lnTo>
                  <a:lnTo>
                    <a:pt x="11435770" y="5884582"/>
                  </a:lnTo>
                  <a:lnTo>
                    <a:pt x="11419277" y="5919445"/>
                  </a:lnTo>
                  <a:lnTo>
                    <a:pt x="11393372" y="5948037"/>
                  </a:lnTo>
                  <a:lnTo>
                    <a:pt x="11360286" y="5967866"/>
                  </a:lnTo>
                  <a:lnTo>
                    <a:pt x="11322868" y="5977245"/>
                  </a:lnTo>
                  <a:lnTo>
                    <a:pt x="11309985" y="5977890"/>
                  </a:lnTo>
                  <a:lnTo>
                    <a:pt x="131445" y="5977890"/>
                  </a:lnTo>
                  <a:lnTo>
                    <a:pt x="93288" y="5972212"/>
                  </a:lnTo>
                  <a:lnTo>
                    <a:pt x="58418" y="5955721"/>
                  </a:lnTo>
                  <a:lnTo>
                    <a:pt x="29835" y="5929819"/>
                  </a:lnTo>
                  <a:lnTo>
                    <a:pt x="10005" y="5896730"/>
                  </a:lnTo>
                  <a:lnTo>
                    <a:pt x="631" y="5859323"/>
                  </a:lnTo>
                  <a:lnTo>
                    <a:pt x="0" y="5846445"/>
                  </a:lnTo>
                  <a:close/>
                </a:path>
              </a:pathLst>
            </a:custGeom>
            <a:ln w="11430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36320" y="1607832"/>
              <a:ext cx="10744200" cy="11430"/>
            </a:xfrm>
            <a:custGeom>
              <a:avLst/>
              <a:gdLst/>
              <a:ahLst/>
              <a:cxnLst/>
              <a:rect l="l" t="t" r="r" b="b"/>
              <a:pathLst>
                <a:path w="10744200" h="11430">
                  <a:moveTo>
                    <a:pt x="10744200" y="11430"/>
                  </a:moveTo>
                  <a:lnTo>
                    <a:pt x="0" y="11430"/>
                  </a:lnTo>
                  <a:lnTo>
                    <a:pt x="0" y="0"/>
                  </a:lnTo>
                  <a:lnTo>
                    <a:pt x="10744200" y="0"/>
                  </a:lnTo>
                  <a:lnTo>
                    <a:pt x="10744200" y="1143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047737" y="1847862"/>
            <a:ext cx="10732770" cy="491490"/>
          </a:xfrm>
          <a:custGeom>
            <a:avLst/>
            <a:gdLst/>
            <a:ahLst/>
            <a:cxnLst/>
            <a:rect l="l" t="t" r="r" b="b"/>
            <a:pathLst>
              <a:path w="10732770" h="491489">
                <a:moveTo>
                  <a:pt x="10732770" y="0"/>
                </a:moveTo>
                <a:lnTo>
                  <a:pt x="10732770" y="0"/>
                </a:lnTo>
                <a:lnTo>
                  <a:pt x="0" y="0"/>
                </a:lnTo>
                <a:lnTo>
                  <a:pt x="0" y="491490"/>
                </a:lnTo>
                <a:lnTo>
                  <a:pt x="10732770" y="491490"/>
                </a:lnTo>
                <a:lnTo>
                  <a:pt x="107327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Сравнительная</a:t>
            </a:r>
            <a:r>
              <a:rPr spc="-30" dirty="0"/>
              <a:t> </a:t>
            </a:r>
            <a:r>
              <a:rPr dirty="0"/>
              <a:t>таблица</a:t>
            </a:r>
            <a:r>
              <a:rPr spc="-25" dirty="0"/>
              <a:t> </a:t>
            </a:r>
            <a:r>
              <a:rPr spc="-10" dirty="0"/>
              <a:t>решений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036319" y="1847859"/>
          <a:ext cx="10732767" cy="34061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4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3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88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0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142240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Критерий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6050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WebSocket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0335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RSocket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39065"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gRPC</a:t>
                      </a:r>
                      <a:r>
                        <a:rPr sz="1000" b="1" spc="-65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0970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HTTP/2</a:t>
                      </a:r>
                      <a:r>
                        <a:rPr sz="1000" b="1" spc="-35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SSE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2240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Двусторонняя</a:t>
                      </a:r>
                      <a:r>
                        <a:rPr sz="1000" spc="-35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1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связь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150" spc="155" dirty="0">
                          <a:solidFill>
                            <a:srgbClr val="333333"/>
                          </a:solidFill>
                          <a:latin typeface="Segoe UI Symbol"/>
                          <a:cs typeface="Segoe UI Symbol"/>
                        </a:rPr>
                        <a:t>✅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150" spc="155" dirty="0">
                          <a:solidFill>
                            <a:srgbClr val="333333"/>
                          </a:solidFill>
                          <a:latin typeface="Segoe UI Symbol"/>
                          <a:cs typeface="Segoe UI Symbol"/>
                        </a:rPr>
                        <a:t>✅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150" spc="155" dirty="0">
                          <a:solidFill>
                            <a:srgbClr val="333333"/>
                          </a:solidFill>
                          <a:latin typeface="Segoe UI Symbol"/>
                          <a:cs typeface="Segoe UI Symbol"/>
                        </a:rPr>
                        <a:t>✅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0970">
                        <a:lnSpc>
                          <a:spcPct val="100000"/>
                        </a:lnSpc>
                      </a:pPr>
                      <a:r>
                        <a:rPr sz="1100" spc="200" dirty="0">
                          <a:solidFill>
                            <a:srgbClr val="333333"/>
                          </a:solidFill>
                          <a:latin typeface="Segoe UI Symbol"/>
                          <a:cs typeface="Segoe UI Symbol"/>
                        </a:rPr>
                        <a:t>❌</a:t>
                      </a:r>
                      <a:endParaRPr sz="1100">
                        <a:latin typeface="Segoe UI Symbol"/>
                        <a:cs typeface="Segoe UI Symbo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2240">
                        <a:lnSpc>
                          <a:spcPct val="100000"/>
                        </a:lnSpc>
                      </a:pPr>
                      <a:r>
                        <a:rPr sz="1000" spc="-3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Back-</a:t>
                      </a:r>
                      <a:r>
                        <a:rPr sz="1000" spc="-1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pressure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6050">
                        <a:lnSpc>
                          <a:spcPct val="100000"/>
                        </a:lnSpc>
                      </a:pPr>
                      <a:r>
                        <a:rPr sz="1100" spc="200" dirty="0">
                          <a:solidFill>
                            <a:srgbClr val="333333"/>
                          </a:solidFill>
                          <a:latin typeface="Segoe UI Symbol"/>
                          <a:cs typeface="Segoe UI Symbol"/>
                        </a:rPr>
                        <a:t>❌</a:t>
                      </a:r>
                      <a:endParaRPr sz="1100">
                        <a:latin typeface="Segoe UI Symbol"/>
                        <a:cs typeface="Segoe UI Symbo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150" spc="155" dirty="0">
                          <a:solidFill>
                            <a:srgbClr val="333333"/>
                          </a:solidFill>
                          <a:latin typeface="Segoe UI Symbol"/>
                          <a:cs typeface="Segoe UI Symbol"/>
                        </a:rPr>
                        <a:t>✅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150" spc="155" dirty="0">
                          <a:solidFill>
                            <a:srgbClr val="333333"/>
                          </a:solidFill>
                          <a:latin typeface="Segoe UI Symbol"/>
                          <a:cs typeface="Segoe UI Symbol"/>
                        </a:rPr>
                        <a:t>✅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150" spc="155" dirty="0">
                          <a:solidFill>
                            <a:srgbClr val="333333"/>
                          </a:solidFill>
                          <a:latin typeface="Segoe UI Symbol"/>
                          <a:cs typeface="Segoe UI Symbol"/>
                        </a:rPr>
                        <a:t>✅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2240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Resumable</a:t>
                      </a:r>
                      <a:r>
                        <a:rPr sz="1000" spc="-55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1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sessions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6050">
                        <a:lnSpc>
                          <a:spcPct val="100000"/>
                        </a:lnSpc>
                      </a:pPr>
                      <a:r>
                        <a:rPr sz="1100" spc="200" dirty="0">
                          <a:solidFill>
                            <a:srgbClr val="333333"/>
                          </a:solidFill>
                          <a:latin typeface="Segoe UI Symbol"/>
                          <a:cs typeface="Segoe UI Symbol"/>
                        </a:rPr>
                        <a:t>❌</a:t>
                      </a:r>
                      <a:endParaRPr sz="1100">
                        <a:latin typeface="Segoe UI Symbol"/>
                        <a:cs typeface="Segoe UI Symbo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150" spc="155" dirty="0">
                          <a:solidFill>
                            <a:srgbClr val="333333"/>
                          </a:solidFill>
                          <a:latin typeface="Segoe UI Symbol"/>
                          <a:cs typeface="Segoe UI Symbol"/>
                        </a:rPr>
                        <a:t>✅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39065">
                        <a:lnSpc>
                          <a:spcPct val="100000"/>
                        </a:lnSpc>
                      </a:pPr>
                      <a:r>
                        <a:rPr sz="1100" spc="200" dirty="0">
                          <a:solidFill>
                            <a:srgbClr val="333333"/>
                          </a:solidFill>
                          <a:latin typeface="Segoe UI Symbol"/>
                          <a:cs typeface="Segoe UI Symbol"/>
                        </a:rPr>
                        <a:t>❌</a:t>
                      </a:r>
                      <a:endParaRPr sz="1100">
                        <a:latin typeface="Segoe UI Symbol"/>
                        <a:cs typeface="Segoe UI Symbo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150" spc="155" dirty="0">
                          <a:solidFill>
                            <a:srgbClr val="333333"/>
                          </a:solidFill>
                          <a:latin typeface="Segoe UI Symbol"/>
                          <a:cs typeface="Segoe UI Symbol"/>
                        </a:rPr>
                        <a:t>✅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2240">
                        <a:lnSpc>
                          <a:spcPct val="100000"/>
                        </a:lnSpc>
                      </a:pPr>
                      <a:r>
                        <a:rPr sz="1000" spc="-25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Type</a:t>
                      </a:r>
                      <a:r>
                        <a:rPr sz="1000" spc="-5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1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safety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6050">
                        <a:lnSpc>
                          <a:spcPct val="100000"/>
                        </a:lnSpc>
                      </a:pPr>
                      <a:r>
                        <a:rPr sz="1100" spc="200" dirty="0">
                          <a:solidFill>
                            <a:srgbClr val="333333"/>
                          </a:solidFill>
                          <a:latin typeface="Segoe UI Symbol"/>
                          <a:cs typeface="Segoe UI Symbol"/>
                        </a:rPr>
                        <a:t>❌</a:t>
                      </a:r>
                      <a:endParaRPr sz="1100">
                        <a:latin typeface="Segoe UI Symbol"/>
                        <a:cs typeface="Segoe UI Symbo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150" spc="155" dirty="0">
                          <a:solidFill>
                            <a:srgbClr val="333333"/>
                          </a:solidFill>
                          <a:latin typeface="Segoe UI Symbol"/>
                          <a:cs typeface="Segoe UI Symbol"/>
                        </a:rPr>
                        <a:t>✅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150" spc="155" dirty="0">
                          <a:solidFill>
                            <a:srgbClr val="333333"/>
                          </a:solidFill>
                          <a:latin typeface="Segoe UI Symbol"/>
                          <a:cs typeface="Segoe UI Symbol"/>
                        </a:rPr>
                        <a:t>✅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0970">
                        <a:lnSpc>
                          <a:spcPct val="100000"/>
                        </a:lnSpc>
                      </a:pPr>
                      <a:r>
                        <a:rPr sz="1100" spc="200" dirty="0">
                          <a:solidFill>
                            <a:srgbClr val="333333"/>
                          </a:solidFill>
                          <a:latin typeface="Segoe UI Symbol"/>
                          <a:cs typeface="Segoe UI Symbol"/>
                        </a:rPr>
                        <a:t>❌</a:t>
                      </a:r>
                      <a:endParaRPr sz="1100">
                        <a:latin typeface="Segoe UI Symbol"/>
                        <a:cs typeface="Segoe UI Symbo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2240">
                        <a:lnSpc>
                          <a:spcPct val="100000"/>
                        </a:lnSpc>
                      </a:pPr>
                      <a:r>
                        <a:rPr sz="100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Browser</a:t>
                      </a:r>
                      <a:r>
                        <a:rPr sz="1000" spc="-9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1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support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150" spc="155" dirty="0">
                          <a:solidFill>
                            <a:srgbClr val="333333"/>
                          </a:solidFill>
                          <a:latin typeface="Segoe UI Symbol"/>
                          <a:cs typeface="Segoe UI Symbol"/>
                        </a:rPr>
                        <a:t>✅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150" spc="70" dirty="0">
                          <a:solidFill>
                            <a:srgbClr val="333333"/>
                          </a:solidFill>
                          <a:latin typeface="Segoe UI Symbol"/>
                          <a:cs typeface="Segoe UI Symbol"/>
                        </a:rPr>
                        <a:t>✅</a:t>
                      </a:r>
                      <a:r>
                        <a:rPr sz="1000" spc="7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*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150" spc="155" dirty="0">
                          <a:solidFill>
                            <a:srgbClr val="333333"/>
                          </a:solidFill>
                          <a:latin typeface="Segoe UI Symbol"/>
                          <a:cs typeface="Segoe UI Symbol"/>
                        </a:rPr>
                        <a:t>✅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150" spc="155" dirty="0">
                          <a:solidFill>
                            <a:srgbClr val="333333"/>
                          </a:solidFill>
                          <a:latin typeface="Segoe UI Symbol"/>
                          <a:cs typeface="Segoe UI Symbol"/>
                        </a:rPr>
                        <a:t>✅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2240">
                        <a:lnSpc>
                          <a:spcPct val="100000"/>
                        </a:lnSpc>
                      </a:pPr>
                      <a:r>
                        <a:rPr sz="1000" spc="-2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Cloud-</a:t>
                      </a:r>
                      <a:r>
                        <a:rPr sz="1000" spc="-10" dirty="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native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6050">
                        <a:lnSpc>
                          <a:spcPct val="100000"/>
                        </a:lnSpc>
                      </a:pPr>
                      <a:r>
                        <a:rPr sz="1100" spc="355" dirty="0">
                          <a:solidFill>
                            <a:srgbClr val="333333"/>
                          </a:solidFill>
                          <a:latin typeface="Segoe UI Symbol"/>
                          <a:cs typeface="Segoe UI Symbol"/>
                        </a:rPr>
                        <a:t>⚠</a:t>
                      </a:r>
                      <a:endParaRPr sz="1100">
                        <a:latin typeface="Segoe UI Symbol"/>
                        <a:cs typeface="Segoe UI Symbo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150" spc="155" dirty="0">
                          <a:solidFill>
                            <a:srgbClr val="333333"/>
                          </a:solidFill>
                          <a:latin typeface="Segoe UI Symbol"/>
                          <a:cs typeface="Segoe UI Symbol"/>
                        </a:rPr>
                        <a:t>✅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150" spc="155" dirty="0">
                          <a:solidFill>
                            <a:srgbClr val="333333"/>
                          </a:solidFill>
                          <a:latin typeface="Segoe UI Symbol"/>
                          <a:cs typeface="Segoe UI Symbol"/>
                        </a:rPr>
                        <a:t>✅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150" spc="155" dirty="0">
                          <a:solidFill>
                            <a:srgbClr val="333333"/>
                          </a:solidFill>
                          <a:latin typeface="Segoe UI Symbol"/>
                          <a:cs typeface="Segoe UI Symbol"/>
                        </a:rPr>
                        <a:t>✅</a:t>
                      </a:r>
                      <a:endParaRPr sz="1150" dirty="0">
                        <a:latin typeface="Segoe UI Symbol"/>
                        <a:cs typeface="Segoe UI Symbol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BABABA"/>
                      </a:solidFill>
                      <a:prstDash val="sysDash"/>
                    </a:lnL>
                    <a:lnR w="12700">
                      <a:solidFill>
                        <a:srgbClr val="BABABA"/>
                      </a:solidFill>
                      <a:prstDash val="sysDash"/>
                    </a:lnR>
                    <a:lnT w="12700">
                      <a:solidFill>
                        <a:srgbClr val="BABABA"/>
                      </a:solidFill>
                      <a:prstDash val="sysDash"/>
                    </a:lnT>
                    <a:lnB w="12700">
                      <a:solidFill>
                        <a:srgbClr val="BABABA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023619" y="5527047"/>
            <a:ext cx="6184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*RSocket</a:t>
            </a:r>
            <a:r>
              <a:rPr sz="1800" i="1" spc="-65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spc="-10" dirty="0">
                <a:solidFill>
                  <a:srgbClr val="333333"/>
                </a:solidFill>
                <a:latin typeface="Segoe UI Semilight"/>
                <a:cs typeface="Segoe UI Semilight"/>
              </a:rPr>
              <a:t>работает</a:t>
            </a:r>
            <a:r>
              <a:rPr sz="1800" i="1" spc="-60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в</a:t>
            </a:r>
            <a:r>
              <a:rPr sz="1800" i="1" spc="-60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браузере</a:t>
            </a:r>
            <a:r>
              <a:rPr sz="1800" i="1" spc="-60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через</a:t>
            </a:r>
            <a:r>
              <a:rPr sz="1800" i="1" spc="-65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dirty="0">
                <a:solidFill>
                  <a:srgbClr val="333333"/>
                </a:solidFill>
                <a:latin typeface="Segoe UI Semilight"/>
                <a:cs typeface="Segoe UI Semilight"/>
              </a:rPr>
              <a:t>WebSocket</a:t>
            </a:r>
            <a:r>
              <a:rPr sz="1800" i="1" spc="-60" dirty="0">
                <a:solidFill>
                  <a:srgbClr val="333333"/>
                </a:solidFill>
                <a:latin typeface="Segoe UI Semilight"/>
                <a:cs typeface="Segoe UI Semilight"/>
              </a:rPr>
              <a:t> </a:t>
            </a:r>
            <a:r>
              <a:rPr sz="1800" i="1" spc="-10" dirty="0">
                <a:solidFill>
                  <a:srgbClr val="333333"/>
                </a:solidFill>
                <a:latin typeface="Segoe UI Semilight"/>
                <a:cs typeface="Segoe UI Semilight"/>
              </a:rPr>
              <a:t>транспорт</a:t>
            </a:r>
            <a:endParaRPr sz="1800">
              <a:latin typeface="Segoe UI Semilight"/>
              <a:cs typeface="Segoe UI Semi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7705" y="369106"/>
            <a:ext cx="11441430" cy="6557951"/>
            <a:chOff x="687705" y="367677"/>
            <a:chExt cx="11441430" cy="5246370"/>
          </a:xfrm>
        </p:grpSpPr>
        <p:sp>
          <p:nvSpPr>
            <p:cNvPr id="3" name="object 3"/>
            <p:cNvSpPr/>
            <p:nvPr/>
          </p:nvSpPr>
          <p:spPr>
            <a:xfrm>
              <a:off x="687705" y="367677"/>
              <a:ext cx="11441430" cy="5246370"/>
            </a:xfrm>
            <a:custGeom>
              <a:avLst/>
              <a:gdLst/>
              <a:ahLst/>
              <a:cxnLst/>
              <a:rect l="l" t="t" r="r" b="b"/>
              <a:pathLst>
                <a:path w="11441430" h="5246370">
                  <a:moveTo>
                    <a:pt x="0" y="5114925"/>
                  </a:moveTo>
                  <a:lnTo>
                    <a:pt x="0" y="131445"/>
                  </a:lnTo>
                  <a:lnTo>
                    <a:pt x="157" y="124981"/>
                  </a:lnTo>
                  <a:lnTo>
                    <a:pt x="7680" y="87140"/>
                  </a:lnTo>
                  <a:lnTo>
                    <a:pt x="25871" y="53106"/>
                  </a:lnTo>
                  <a:lnTo>
                    <a:pt x="53136" y="25849"/>
                  </a:lnTo>
                  <a:lnTo>
                    <a:pt x="87169" y="7669"/>
                  </a:lnTo>
                  <a:lnTo>
                    <a:pt x="124987" y="156"/>
                  </a:lnTo>
                  <a:lnTo>
                    <a:pt x="131445" y="0"/>
                  </a:lnTo>
                  <a:lnTo>
                    <a:pt x="11309985" y="0"/>
                  </a:lnTo>
                  <a:lnTo>
                    <a:pt x="11348141" y="5647"/>
                  </a:lnTo>
                  <a:lnTo>
                    <a:pt x="11383010" y="22134"/>
                  </a:lnTo>
                  <a:lnTo>
                    <a:pt x="11411594" y="48026"/>
                  </a:lnTo>
                  <a:lnTo>
                    <a:pt x="11431423" y="81115"/>
                  </a:lnTo>
                  <a:lnTo>
                    <a:pt x="11440798" y="118545"/>
                  </a:lnTo>
                  <a:lnTo>
                    <a:pt x="11441430" y="131445"/>
                  </a:lnTo>
                  <a:lnTo>
                    <a:pt x="11441430" y="5114925"/>
                  </a:lnTo>
                  <a:lnTo>
                    <a:pt x="11435770" y="5153060"/>
                  </a:lnTo>
                  <a:lnTo>
                    <a:pt x="11419277" y="5187925"/>
                  </a:lnTo>
                  <a:lnTo>
                    <a:pt x="11393372" y="5216514"/>
                  </a:lnTo>
                  <a:lnTo>
                    <a:pt x="11360286" y="5236335"/>
                  </a:lnTo>
                  <a:lnTo>
                    <a:pt x="11322868" y="5245725"/>
                  </a:lnTo>
                  <a:lnTo>
                    <a:pt x="11309985" y="5246370"/>
                  </a:lnTo>
                  <a:lnTo>
                    <a:pt x="131445" y="5246370"/>
                  </a:lnTo>
                  <a:lnTo>
                    <a:pt x="93288" y="5240679"/>
                  </a:lnTo>
                  <a:lnTo>
                    <a:pt x="58418" y="5224191"/>
                  </a:lnTo>
                  <a:lnTo>
                    <a:pt x="29835" y="5198289"/>
                  </a:lnTo>
                  <a:lnTo>
                    <a:pt x="10005" y="5165210"/>
                  </a:lnTo>
                  <a:lnTo>
                    <a:pt x="631" y="5127802"/>
                  </a:lnTo>
                  <a:lnTo>
                    <a:pt x="0" y="5114925"/>
                  </a:lnTo>
                  <a:close/>
                </a:path>
              </a:pathLst>
            </a:custGeom>
            <a:ln w="11430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36320" y="1468759"/>
              <a:ext cx="10744200" cy="11430"/>
            </a:xfrm>
            <a:custGeom>
              <a:avLst/>
              <a:gdLst/>
              <a:ahLst/>
              <a:cxnLst/>
              <a:rect l="l" t="t" r="r" b="b"/>
              <a:pathLst>
                <a:path w="10744200" h="11430">
                  <a:moveTo>
                    <a:pt x="10744200" y="11430"/>
                  </a:moveTo>
                  <a:lnTo>
                    <a:pt x="0" y="11430"/>
                  </a:lnTo>
                  <a:lnTo>
                    <a:pt x="0" y="0"/>
                  </a:lnTo>
                  <a:lnTo>
                    <a:pt x="10744200" y="0"/>
                  </a:lnTo>
                  <a:lnTo>
                    <a:pt x="10744200" y="1143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Рекомендации</a:t>
            </a:r>
            <a:r>
              <a:rPr spc="-30" dirty="0"/>
              <a:t> </a:t>
            </a:r>
            <a:r>
              <a:rPr dirty="0"/>
              <a:t>по</a:t>
            </a:r>
            <a:r>
              <a:rPr spc="-25" dirty="0"/>
              <a:t> </a:t>
            </a:r>
            <a:r>
              <a:rPr dirty="0"/>
              <a:t>выбору</a:t>
            </a:r>
            <a:r>
              <a:rPr spc="-25" dirty="0"/>
              <a:t> </a:t>
            </a:r>
            <a:r>
              <a:rPr spc="-10" dirty="0"/>
              <a:t>(2025)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39189" y="1950732"/>
            <a:ext cx="80010" cy="2686050"/>
            <a:chOff x="1139189" y="1950732"/>
            <a:chExt cx="80010" cy="26860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9189" y="1950732"/>
              <a:ext cx="80010" cy="7999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9189" y="2819412"/>
              <a:ext cx="80010" cy="7999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9189" y="3688092"/>
              <a:ext cx="80010" cy="7999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9189" y="4556772"/>
              <a:ext cx="80010" cy="7999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371600" y="1752600"/>
            <a:ext cx="9221471" cy="3372717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800" b="1" spc="-10" dirty="0">
                <a:solidFill>
                  <a:srgbClr val="333333"/>
                </a:solidFill>
                <a:latin typeface="Segoe UI"/>
                <a:cs typeface="Segoe UI"/>
              </a:rPr>
              <a:t>WebSocket</a:t>
            </a:r>
            <a:r>
              <a:rPr sz="1800" b="1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+</a:t>
            </a:r>
            <a:r>
              <a:rPr sz="1800" b="1" spc="-4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External</a:t>
            </a:r>
            <a:r>
              <a:rPr sz="1800" b="1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333333"/>
                </a:solidFill>
                <a:latin typeface="Segoe UI"/>
                <a:cs typeface="Segoe UI"/>
              </a:rPr>
              <a:t>Broker</a:t>
            </a:r>
            <a:endParaRPr sz="18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→</a:t>
            </a:r>
            <a:r>
              <a:rPr sz="18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Унаследованные</a:t>
            </a:r>
            <a:r>
              <a:rPr sz="18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системы,</a:t>
            </a:r>
            <a:r>
              <a:rPr sz="18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уведомления,</a:t>
            </a:r>
            <a:r>
              <a:rPr sz="18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максимальная</a:t>
            </a:r>
            <a:r>
              <a:rPr sz="1800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совместимость</a:t>
            </a:r>
            <a:endParaRPr sz="18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800" b="1" spc="-10" dirty="0">
                <a:solidFill>
                  <a:srgbClr val="333333"/>
                </a:solidFill>
                <a:latin typeface="Segoe UI"/>
                <a:cs typeface="Segoe UI"/>
              </a:rPr>
              <a:t>RSocket</a:t>
            </a:r>
            <a:endParaRPr sz="18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→</a:t>
            </a:r>
            <a:r>
              <a:rPr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Микросервисы,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IoT,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back-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pressure,</a:t>
            </a:r>
            <a:r>
              <a:rPr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resilience</a:t>
            </a:r>
            <a:endParaRPr sz="18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gRPC </a:t>
            </a:r>
            <a:r>
              <a:rPr sz="1800" b="1" spc="-25" dirty="0">
                <a:solidFill>
                  <a:srgbClr val="333333"/>
                </a:solidFill>
                <a:latin typeface="Segoe UI"/>
                <a:cs typeface="Segoe UI"/>
              </a:rPr>
              <a:t>Web</a:t>
            </a:r>
            <a:endParaRPr sz="18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→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35" dirty="0">
                <a:solidFill>
                  <a:srgbClr val="333333"/>
                </a:solidFill>
                <a:latin typeface="Segoe UI"/>
                <a:cs typeface="Segoe UI"/>
              </a:rPr>
              <a:t>Type-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safe</a:t>
            </a:r>
            <a:r>
              <a:rPr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контракты,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polyglot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среды</a:t>
            </a:r>
            <a:endParaRPr sz="18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HTTP/2</a:t>
            </a:r>
            <a:r>
              <a:rPr sz="1800" b="1" spc="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spc="-25" dirty="0">
                <a:solidFill>
                  <a:srgbClr val="333333"/>
                </a:solidFill>
                <a:latin typeface="Segoe UI"/>
                <a:cs typeface="Segoe UI"/>
              </a:rPr>
              <a:t>SSE</a:t>
            </a:r>
            <a:endParaRPr sz="18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→</a:t>
            </a:r>
            <a:r>
              <a:rPr sz="18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Server-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initiated</a:t>
            </a:r>
            <a:r>
              <a:rPr sz="18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уведомления</a:t>
            </a:r>
            <a:r>
              <a:rPr sz="18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без</a:t>
            </a:r>
            <a:r>
              <a:rPr sz="18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двусторонней</a:t>
            </a:r>
            <a:r>
              <a:rPr sz="1800" spc="-3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связи</a:t>
            </a:r>
            <a:endParaRPr sz="18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1513" y="370706"/>
            <a:ext cx="11437624" cy="6346467"/>
            <a:chOff x="687705" y="367679"/>
            <a:chExt cx="11441430" cy="4149090"/>
          </a:xfrm>
        </p:grpSpPr>
        <p:sp>
          <p:nvSpPr>
            <p:cNvPr id="3" name="object 3"/>
            <p:cNvSpPr/>
            <p:nvPr/>
          </p:nvSpPr>
          <p:spPr>
            <a:xfrm>
              <a:off x="687705" y="367679"/>
              <a:ext cx="11441430" cy="4149090"/>
            </a:xfrm>
            <a:custGeom>
              <a:avLst/>
              <a:gdLst/>
              <a:ahLst/>
              <a:cxnLst/>
              <a:rect l="l" t="t" r="r" b="b"/>
              <a:pathLst>
                <a:path w="11441430" h="4149090">
                  <a:moveTo>
                    <a:pt x="0" y="4017645"/>
                  </a:moveTo>
                  <a:lnTo>
                    <a:pt x="0" y="131445"/>
                  </a:lnTo>
                  <a:lnTo>
                    <a:pt x="157" y="124988"/>
                  </a:lnTo>
                  <a:lnTo>
                    <a:pt x="7680" y="87156"/>
                  </a:lnTo>
                  <a:lnTo>
                    <a:pt x="25871" y="53119"/>
                  </a:lnTo>
                  <a:lnTo>
                    <a:pt x="53136" y="25860"/>
                  </a:lnTo>
                  <a:lnTo>
                    <a:pt x="87169" y="7675"/>
                  </a:lnTo>
                  <a:lnTo>
                    <a:pt x="124987" y="157"/>
                  </a:lnTo>
                  <a:lnTo>
                    <a:pt x="131445" y="0"/>
                  </a:lnTo>
                  <a:lnTo>
                    <a:pt x="11309985" y="0"/>
                  </a:lnTo>
                  <a:lnTo>
                    <a:pt x="11348141" y="5654"/>
                  </a:lnTo>
                  <a:lnTo>
                    <a:pt x="11383010" y="22145"/>
                  </a:lnTo>
                  <a:lnTo>
                    <a:pt x="11411594" y="48041"/>
                  </a:lnTo>
                  <a:lnTo>
                    <a:pt x="11431423" y="81126"/>
                  </a:lnTo>
                  <a:lnTo>
                    <a:pt x="11440798" y="118561"/>
                  </a:lnTo>
                  <a:lnTo>
                    <a:pt x="11441430" y="131445"/>
                  </a:lnTo>
                  <a:lnTo>
                    <a:pt x="11441430" y="4017645"/>
                  </a:lnTo>
                  <a:lnTo>
                    <a:pt x="11435770" y="4055769"/>
                  </a:lnTo>
                  <a:lnTo>
                    <a:pt x="11419277" y="4090645"/>
                  </a:lnTo>
                  <a:lnTo>
                    <a:pt x="11393372" y="4119234"/>
                  </a:lnTo>
                  <a:lnTo>
                    <a:pt x="11360286" y="4139055"/>
                  </a:lnTo>
                  <a:lnTo>
                    <a:pt x="11322868" y="4148445"/>
                  </a:lnTo>
                  <a:lnTo>
                    <a:pt x="11309985" y="4149090"/>
                  </a:lnTo>
                  <a:lnTo>
                    <a:pt x="131445" y="4149090"/>
                  </a:lnTo>
                  <a:lnTo>
                    <a:pt x="93288" y="4143411"/>
                  </a:lnTo>
                  <a:lnTo>
                    <a:pt x="58418" y="4126911"/>
                  </a:lnTo>
                  <a:lnTo>
                    <a:pt x="29835" y="4101009"/>
                  </a:lnTo>
                  <a:lnTo>
                    <a:pt x="10005" y="4067918"/>
                  </a:lnTo>
                  <a:lnTo>
                    <a:pt x="631" y="4030512"/>
                  </a:lnTo>
                  <a:lnTo>
                    <a:pt x="0" y="4017645"/>
                  </a:lnTo>
                  <a:close/>
                </a:path>
              </a:pathLst>
            </a:custGeom>
            <a:ln w="11430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39204" y="1340068"/>
              <a:ext cx="10744200" cy="11430"/>
            </a:xfrm>
            <a:custGeom>
              <a:avLst/>
              <a:gdLst/>
              <a:ahLst/>
              <a:cxnLst/>
              <a:rect l="l" t="t" r="r" b="b"/>
              <a:pathLst>
                <a:path w="10744200" h="11430">
                  <a:moveTo>
                    <a:pt x="10744200" y="11430"/>
                  </a:moveTo>
                  <a:lnTo>
                    <a:pt x="0" y="11430"/>
                  </a:lnTo>
                  <a:lnTo>
                    <a:pt x="0" y="0"/>
                  </a:lnTo>
                  <a:lnTo>
                    <a:pt x="10744200" y="0"/>
                  </a:lnTo>
                  <a:lnTo>
                    <a:pt x="10744200" y="1143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ru-RU" spc="-25" dirty="0"/>
              <a:t>Настоящее</a:t>
            </a:r>
            <a:r>
              <a:rPr spc="-25" dirty="0"/>
              <a:t> </a:t>
            </a:r>
            <a:r>
              <a:rPr spc="-10" dirty="0"/>
              <a:t>real-</a:t>
            </a:r>
            <a:r>
              <a:rPr dirty="0"/>
              <a:t>time</a:t>
            </a:r>
            <a:r>
              <a:rPr spc="-20" dirty="0"/>
              <a:t> </a:t>
            </a:r>
            <a:r>
              <a:rPr spc="-10" dirty="0"/>
              <a:t>коммуникаций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idx="1"/>
          </p:nvPr>
        </p:nvSpPr>
        <p:spPr>
          <a:xfrm>
            <a:off x="705368" y="2939968"/>
            <a:ext cx="11115676" cy="2767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7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b="1" spc="-10" dirty="0">
                <a:latin typeface="Segoe UI"/>
                <a:cs typeface="Segoe UI"/>
              </a:rPr>
              <a:t>WebTransport</a:t>
            </a:r>
            <a:r>
              <a:rPr b="1" spc="-25" dirty="0">
                <a:latin typeface="Segoe UI"/>
                <a:cs typeface="Segoe UI"/>
              </a:rPr>
              <a:t> </a:t>
            </a:r>
            <a:r>
              <a:rPr dirty="0"/>
              <a:t>(на</a:t>
            </a:r>
            <a:r>
              <a:rPr spc="-20" dirty="0"/>
              <a:t> </a:t>
            </a:r>
            <a:r>
              <a:rPr dirty="0"/>
              <a:t>базе</a:t>
            </a:r>
            <a:r>
              <a:rPr spc="-20" dirty="0"/>
              <a:t> </a:t>
            </a:r>
            <a:r>
              <a:rPr dirty="0"/>
              <a:t>QUIC)</a:t>
            </a:r>
            <a:r>
              <a:rPr spc="-20" dirty="0"/>
              <a:t> </a:t>
            </a:r>
            <a:r>
              <a:rPr dirty="0"/>
              <a:t>—</a:t>
            </a:r>
            <a:r>
              <a:rPr spc="-15" dirty="0"/>
              <a:t> </a:t>
            </a:r>
            <a:r>
              <a:rPr dirty="0"/>
              <a:t>замена</a:t>
            </a:r>
            <a:r>
              <a:rPr spc="-20" dirty="0"/>
              <a:t> </a:t>
            </a:r>
            <a:r>
              <a:rPr spc="-10" dirty="0"/>
              <a:t>WebSocket</a:t>
            </a:r>
            <a:r>
              <a:rPr spc="-20" dirty="0"/>
              <a:t> </a:t>
            </a:r>
            <a:r>
              <a:rPr dirty="0"/>
              <a:t>с</a:t>
            </a:r>
            <a:r>
              <a:rPr spc="-15" dirty="0"/>
              <a:t> </a:t>
            </a:r>
            <a:r>
              <a:rPr dirty="0"/>
              <a:t>поддержкой</a:t>
            </a:r>
            <a:r>
              <a:rPr spc="-20" dirty="0"/>
              <a:t> </a:t>
            </a:r>
            <a:r>
              <a:rPr dirty="0"/>
              <a:t>UDP</a:t>
            </a:r>
            <a:r>
              <a:rPr spc="-20" dirty="0"/>
              <a:t> </a:t>
            </a:r>
            <a:r>
              <a:rPr dirty="0"/>
              <a:t>и</a:t>
            </a:r>
            <a:r>
              <a:rPr spc="-20" dirty="0"/>
              <a:t> </a:t>
            </a:r>
            <a:r>
              <a:rPr spc="-10" dirty="0"/>
              <a:t>0-</a:t>
            </a:r>
            <a:r>
              <a:rPr dirty="0"/>
              <a:t>RTT</a:t>
            </a:r>
            <a:r>
              <a:rPr spc="-15" dirty="0"/>
              <a:t> </a:t>
            </a:r>
            <a:r>
              <a:rPr spc="-10" dirty="0"/>
              <a:t>handshake</a:t>
            </a:r>
          </a:p>
          <a:p>
            <a:pPr marL="666750" indent="-285750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b="1" dirty="0">
                <a:latin typeface="Segoe UI"/>
                <a:cs typeface="Segoe UI"/>
              </a:rPr>
              <a:t>HTTP/3</a:t>
            </a:r>
            <a:r>
              <a:rPr b="1" spc="-10" dirty="0">
                <a:latin typeface="Segoe UI"/>
                <a:cs typeface="Segoe UI"/>
              </a:rPr>
              <a:t> </a:t>
            </a:r>
            <a:r>
              <a:rPr dirty="0"/>
              <a:t>—</a:t>
            </a:r>
            <a:r>
              <a:rPr spc="-5" dirty="0"/>
              <a:t> </a:t>
            </a:r>
            <a:r>
              <a:rPr dirty="0"/>
              <a:t>улучшенная</a:t>
            </a:r>
            <a:r>
              <a:rPr spc="-5" dirty="0"/>
              <a:t> </a:t>
            </a:r>
            <a:r>
              <a:rPr spc="-10" dirty="0"/>
              <a:t>производительность</a:t>
            </a:r>
            <a:r>
              <a:rPr spc="-5" dirty="0"/>
              <a:t> </a:t>
            </a:r>
            <a:r>
              <a:rPr dirty="0"/>
              <a:t>даже</a:t>
            </a:r>
            <a:r>
              <a:rPr spc="-5" dirty="0"/>
              <a:t> </a:t>
            </a:r>
            <a:r>
              <a:rPr dirty="0"/>
              <a:t>для</a:t>
            </a:r>
            <a:r>
              <a:rPr spc="-5" dirty="0"/>
              <a:t> </a:t>
            </a:r>
            <a:r>
              <a:rPr dirty="0"/>
              <a:t>SSE и</a:t>
            </a:r>
            <a:r>
              <a:rPr spc="-5" dirty="0"/>
              <a:t> </a:t>
            </a:r>
            <a:r>
              <a:rPr dirty="0"/>
              <a:t>gRPC</a:t>
            </a:r>
            <a:r>
              <a:rPr spc="-5" dirty="0"/>
              <a:t> </a:t>
            </a:r>
            <a:r>
              <a:rPr spc="-25" dirty="0"/>
              <a:t>Web</a:t>
            </a:r>
          </a:p>
          <a:p>
            <a:pPr marL="666750" marR="75565" indent="-285750">
              <a:lnSpc>
                <a:spcPct val="133300"/>
              </a:lnSpc>
              <a:spcBef>
                <a:spcPts val="1080"/>
              </a:spcBef>
              <a:buFont typeface="Arial" panose="020B0604020202020204" pitchFamily="34" charset="0"/>
              <a:buChar char="•"/>
            </a:pPr>
            <a:r>
              <a:rPr b="1" dirty="0">
                <a:latin typeface="Segoe UI"/>
                <a:cs typeface="Segoe UI"/>
              </a:rPr>
              <a:t>Edge</a:t>
            </a:r>
            <a:r>
              <a:rPr b="1" spc="-15" dirty="0">
                <a:latin typeface="Segoe UI"/>
                <a:cs typeface="Segoe UI"/>
              </a:rPr>
              <a:t> </a:t>
            </a:r>
            <a:r>
              <a:rPr b="1" dirty="0">
                <a:latin typeface="Segoe UI"/>
                <a:cs typeface="Segoe UI"/>
              </a:rPr>
              <a:t>Computing</a:t>
            </a:r>
            <a:r>
              <a:rPr b="1" spc="-15" dirty="0">
                <a:latin typeface="Segoe UI"/>
                <a:cs typeface="Segoe UI"/>
              </a:rPr>
              <a:t> </a:t>
            </a:r>
            <a:r>
              <a:rPr dirty="0"/>
              <a:t>—</a:t>
            </a:r>
            <a:r>
              <a:rPr spc="-15" dirty="0"/>
              <a:t> </a:t>
            </a:r>
            <a:r>
              <a:rPr spc="-25" dirty="0"/>
              <a:t>WebSocket-</a:t>
            </a:r>
            <a:r>
              <a:rPr dirty="0" err="1"/>
              <a:t>эндпоинты</a:t>
            </a:r>
            <a:r>
              <a:rPr spc="-15" dirty="0"/>
              <a:t> </a:t>
            </a:r>
            <a:r>
              <a:rPr dirty="0"/>
              <a:t>ближе</a:t>
            </a:r>
            <a:r>
              <a:rPr spc="-10" dirty="0"/>
              <a:t> </a:t>
            </a:r>
            <a:r>
              <a:rPr dirty="0"/>
              <a:t>к</a:t>
            </a:r>
            <a:r>
              <a:rPr spc="-10" dirty="0"/>
              <a:t> </a:t>
            </a:r>
            <a:r>
              <a:rPr dirty="0"/>
              <a:t>пользователю</a:t>
            </a:r>
            <a:r>
              <a:rPr spc="-15" dirty="0"/>
              <a:t> </a:t>
            </a:r>
            <a:r>
              <a:rPr dirty="0"/>
              <a:t>(Cloudflare,</a:t>
            </a:r>
            <a:r>
              <a:rPr spc="-10" dirty="0"/>
              <a:t> </a:t>
            </a:r>
            <a:r>
              <a:rPr spc="-25" dirty="0"/>
              <a:t>AWS </a:t>
            </a:r>
            <a:r>
              <a:rPr spc="-10" dirty="0" err="1"/>
              <a:t>Lambda</a:t>
            </a:r>
            <a:r>
              <a:rPr lang="en-US" spc="-10" dirty="0" err="1"/>
              <a:t>@</a:t>
            </a:r>
            <a:r>
              <a:rPr spc="-10" dirty="0" err="1"/>
              <a:t>Edge</a:t>
            </a:r>
            <a:r>
              <a:rPr spc="-10" dirty="0"/>
              <a:t>)</a:t>
            </a:r>
          </a:p>
          <a:p>
            <a:pPr marL="666750" indent="-285750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b="1" dirty="0">
                <a:latin typeface="Segoe UI"/>
                <a:cs typeface="Segoe UI"/>
              </a:rPr>
              <a:t>WebAssembly</a:t>
            </a:r>
            <a:r>
              <a:rPr b="1" spc="-30" dirty="0">
                <a:latin typeface="Segoe UI"/>
                <a:cs typeface="Segoe UI"/>
              </a:rPr>
              <a:t> </a:t>
            </a:r>
            <a:r>
              <a:rPr dirty="0"/>
              <a:t>—</a:t>
            </a:r>
            <a:r>
              <a:rPr spc="-20" dirty="0"/>
              <a:t> </a:t>
            </a:r>
            <a:r>
              <a:rPr dirty="0"/>
              <a:t>клиенты</a:t>
            </a:r>
            <a:r>
              <a:rPr spc="-20" dirty="0"/>
              <a:t> </a:t>
            </a:r>
            <a:r>
              <a:rPr dirty="0"/>
              <a:t>на</a:t>
            </a:r>
            <a:r>
              <a:rPr spc="-20" dirty="0"/>
              <a:t> </a:t>
            </a:r>
            <a:r>
              <a:rPr dirty="0"/>
              <a:t>Rust,</a:t>
            </a:r>
            <a:r>
              <a:rPr spc="-20" dirty="0"/>
              <a:t> </a:t>
            </a:r>
            <a:r>
              <a:rPr dirty="0"/>
              <a:t>Go</a:t>
            </a:r>
            <a:r>
              <a:rPr spc="-20" dirty="0"/>
              <a:t> </a:t>
            </a:r>
            <a:r>
              <a:rPr dirty="0"/>
              <a:t>или</a:t>
            </a:r>
            <a:r>
              <a:rPr spc="-20" dirty="0"/>
              <a:t> </a:t>
            </a:r>
            <a:r>
              <a:rPr dirty="0"/>
              <a:t>C++</a:t>
            </a:r>
            <a:r>
              <a:rPr spc="-20" dirty="0"/>
              <a:t> </a:t>
            </a:r>
            <a:r>
              <a:rPr dirty="0"/>
              <a:t>прямо</a:t>
            </a:r>
            <a:r>
              <a:rPr spc="-20" dirty="0"/>
              <a:t> </a:t>
            </a:r>
            <a:r>
              <a:rPr dirty="0"/>
              <a:t>в</a:t>
            </a:r>
            <a:r>
              <a:rPr spc="-20" dirty="0"/>
              <a:t> </a:t>
            </a:r>
            <a:r>
              <a:rPr spc="-10" dirty="0"/>
              <a:t>браузере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1990" y="361952"/>
            <a:ext cx="11452860" cy="5509260"/>
            <a:chOff x="681990" y="361952"/>
            <a:chExt cx="11452860" cy="5509260"/>
          </a:xfrm>
        </p:grpSpPr>
        <p:sp>
          <p:nvSpPr>
            <p:cNvPr id="3" name="object 3"/>
            <p:cNvSpPr/>
            <p:nvPr/>
          </p:nvSpPr>
          <p:spPr>
            <a:xfrm>
              <a:off x="687705" y="367667"/>
              <a:ext cx="11441430" cy="5497830"/>
            </a:xfrm>
            <a:custGeom>
              <a:avLst/>
              <a:gdLst/>
              <a:ahLst/>
              <a:cxnLst/>
              <a:rect l="l" t="t" r="r" b="b"/>
              <a:pathLst>
                <a:path w="11441430" h="5497830">
                  <a:moveTo>
                    <a:pt x="0" y="5366385"/>
                  </a:moveTo>
                  <a:lnTo>
                    <a:pt x="0" y="131445"/>
                  </a:lnTo>
                  <a:lnTo>
                    <a:pt x="157" y="124981"/>
                  </a:lnTo>
                  <a:lnTo>
                    <a:pt x="7680" y="87149"/>
                  </a:lnTo>
                  <a:lnTo>
                    <a:pt x="25871" y="53119"/>
                  </a:lnTo>
                  <a:lnTo>
                    <a:pt x="53136" y="25860"/>
                  </a:lnTo>
                  <a:lnTo>
                    <a:pt x="87169" y="7670"/>
                  </a:lnTo>
                  <a:lnTo>
                    <a:pt x="124987" y="163"/>
                  </a:lnTo>
                  <a:lnTo>
                    <a:pt x="131445" y="0"/>
                  </a:lnTo>
                  <a:lnTo>
                    <a:pt x="11309985" y="0"/>
                  </a:lnTo>
                  <a:lnTo>
                    <a:pt x="11348141" y="5654"/>
                  </a:lnTo>
                  <a:lnTo>
                    <a:pt x="11383010" y="22134"/>
                  </a:lnTo>
                  <a:lnTo>
                    <a:pt x="11411594" y="48041"/>
                  </a:lnTo>
                  <a:lnTo>
                    <a:pt x="11431423" y="81126"/>
                  </a:lnTo>
                  <a:lnTo>
                    <a:pt x="11440798" y="118552"/>
                  </a:lnTo>
                  <a:lnTo>
                    <a:pt x="11441430" y="131445"/>
                  </a:lnTo>
                  <a:lnTo>
                    <a:pt x="11441430" y="5366385"/>
                  </a:lnTo>
                  <a:lnTo>
                    <a:pt x="11435770" y="5404520"/>
                  </a:lnTo>
                  <a:lnTo>
                    <a:pt x="11419277" y="5439385"/>
                  </a:lnTo>
                  <a:lnTo>
                    <a:pt x="11393372" y="5467977"/>
                  </a:lnTo>
                  <a:lnTo>
                    <a:pt x="11360286" y="5487806"/>
                  </a:lnTo>
                  <a:lnTo>
                    <a:pt x="11322868" y="5497176"/>
                  </a:lnTo>
                  <a:lnTo>
                    <a:pt x="11309985" y="5497830"/>
                  </a:lnTo>
                  <a:lnTo>
                    <a:pt x="131445" y="5497830"/>
                  </a:lnTo>
                  <a:lnTo>
                    <a:pt x="93288" y="5492157"/>
                  </a:lnTo>
                  <a:lnTo>
                    <a:pt x="58418" y="5475661"/>
                  </a:lnTo>
                  <a:lnTo>
                    <a:pt x="29835" y="5449763"/>
                  </a:lnTo>
                  <a:lnTo>
                    <a:pt x="10005" y="5416658"/>
                  </a:lnTo>
                  <a:lnTo>
                    <a:pt x="631" y="5379258"/>
                  </a:lnTo>
                  <a:lnTo>
                    <a:pt x="0" y="5366385"/>
                  </a:lnTo>
                  <a:close/>
                </a:path>
              </a:pathLst>
            </a:custGeom>
            <a:ln w="11430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36320" y="1607822"/>
              <a:ext cx="10744200" cy="11430"/>
            </a:xfrm>
            <a:custGeom>
              <a:avLst/>
              <a:gdLst/>
              <a:ahLst/>
              <a:cxnLst/>
              <a:rect l="l" t="t" r="r" b="b"/>
              <a:pathLst>
                <a:path w="10744200" h="11430">
                  <a:moveTo>
                    <a:pt x="10744200" y="11430"/>
                  </a:moveTo>
                  <a:lnTo>
                    <a:pt x="0" y="11430"/>
                  </a:lnTo>
                  <a:lnTo>
                    <a:pt x="0" y="0"/>
                  </a:lnTo>
                  <a:lnTo>
                    <a:pt x="10744200" y="0"/>
                  </a:lnTo>
                  <a:lnTo>
                    <a:pt x="10744200" y="1143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Заключение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39189" y="1950722"/>
            <a:ext cx="80010" cy="1588758"/>
            <a:chOff x="1139189" y="1950722"/>
            <a:chExt cx="80010" cy="1588758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9189" y="1950722"/>
              <a:ext cx="80010" cy="7999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9189" y="2453642"/>
              <a:ext cx="80010" cy="7999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9189" y="2956562"/>
              <a:ext cx="80010" cy="799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9189" y="3459482"/>
              <a:ext cx="80010" cy="7999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366519" y="1823717"/>
            <a:ext cx="8238490" cy="2231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Эволюция: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от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простых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WebSocket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к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cloud-native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решениям</a:t>
            </a:r>
            <a:endParaRPr sz="18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WebSocket</a:t>
            </a:r>
            <a:r>
              <a:rPr sz="18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остаётся</a:t>
            </a:r>
            <a:r>
              <a:rPr sz="18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актуальным</a:t>
            </a:r>
            <a:r>
              <a:rPr sz="18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для</a:t>
            </a:r>
            <a:r>
              <a:rPr sz="18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многих</a:t>
            </a:r>
            <a:r>
              <a:rPr sz="1800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800" spc="-3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cases</a:t>
            </a:r>
            <a:endParaRPr sz="18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RSocket/gRPC</a:t>
            </a:r>
            <a:r>
              <a:rPr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предлагают</a:t>
            </a:r>
            <a:r>
              <a:rPr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продвинутые</a:t>
            </a:r>
            <a:r>
              <a:rPr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возможности</a:t>
            </a:r>
            <a:r>
              <a:rPr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для</a:t>
            </a:r>
            <a:r>
              <a:rPr sz="1800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333333"/>
                </a:solidFill>
                <a:latin typeface="Segoe UI"/>
                <a:cs typeface="Segoe UI"/>
              </a:rPr>
              <a:t>сложных</a:t>
            </a:r>
            <a:r>
              <a:rPr sz="1800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Segoe UI"/>
                <a:cs typeface="Segoe UI"/>
              </a:rPr>
              <a:t>систем</a:t>
            </a:r>
            <a:endParaRPr sz="18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Выбор</a:t>
            </a:r>
            <a:r>
              <a:rPr sz="1800" b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зависит</a:t>
            </a:r>
            <a:r>
              <a:rPr sz="1800" b="1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от</a:t>
            </a:r>
            <a:r>
              <a:rPr sz="1800" b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конкретных</a:t>
            </a:r>
            <a:r>
              <a:rPr sz="1800" b="1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требований</a:t>
            </a:r>
            <a:r>
              <a:rPr sz="1800" b="1" spc="-1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333333"/>
                </a:solidFill>
                <a:latin typeface="Segoe UI"/>
                <a:cs typeface="Segoe UI"/>
              </a:rPr>
              <a:t>и</a:t>
            </a:r>
            <a:r>
              <a:rPr sz="1800" b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333333"/>
                </a:solidFill>
                <a:latin typeface="Segoe UI"/>
                <a:cs typeface="Segoe UI"/>
              </a:rPr>
              <a:t>архитектуры</a:t>
            </a:r>
            <a:endParaRPr sz="18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8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Галерея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Галерея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алерея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1839</TotalTime>
  <Words>933</Words>
  <Application>Microsoft Office PowerPoint</Application>
  <PresentationFormat>Произвольный</PresentationFormat>
  <Paragraphs>199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6" baseType="lpstr">
      <vt:lpstr>Arial</vt:lpstr>
      <vt:lpstr>Arial MT</vt:lpstr>
      <vt:lpstr>Consolas</vt:lpstr>
      <vt:lpstr>Gill Sans MT</vt:lpstr>
      <vt:lpstr>Microsoft Sans Serif</vt:lpstr>
      <vt:lpstr>Segoe UI</vt:lpstr>
      <vt:lpstr>Segoe UI Semilight</vt:lpstr>
      <vt:lpstr>Segoe UI Symbol</vt:lpstr>
      <vt:lpstr>Times New Roman</vt:lpstr>
      <vt:lpstr>Verdana</vt:lpstr>
      <vt:lpstr>Wingdings</vt:lpstr>
      <vt:lpstr>Галерея</vt:lpstr>
      <vt:lpstr>WebSocket API в Java</vt:lpstr>
      <vt:lpstr>План</vt:lpstr>
      <vt:lpstr>Что такое HTTP API?</vt:lpstr>
      <vt:lpstr>Пример: Представьте, что вы общаетесь</vt:lpstr>
      <vt:lpstr>Что такое WebSocket API? </vt:lpstr>
      <vt:lpstr>Как устроен WebSocket? </vt:lpstr>
      <vt:lpstr>Почему HTTP не подходит для чата?</vt:lpstr>
      <vt:lpstr>Java WebSocket API (JSR-356)</vt:lpstr>
      <vt:lpstr>Сервер: Эхо-сервер с обработкой состояния</vt:lpstr>
      <vt:lpstr>Сервер: Чат-комната с broadcast</vt:lpstr>
      <vt:lpstr>Java WebSocket Client Клиент для подключения к эхо-серверу</vt:lpstr>
      <vt:lpstr>Продвинутый клиент с обработкой команд Интерактивный клиент чата</vt:lpstr>
      <vt:lpstr>Ограничения классического WebSocket</vt:lpstr>
      <vt:lpstr>Современные архитектурные паттерны</vt:lpstr>
      <vt:lpstr>RSocket — протокол следующего поколения</vt:lpstr>
      <vt:lpstr>Клиент Rsocket: Пример подписки </vt:lpstr>
      <vt:lpstr>gRPC Web — Type-safe альтернатива</vt:lpstr>
      <vt:lpstr>gRPC Web — Type-safe альтернатива</vt:lpstr>
      <vt:lpstr>Reactive WebSocket с Project Reactor</vt:lpstr>
      <vt:lpstr>Modern Best Practices</vt:lpstr>
      <vt:lpstr>Сравнительная таблица решений</vt:lpstr>
      <vt:lpstr>Рекомендации по выбору (2025)</vt:lpstr>
      <vt:lpstr>Настоящее real-time коммуникаций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редактор онлайн — перевод текста в HTML код</dc:title>
  <dc:creator>Анастасия</dc:creator>
  <cp:lastModifiedBy>Анастасия Чернорицкая</cp:lastModifiedBy>
  <cp:revision>30</cp:revision>
  <dcterms:created xsi:type="dcterms:W3CDTF">2025-10-17T21:22:04Z</dcterms:created>
  <dcterms:modified xsi:type="dcterms:W3CDTF">2025-11-29T14:30:02Z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2025-10-17T00:00:00Z</vt:filetime>
  </property>
  <property fmtid="{D5CDD505-2E9C-101B-9397-08002B2CF9AE}" pid="3" name="Creator">
    <vt:lpwstr>Mozilla/5.0 (Windows NT 10.0; Win64; x64) AppleWebKit/537.36 (KHTML, like Gecko) Chrome/141.0.0.0 Safari/537.36</vt:lpwstr>
  </property>
  <property fmtid="{D5CDD505-2E9C-101B-9397-08002B2CF9AE}" pid="4" name="LastSaved">
    <vt:filetime>2025-10-17T00:00:00Z</vt:filetime>
  </property>
  <property fmtid="{D5CDD505-2E9C-101B-9397-08002B2CF9AE}" pid="5" name="Producer">
    <vt:lpwstr>Skia/PDF m141</vt:lpwstr>
  </property>
</Properties>
</file>